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LogoChitkara" Type="http://schemas.openxmlformats.org/officeDocument/2006/relationships/image" Target="../media/chitkara-logo-user.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9001" name="Chitkara Top Strip"/>
          <p:cNvSpPr/>
          <p:nvPr/>
        </p:nvSpPr>
        <p:spPr>
          <a:xfrm>
            <a:off x="0" y="0"/>
            <a:ext cx="12192000" cy="68000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9002" name="Chitkara Bottom Strip"/>
          <p:cNvSpPr/>
          <p:nvPr/>
        </p:nvSpPr>
        <p:spPr>
          <a:xfrm>
            <a:off x="0" y="6660360"/>
            <a:ext cx="12192000" cy="197640"/>
          </a:xfrm>
          <a:prstGeom prst="rect">
            <a:avLst/>
          </a:prstGeom>
          <a:solidFill>
            <a:srgbClr val="FF0000"/>
          </a:solidFill>
          <a:ln w="9360">
            <a:noFill/>
          </a:ln>
        </p:spPr>
        <p:style>
          <a:lnRef idx="0">
            <a:scrgbClr r="0" g="0" b="0"/>
          </a:lnRef>
          <a:fillRef idx="0">
            <a:scrgbClr r="0" g="0" b="0"/>
          </a:fillRef>
          <a:effectRef idx="0">
            <a:scrgbClr r="0" g="0" b="0"/>
          </a:effectRef>
          <a:fontRef idx="minor"/>
        </p:style>
      </p:sp>
      <p:pic>
        <p:nvPicPr>
          <p:cNvPr id="9003" name="Chitkara Logo" descr="Chitkara University logo"/>
          <p:cNvPicPr/>
          <p:nvPr/>
        </p:nvPicPr>
        <p:blipFill>
          <a:blip r:embed="rIdLogoChitkara"/>
          <a:stretch/>
        </p:blipFill>
        <p:spPr>
          <a:xfrm>
            <a:off x="9850440" y="40000"/>
            <a:ext cx="1807680" cy="600000"/>
          </a:xfrm>
          <a:prstGeom prst="rect">
            <a:avLst/>
          </a:prstGeom>
          <a:ln w="9360">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9646920" y="960120"/>
            <a:ext cx="91440" cy="91440"/>
          </a:xfrm>
          <a:prstGeom prst="ellipse">
            <a:avLst/>
          </a:prstGeom>
          <a:solidFill>
            <a:srgbClr val="EF4444"/>
          </a:solidFill>
          <a:ln/>
        </p:spPr>
      </p:sp>
      <p:sp>
        <p:nvSpPr>
          <p:cNvPr id="3" name="Shape 1"/>
          <p:cNvSpPr/>
          <p:nvPr/>
        </p:nvSpPr>
        <p:spPr>
          <a:xfrm>
            <a:off x="10575036" y="1522476"/>
            <a:ext cx="64008" cy="64008"/>
          </a:xfrm>
          <a:prstGeom prst="ellipse">
            <a:avLst/>
          </a:prstGeom>
          <a:solidFill>
            <a:srgbClr val="7C3AED"/>
          </a:solidFill>
          <a:ln/>
        </p:spPr>
      </p:sp>
      <p:sp>
        <p:nvSpPr>
          <p:cNvPr id="4" name="Shape 2"/>
          <p:cNvSpPr/>
          <p:nvPr/>
        </p:nvSpPr>
        <p:spPr>
          <a:xfrm>
            <a:off x="9025128" y="2075688"/>
            <a:ext cx="54864" cy="54864"/>
          </a:xfrm>
          <a:prstGeom prst="ellipse">
            <a:avLst/>
          </a:prstGeom>
          <a:solidFill>
            <a:srgbClr val="3B82F6"/>
          </a:solidFill>
          <a:ln/>
        </p:spPr>
      </p:sp>
      <p:sp>
        <p:nvSpPr>
          <p:cNvPr id="5" name="Shape 3"/>
          <p:cNvSpPr/>
          <p:nvPr/>
        </p:nvSpPr>
        <p:spPr>
          <a:xfrm>
            <a:off x="11205972" y="2610612"/>
            <a:ext cx="82296" cy="82296"/>
          </a:xfrm>
          <a:prstGeom prst="ellipse">
            <a:avLst/>
          </a:prstGeom>
          <a:solidFill>
            <a:srgbClr val="EF4444"/>
          </a:solidFill>
          <a:ln/>
        </p:spPr>
      </p:sp>
      <p:sp>
        <p:nvSpPr>
          <p:cNvPr id="6" name="Shape 4"/>
          <p:cNvSpPr/>
          <p:nvPr/>
        </p:nvSpPr>
        <p:spPr>
          <a:xfrm>
            <a:off x="9848088" y="3264408"/>
            <a:ext cx="54864" cy="54864"/>
          </a:xfrm>
          <a:prstGeom prst="ellipse">
            <a:avLst/>
          </a:prstGeom>
          <a:solidFill>
            <a:srgbClr val="7C3AED"/>
          </a:solidFill>
          <a:ln/>
        </p:spPr>
      </p:sp>
      <p:sp>
        <p:nvSpPr>
          <p:cNvPr id="7" name="Shape 5"/>
          <p:cNvSpPr/>
          <p:nvPr/>
        </p:nvSpPr>
        <p:spPr>
          <a:xfrm>
            <a:off x="10945368" y="521208"/>
            <a:ext cx="54864" cy="54864"/>
          </a:xfrm>
          <a:prstGeom prst="ellipse">
            <a:avLst/>
          </a:prstGeom>
          <a:solidFill>
            <a:srgbClr val="3B82F6"/>
          </a:solidFill>
          <a:ln/>
        </p:spPr>
      </p:sp>
      <p:sp>
        <p:nvSpPr>
          <p:cNvPr id="8" name="Shape 6"/>
          <p:cNvSpPr/>
          <p:nvPr/>
        </p:nvSpPr>
        <p:spPr>
          <a:xfrm>
            <a:off x="8572500" y="1348740"/>
            <a:ext cx="45720" cy="45720"/>
          </a:xfrm>
          <a:prstGeom prst="ellipse">
            <a:avLst/>
          </a:prstGeom>
          <a:solidFill>
            <a:srgbClr val="6B6B6B"/>
          </a:solidFill>
          <a:ln/>
        </p:spPr>
      </p:sp>
      <p:sp>
        <p:nvSpPr>
          <p:cNvPr id="9" name="Shape 7"/>
          <p:cNvSpPr/>
          <p:nvPr/>
        </p:nvSpPr>
        <p:spPr>
          <a:xfrm>
            <a:off x="10853928" y="3904488"/>
            <a:ext cx="54864" cy="54864"/>
          </a:xfrm>
          <a:prstGeom prst="ellipse">
            <a:avLst/>
          </a:prstGeom>
          <a:solidFill>
            <a:srgbClr val="EF4444"/>
          </a:solidFill>
          <a:ln/>
        </p:spPr>
      </p:sp>
      <p:sp>
        <p:nvSpPr>
          <p:cNvPr id="10" name="Shape 8"/>
          <p:cNvSpPr/>
          <p:nvPr/>
        </p:nvSpPr>
        <p:spPr>
          <a:xfrm>
            <a:off x="9304020" y="4091940"/>
            <a:ext cx="45720" cy="45720"/>
          </a:xfrm>
          <a:prstGeom prst="ellipse">
            <a:avLst/>
          </a:prstGeom>
          <a:solidFill>
            <a:srgbClr val="7C3AED"/>
          </a:solidFill>
          <a:ln/>
        </p:spPr>
      </p:sp>
      <p:sp>
        <p:nvSpPr>
          <p:cNvPr id="11" name="Shape 9"/>
          <p:cNvSpPr/>
          <p:nvPr/>
        </p:nvSpPr>
        <p:spPr>
          <a:xfrm>
            <a:off x="9692640" y="1005840"/>
            <a:ext cx="914400" cy="548640"/>
          </a:xfrm>
          <a:prstGeom prst="line">
            <a:avLst/>
          </a:prstGeom>
          <a:noFill/>
          <a:ln w="9525">
            <a:solidFill>
              <a:srgbClr val="3D2A2A"/>
            </a:solidFill>
            <a:prstDash val="solid"/>
          </a:ln>
        </p:spPr>
      </p:sp>
      <p:sp>
        <p:nvSpPr>
          <p:cNvPr id="12" name="Shape 10"/>
          <p:cNvSpPr/>
          <p:nvPr/>
        </p:nvSpPr>
        <p:spPr>
          <a:xfrm>
            <a:off x="10607040" y="1554480"/>
            <a:ext cx="640080" cy="1097280"/>
          </a:xfrm>
          <a:prstGeom prst="line">
            <a:avLst/>
          </a:prstGeom>
          <a:noFill/>
          <a:ln w="9525">
            <a:solidFill>
              <a:srgbClr val="3D2A2A"/>
            </a:solidFill>
            <a:prstDash val="solid"/>
          </a:ln>
        </p:spPr>
      </p:sp>
      <p:sp>
        <p:nvSpPr>
          <p:cNvPr id="13" name="Shape 11"/>
          <p:cNvSpPr/>
          <p:nvPr/>
        </p:nvSpPr>
        <p:spPr>
          <a:xfrm>
            <a:off x="9052560" y="1005840"/>
            <a:ext cx="640080" cy="1097280"/>
          </a:xfrm>
          <a:prstGeom prst="line">
            <a:avLst/>
          </a:prstGeom>
          <a:noFill/>
          <a:ln w="9525">
            <a:solidFill>
              <a:srgbClr val="3D2A2A"/>
            </a:solidFill>
            <a:prstDash val="solid"/>
          </a:ln>
        </p:spPr>
      </p:sp>
      <p:sp>
        <p:nvSpPr>
          <p:cNvPr id="14" name="Shape 12"/>
          <p:cNvSpPr/>
          <p:nvPr/>
        </p:nvSpPr>
        <p:spPr>
          <a:xfrm>
            <a:off x="9875520" y="2651760"/>
            <a:ext cx="1371600" cy="640080"/>
          </a:xfrm>
          <a:prstGeom prst="line">
            <a:avLst/>
          </a:prstGeom>
          <a:noFill/>
          <a:ln w="9525">
            <a:solidFill>
              <a:srgbClr val="3D2A2A"/>
            </a:solidFill>
            <a:prstDash val="solid"/>
          </a:ln>
        </p:spPr>
      </p:sp>
      <p:sp>
        <p:nvSpPr>
          <p:cNvPr id="15" name="Shape 13"/>
          <p:cNvSpPr/>
          <p:nvPr/>
        </p:nvSpPr>
        <p:spPr>
          <a:xfrm>
            <a:off x="9052560" y="1554480"/>
            <a:ext cx="1554480" cy="548640"/>
          </a:xfrm>
          <a:prstGeom prst="line">
            <a:avLst/>
          </a:prstGeom>
          <a:noFill/>
          <a:ln w="9525">
            <a:solidFill>
              <a:srgbClr val="3D2A2A"/>
            </a:solidFill>
            <a:prstDash val="solid"/>
          </a:ln>
        </p:spPr>
      </p:sp>
      <p:sp>
        <p:nvSpPr>
          <p:cNvPr id="16" name="Shape 14"/>
          <p:cNvSpPr/>
          <p:nvPr/>
        </p:nvSpPr>
        <p:spPr>
          <a:xfrm>
            <a:off x="10607040" y="548640"/>
            <a:ext cx="365760" cy="1005840"/>
          </a:xfrm>
          <a:prstGeom prst="line">
            <a:avLst/>
          </a:prstGeom>
          <a:noFill/>
          <a:ln w="9525">
            <a:solidFill>
              <a:srgbClr val="3D2A2A"/>
            </a:solidFill>
            <a:prstDash val="solid"/>
          </a:ln>
        </p:spPr>
      </p:sp>
      <p:sp>
        <p:nvSpPr>
          <p:cNvPr id="17" name="Shape 15"/>
          <p:cNvSpPr/>
          <p:nvPr/>
        </p:nvSpPr>
        <p:spPr>
          <a:xfrm>
            <a:off x="8595360" y="1371600"/>
            <a:ext cx="457200" cy="731520"/>
          </a:xfrm>
          <a:prstGeom prst="line">
            <a:avLst/>
          </a:prstGeom>
          <a:noFill/>
          <a:ln w="9525">
            <a:solidFill>
              <a:srgbClr val="3D2A2A"/>
            </a:solidFill>
            <a:prstDash val="solid"/>
          </a:ln>
        </p:spPr>
      </p:sp>
      <p:sp>
        <p:nvSpPr>
          <p:cNvPr id="18" name="Shape 16"/>
          <p:cNvSpPr/>
          <p:nvPr/>
        </p:nvSpPr>
        <p:spPr>
          <a:xfrm>
            <a:off x="9875520" y="3291840"/>
            <a:ext cx="1005840" cy="640080"/>
          </a:xfrm>
          <a:prstGeom prst="line">
            <a:avLst/>
          </a:prstGeom>
          <a:noFill/>
          <a:ln w="9525">
            <a:solidFill>
              <a:srgbClr val="3D2A2A"/>
            </a:solidFill>
            <a:prstDash val="solid"/>
          </a:ln>
        </p:spPr>
      </p:sp>
      <p:sp>
        <p:nvSpPr>
          <p:cNvPr id="19" name="Shape 17"/>
          <p:cNvSpPr/>
          <p:nvPr/>
        </p:nvSpPr>
        <p:spPr>
          <a:xfrm>
            <a:off x="9326880" y="3291840"/>
            <a:ext cx="548640" cy="822960"/>
          </a:xfrm>
          <a:prstGeom prst="line">
            <a:avLst/>
          </a:prstGeom>
          <a:noFill/>
          <a:ln w="9525">
            <a:solidFill>
              <a:srgbClr val="3D2A2A"/>
            </a:solidFill>
            <a:prstDash val="solid"/>
          </a:ln>
        </p:spPr>
      </p:sp>
      <p:sp>
        <p:nvSpPr>
          <p:cNvPr id="20" name="Text 18"/>
          <p:cNvSpPr txBox="1"/>
          <p:nvPr/>
        </p:nvSpPr>
        <p:spPr>
          <a:xfrm>
            <a:off x="640080" y="1234440"/>
            <a:ext cx="7315200" cy="320040"/>
          </a:xfrm>
          <a:prstGeom prst="rect">
            <a:avLst/>
          </a:prstGeom>
          <a:noFill/>
          <a:ln/>
        </p:spPr>
        <p:txBody>
          <a:bodyPr wrap="square" lIns="0" tIns="0" rIns="0" bIns="0" rtlCol="0" anchor="ctr"/>
          <a:lstStyle/>
          <a:p>
            <a:pPr indent="0" marL="0">
              <a:buNone/>
            </a:pPr>
            <a:r>
              <a:rPr lang="en-US" sz="1250" b="1" spc="250" kern="0" dirty="0">
                <a:solidFill>
                  <a:srgbClr val="EF4444"/>
                </a:solidFill>
                <a:latin typeface="Calibri" pitchFamily="34" charset="0"/>
                <a:ea typeface="Calibri" pitchFamily="34" charset="-122"/>
                <a:cs typeface="Calibri" pitchFamily="34" charset="-120"/>
              </a:rPr>
              <a:t>G-10  ·  B.TECH CSE  ·  2027 BATCH</a:t>
            </a:r>
            <a:endParaRPr lang="en-US" sz="1250" dirty="0"/>
          </a:p>
        </p:txBody>
      </p:sp>
      <p:sp>
        <p:nvSpPr>
          <p:cNvPr id="21" name="Text 19"/>
          <p:cNvSpPr txBox="1"/>
          <p:nvPr/>
        </p:nvSpPr>
        <p:spPr>
          <a:xfrm>
            <a:off x="594360" y="1691640"/>
            <a:ext cx="8778240" cy="1874520"/>
          </a:xfrm>
          <a:prstGeom prst="rect">
            <a:avLst/>
          </a:prstGeom>
          <a:noFill/>
          <a:ln/>
        </p:spPr>
        <p:txBody>
          <a:bodyPr wrap="square" lIns="0" tIns="0" rIns="0" bIns="0" rtlCol="0" anchor="ctr"/>
          <a:lstStyle/>
          <a:p>
            <a:pPr indent="0" marL="0">
              <a:lnSpc>
                <a:spcPct val="102000"/>
              </a:lnSpc>
              <a:buNone/>
            </a:pPr>
            <a:r>
              <a:rPr lang="en-US" sz="5400" b="1" dirty="0">
                <a:solidFill>
                  <a:srgbClr val="F5F5F5"/>
                </a:solidFill>
                <a:latin typeface="Cambria" pitchFamily="34" charset="0"/>
                <a:ea typeface="Cambria" pitchFamily="34" charset="-122"/>
                <a:cs typeface="Cambria" pitchFamily="34" charset="-120"/>
              </a:rPr>
              <a:t>Credit Card Fraud</a:t>
            </a:r>
            <a:endParaRPr lang="en-US" sz="5400" dirty="0"/>
          </a:p>
          <a:p>
            <a:pPr indent="0" marL="0">
              <a:lnSpc>
                <a:spcPct val="102000"/>
              </a:lnSpc>
              <a:buNone/>
            </a:pPr>
            <a:r>
              <a:rPr lang="en-US" sz="5400" b="1" dirty="0">
                <a:solidFill>
                  <a:srgbClr val="F5F5F5"/>
                </a:solidFill>
                <a:latin typeface="Cambria" pitchFamily="34" charset="0"/>
                <a:ea typeface="Cambria" pitchFamily="34" charset="-122"/>
                <a:cs typeface="Cambria" pitchFamily="34" charset="-120"/>
              </a:rPr>
              <a:t>Detection</a:t>
            </a:r>
            <a:endParaRPr lang="en-US" sz="5400" dirty="0"/>
          </a:p>
        </p:txBody>
      </p:sp>
      <p:sp>
        <p:nvSpPr>
          <p:cNvPr id="22" name="Text 20"/>
          <p:cNvSpPr txBox="1"/>
          <p:nvPr/>
        </p:nvSpPr>
        <p:spPr>
          <a:xfrm>
            <a:off x="640080" y="3611880"/>
            <a:ext cx="7863840" cy="685800"/>
          </a:xfrm>
          <a:prstGeom prst="rect">
            <a:avLst/>
          </a:prstGeom>
          <a:noFill/>
          <a:ln/>
        </p:spPr>
        <p:txBody>
          <a:bodyPr wrap="square" lIns="0" tIns="0" rIns="0" bIns="0" rtlCol="0" anchor="ctr"/>
          <a:lstStyle/>
          <a:p>
            <a:pPr indent="0" marL="0">
              <a:lnSpc>
                <a:spcPct val="115000"/>
              </a:lnSpc>
              <a:buNone/>
            </a:pPr>
            <a:r>
              <a:rPr lang="en-US" sz="1450" i="1" dirty="0">
                <a:solidFill>
                  <a:srgbClr val="9A9A9A"/>
                </a:solidFill>
                <a:latin typeface="Calibri" pitchFamily="34" charset="0"/>
                <a:ea typeface="Calibri" pitchFamily="34" charset="-122"/>
                <a:cs typeface="Calibri" pitchFamily="34" charset="-120"/>
              </a:rPr>
              <a:t>An end-to-end, leakage-safe machine learning pipeline for detecting fraudulent transactions in severely imbalanced financial data</a:t>
            </a:r>
            <a:endParaRPr lang="en-US" sz="1450" dirty="0"/>
          </a:p>
        </p:txBody>
      </p:sp>
      <p:sp>
        <p:nvSpPr>
          <p:cNvPr id="23" name="Shape 21"/>
          <p:cNvSpPr/>
          <p:nvPr/>
        </p:nvSpPr>
        <p:spPr>
          <a:xfrm>
            <a:off x="640080" y="4526280"/>
            <a:ext cx="7863840" cy="10973"/>
          </a:xfrm>
          <a:prstGeom prst="rect">
            <a:avLst/>
          </a:prstGeom>
          <a:solidFill>
            <a:srgbClr val="2A2A2A"/>
          </a:solidFill>
          <a:ln/>
        </p:spPr>
      </p:sp>
      <p:sp>
        <p:nvSpPr>
          <p:cNvPr id="24" name="Shape 22"/>
          <p:cNvSpPr/>
          <p:nvPr/>
        </p:nvSpPr>
        <p:spPr>
          <a:xfrm>
            <a:off x="640080" y="4800600"/>
            <a:ext cx="7863840" cy="1417320"/>
          </a:xfrm>
          <a:prstGeom prst="roundRect">
            <a:avLst>
              <a:gd name="adj" fmla="val 5806"/>
            </a:avLst>
          </a:prstGeom>
          <a:solidFill>
            <a:srgbClr val="141414"/>
          </a:solidFill>
          <a:ln w="12700">
            <a:solidFill>
              <a:srgbClr val="2A2A2A"/>
            </a:solidFill>
            <a:prstDash val="solid"/>
          </a:ln>
        </p:spPr>
      </p:sp>
      <p:sp>
        <p:nvSpPr>
          <p:cNvPr id="25" name="Text 23"/>
          <p:cNvSpPr txBox="1"/>
          <p:nvPr/>
        </p:nvSpPr>
        <p:spPr>
          <a:xfrm>
            <a:off x="914400" y="5001768"/>
            <a:ext cx="3566160" cy="228600"/>
          </a:xfrm>
          <a:prstGeom prst="rect">
            <a:avLst/>
          </a:prstGeom>
          <a:noFill/>
          <a:ln/>
        </p:spPr>
        <p:txBody>
          <a:bodyPr wrap="square" lIns="0" tIns="0" rIns="0" bIns="0" rtlCol="0" anchor="ctr"/>
          <a:lstStyle/>
          <a:p>
            <a:pPr indent="0" marL="0">
              <a:buNone/>
            </a:pPr>
            <a:r>
              <a:rPr lang="en-US" sz="950" b="1" spc="150" kern="0" dirty="0">
                <a:solidFill>
                  <a:srgbClr val="6B6B6B"/>
                </a:solidFill>
                <a:latin typeface="Calibri" pitchFamily="34" charset="0"/>
                <a:ea typeface="Calibri" pitchFamily="34" charset="-122"/>
                <a:cs typeface="Calibri" pitchFamily="34" charset="-120"/>
              </a:rPr>
              <a:t>PRESENTED BY</a:t>
            </a:r>
            <a:endParaRPr lang="en-US" sz="950" dirty="0"/>
          </a:p>
        </p:txBody>
      </p:sp>
      <p:sp>
        <p:nvSpPr>
          <p:cNvPr id="26" name="Text 24"/>
          <p:cNvSpPr txBox="1"/>
          <p:nvPr/>
        </p:nvSpPr>
        <p:spPr>
          <a:xfrm>
            <a:off x="914400" y="5257800"/>
            <a:ext cx="3566160" cy="457200"/>
          </a:xfrm>
          <a:prstGeom prst="rect">
            <a:avLst/>
          </a:prstGeom>
          <a:noFill/>
          <a:ln/>
        </p:spPr>
        <p:txBody>
          <a:bodyPr wrap="square" lIns="0" tIns="0" rIns="0" bIns="0" rtlCol="0" anchor="ctr"/>
          <a:lstStyle/>
          <a:p>
            <a:pPr indent="0" marL="0">
              <a:buNone/>
            </a:pPr>
            <a:r>
              <a:rPr lang="en-US" sz="1600" b="1" dirty="0">
                <a:solidFill>
                  <a:srgbClr val="F5F5F5"/>
                </a:solidFill>
                <a:latin typeface="Calibri" pitchFamily="34" charset="0"/>
                <a:ea typeface="Calibri" pitchFamily="34" charset="-122"/>
                <a:cs typeface="Calibri" pitchFamily="34" charset="-120"/>
              </a:rPr>
              <a:t>Aarushi Sharma</a:t>
            </a:r>
            <a:endParaRPr lang="en-US" sz="1600" dirty="0"/>
          </a:p>
        </p:txBody>
      </p:sp>
      <p:sp>
        <p:nvSpPr>
          <p:cNvPr id="27" name="Text 25"/>
          <p:cNvSpPr txBox="1"/>
          <p:nvPr/>
        </p:nvSpPr>
        <p:spPr>
          <a:xfrm>
            <a:off x="4480560" y="5001768"/>
            <a:ext cx="3566160" cy="228600"/>
          </a:xfrm>
          <a:prstGeom prst="rect">
            <a:avLst/>
          </a:prstGeom>
          <a:noFill/>
          <a:ln/>
        </p:spPr>
        <p:txBody>
          <a:bodyPr wrap="square" lIns="0" tIns="0" rIns="0" bIns="0" rtlCol="0" anchor="ctr"/>
          <a:lstStyle/>
          <a:p>
            <a:pPr indent="0" marL="0">
              <a:buNone/>
            </a:pPr>
            <a:r>
              <a:rPr lang="en-US" sz="950" b="1" spc="150" kern="0" dirty="0">
                <a:solidFill>
                  <a:srgbClr val="6B6B6B"/>
                </a:solidFill>
                <a:latin typeface="Calibri" pitchFamily="34" charset="0"/>
                <a:ea typeface="Calibri" pitchFamily="34" charset="-122"/>
                <a:cs typeface="Calibri" pitchFamily="34" charset="-120"/>
              </a:rPr>
              <a:t>ROLL NO.</a:t>
            </a:r>
            <a:endParaRPr lang="en-US" sz="950" dirty="0"/>
          </a:p>
        </p:txBody>
      </p:sp>
      <p:sp>
        <p:nvSpPr>
          <p:cNvPr id="28" name="Text 26"/>
          <p:cNvSpPr txBox="1"/>
          <p:nvPr/>
        </p:nvSpPr>
        <p:spPr>
          <a:xfrm>
            <a:off x="4480560" y="5257800"/>
            <a:ext cx="3566160" cy="457200"/>
          </a:xfrm>
          <a:prstGeom prst="rect">
            <a:avLst/>
          </a:prstGeom>
          <a:noFill/>
          <a:ln/>
        </p:spPr>
        <p:txBody>
          <a:bodyPr wrap="square" lIns="0" tIns="0" rIns="0" bIns="0" rtlCol="0" anchor="ctr"/>
          <a:lstStyle/>
          <a:p>
            <a:pPr indent="0" marL="0">
              <a:buNone/>
            </a:pPr>
            <a:r>
              <a:rPr lang="en-US" sz="1600" b="1" dirty="0">
                <a:solidFill>
                  <a:srgbClr val="F5F5F5"/>
                </a:solidFill>
                <a:latin typeface="Calibri" pitchFamily="34" charset="0"/>
                <a:ea typeface="Calibri" pitchFamily="34" charset="-122"/>
                <a:cs typeface="Calibri" pitchFamily="34" charset="-120"/>
              </a:rPr>
              <a:t>2310990258</a:t>
            </a:r>
            <a:endParaRPr lang="en-US" sz="1600" dirty="0"/>
          </a:p>
        </p:txBody>
      </p:sp>
      <p:sp>
        <p:nvSpPr>
          <p:cNvPr id="29" name="Shape 27"/>
          <p:cNvSpPr/>
          <p:nvPr/>
        </p:nvSpPr>
        <p:spPr>
          <a:xfrm>
            <a:off x="914400" y="5824728"/>
            <a:ext cx="7223760" cy="914"/>
          </a:xfrm>
          <a:prstGeom prst="line">
            <a:avLst/>
          </a:prstGeom>
          <a:noFill/>
          <a:ln w="12700">
            <a:solidFill>
              <a:srgbClr val="2A2A2A"/>
            </a:solidFill>
            <a:prstDash val="solid"/>
          </a:ln>
        </p:spPr>
      </p:sp>
      <p:sp>
        <p:nvSpPr>
          <p:cNvPr id="30" name="Text 28"/>
          <p:cNvSpPr txBox="1"/>
          <p:nvPr/>
        </p:nvSpPr>
        <p:spPr>
          <a:xfrm>
            <a:off x="914400" y="5897880"/>
            <a:ext cx="3566160" cy="228600"/>
          </a:xfrm>
          <a:prstGeom prst="rect">
            <a:avLst/>
          </a:prstGeom>
          <a:noFill/>
          <a:ln/>
        </p:spPr>
        <p:txBody>
          <a:bodyPr wrap="square" lIns="0" tIns="0" rIns="0" bIns="0" rtlCol="0" anchor="ctr"/>
          <a:lstStyle/>
          <a:p>
            <a:pPr indent="0" marL="0">
              <a:buNone/>
            </a:pPr>
            <a:r>
              <a:rPr lang="en-US" sz="950" b="1" spc="150" kern="0" dirty="0">
                <a:solidFill>
                  <a:srgbClr val="6B6B6B"/>
                </a:solidFill>
                <a:latin typeface="Calibri" pitchFamily="34" charset="0"/>
                <a:ea typeface="Calibri" pitchFamily="34" charset="-122"/>
                <a:cs typeface="Calibri" pitchFamily="34" charset="-120"/>
              </a:rPr>
              <a:t>SUPERVISOR</a:t>
            </a:r>
            <a:endParaRPr lang="en-US" sz="950" dirty="0"/>
          </a:p>
        </p:txBody>
      </p:sp>
      <p:sp>
        <p:nvSpPr>
          <p:cNvPr id="31" name="Text 29"/>
          <p:cNvSpPr txBox="1"/>
          <p:nvPr/>
        </p:nvSpPr>
        <p:spPr>
          <a:xfrm>
            <a:off x="4480560" y="5879592"/>
            <a:ext cx="3566160" cy="274320"/>
          </a:xfrm>
          <a:prstGeom prst="rect">
            <a:avLst/>
          </a:prstGeom>
          <a:noFill/>
          <a:ln/>
        </p:spPr>
        <p:txBody>
          <a:bodyPr wrap="square" lIns="0" tIns="0" rIns="0" bIns="0"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Mr. Saubhagya Verma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50" b="1" spc="220" kern="0" dirty="0">
                <a:solidFill>
                  <a:srgbClr val="EF4444"/>
                </a:solidFill>
                <a:latin typeface="Calibri" pitchFamily="34" charset="0"/>
                <a:ea typeface="Calibri" pitchFamily="34" charset="-122"/>
                <a:cs typeface="Calibri" pitchFamily="34" charset="-120"/>
              </a:rPr>
              <a:t>ROADMAP</a:t>
            </a:r>
            <a:endParaRPr lang="en-US" sz="1250" dirty="0"/>
          </a:p>
        </p:txBody>
      </p:sp>
      <p:sp>
        <p:nvSpPr>
          <p:cNvPr id="3" name="Text 1"/>
          <p:cNvSpPr txBox="1"/>
          <p:nvPr/>
        </p:nvSpPr>
        <p:spPr>
          <a:xfrm>
            <a:off x="640080" y="676656"/>
            <a:ext cx="9875520" cy="685800"/>
          </a:xfrm>
          <a:prstGeom prst="rect">
            <a:avLst/>
          </a:prstGeom>
          <a:noFill/>
          <a:ln/>
        </p:spPr>
        <p:txBody>
          <a:bodyPr wrap="square" lIns="0" tIns="0" rIns="0" bIns="0" rtlCol="0" anchor="ctr"/>
          <a:lstStyle/>
          <a:p>
            <a:pPr indent="0" marL="0">
              <a:buNone/>
            </a:pPr>
            <a:r>
              <a:rPr lang="en-US" sz="3000" b="1" dirty="0">
                <a:solidFill>
                  <a:srgbClr val="F5F5F5"/>
                </a:solidFill>
                <a:latin typeface="Cambria" pitchFamily="34" charset="0"/>
                <a:ea typeface="Cambria" pitchFamily="34" charset="-122"/>
                <a:cs typeface="Cambria" pitchFamily="34" charset="-120"/>
              </a:rPr>
              <a:t>What We'll Cover</a:t>
            </a:r>
            <a:endParaRPr lang="en-US" sz="3000" dirty="0"/>
          </a:p>
        </p:txBody>
      </p:sp>
      <p:sp>
        <p:nvSpPr>
          <p:cNvPr id="4" name="Text 2"/>
          <p:cNvSpPr txBox="1"/>
          <p:nvPr/>
        </p:nvSpPr>
        <p:spPr>
          <a:xfrm>
            <a:off x="640080" y="1600200"/>
            <a:ext cx="685800" cy="502920"/>
          </a:xfrm>
          <a:prstGeom prst="rect">
            <a:avLst/>
          </a:prstGeom>
          <a:noFill/>
          <a:ln/>
        </p:spPr>
        <p:txBody>
          <a:bodyPr wrap="square" lIns="0" tIns="0" rIns="0" bIns="0" rtlCol="0" anchor="ctr"/>
          <a:lstStyle/>
          <a:p>
            <a:pPr indent="0" marL="0">
              <a:buNone/>
            </a:pPr>
            <a:r>
              <a:rPr lang="en-US" sz="2200" b="1" dirty="0">
                <a:solidFill>
                  <a:srgbClr val="EF4444"/>
                </a:solidFill>
                <a:latin typeface="Cambria" pitchFamily="34" charset="0"/>
                <a:ea typeface="Cambria" pitchFamily="34" charset="-122"/>
                <a:cs typeface="Cambria" pitchFamily="34" charset="-120"/>
              </a:rPr>
              <a:t>01</a:t>
            </a:r>
            <a:endParaRPr lang="en-US" sz="2200" dirty="0"/>
          </a:p>
        </p:txBody>
      </p:sp>
      <p:sp>
        <p:nvSpPr>
          <p:cNvPr id="5" name="Text 3"/>
          <p:cNvSpPr txBox="1"/>
          <p:nvPr/>
        </p:nvSpPr>
        <p:spPr>
          <a:xfrm>
            <a:off x="1325880" y="1581912"/>
            <a:ext cx="4389120" cy="292608"/>
          </a:xfrm>
          <a:prstGeom prst="rect">
            <a:avLst/>
          </a:prstGeom>
          <a:noFill/>
          <a:ln/>
        </p:spPr>
        <p:txBody>
          <a:bodyPr wrap="square" lIns="0" tIns="0" rIns="0" bIns="0" rtlCol="0" anchor="ctr"/>
          <a:lstStyle/>
          <a:p>
            <a:pPr indent="0" marL="0">
              <a:buNone/>
            </a:pPr>
            <a:r>
              <a:rPr lang="en-US" sz="1400" b="1" dirty="0">
                <a:solidFill>
                  <a:srgbClr val="F5F5F5"/>
                </a:solidFill>
                <a:latin typeface="Calibri" pitchFamily="34" charset="0"/>
                <a:ea typeface="Calibri" pitchFamily="34" charset="-122"/>
                <a:cs typeface="Calibri" pitchFamily="34" charset="-120"/>
              </a:rPr>
              <a:t>Problem Statement</a:t>
            </a:r>
            <a:endParaRPr lang="en-US" sz="1400" dirty="0"/>
          </a:p>
        </p:txBody>
      </p:sp>
      <p:sp>
        <p:nvSpPr>
          <p:cNvPr id="6" name="Text 4"/>
          <p:cNvSpPr txBox="1"/>
          <p:nvPr/>
        </p:nvSpPr>
        <p:spPr>
          <a:xfrm>
            <a:off x="1325880" y="1856232"/>
            <a:ext cx="4389120" cy="320040"/>
          </a:xfrm>
          <a:prstGeom prst="rect">
            <a:avLst/>
          </a:prstGeom>
          <a:noFill/>
          <a:ln/>
        </p:spPr>
        <p:txBody>
          <a:bodyPr wrap="square" lIns="0" tIns="0" rIns="0" bIns="0" rtlCol="0" anchor="ctr"/>
          <a:lstStyle/>
          <a:p>
            <a:pPr indent="0" marL="0">
              <a:buNone/>
            </a:pPr>
            <a:r>
              <a:rPr lang="en-US" sz="1050" dirty="0">
                <a:solidFill>
                  <a:srgbClr val="9A9A9A"/>
                </a:solidFill>
                <a:latin typeface="Calibri" pitchFamily="34" charset="0"/>
                <a:ea typeface="Calibri" pitchFamily="34" charset="-122"/>
                <a:cs typeface="Calibri" pitchFamily="34" charset="-120"/>
              </a:rPr>
              <a:t>Why fraud detection is a hard, high-stakes ML problem</a:t>
            </a:r>
            <a:endParaRPr lang="en-US" sz="1050" dirty="0"/>
          </a:p>
        </p:txBody>
      </p:sp>
      <p:sp>
        <p:nvSpPr>
          <p:cNvPr id="7" name="Text 5"/>
          <p:cNvSpPr txBox="1"/>
          <p:nvPr/>
        </p:nvSpPr>
        <p:spPr>
          <a:xfrm>
            <a:off x="640080" y="2258568"/>
            <a:ext cx="685800" cy="502920"/>
          </a:xfrm>
          <a:prstGeom prst="rect">
            <a:avLst/>
          </a:prstGeom>
          <a:noFill/>
          <a:ln/>
        </p:spPr>
        <p:txBody>
          <a:bodyPr wrap="square" lIns="0" tIns="0" rIns="0" bIns="0" rtlCol="0" anchor="ctr"/>
          <a:lstStyle/>
          <a:p>
            <a:pPr indent="0" marL="0">
              <a:buNone/>
            </a:pPr>
            <a:r>
              <a:rPr lang="en-US" sz="2200" b="1" dirty="0">
                <a:solidFill>
                  <a:srgbClr val="3B82F6"/>
                </a:solidFill>
                <a:latin typeface="Cambria" pitchFamily="34" charset="0"/>
                <a:ea typeface="Cambria" pitchFamily="34" charset="-122"/>
                <a:cs typeface="Cambria" pitchFamily="34" charset="-120"/>
              </a:rPr>
              <a:t>02</a:t>
            </a:r>
            <a:endParaRPr lang="en-US" sz="2200" dirty="0"/>
          </a:p>
        </p:txBody>
      </p:sp>
      <p:sp>
        <p:nvSpPr>
          <p:cNvPr id="8" name="Text 6"/>
          <p:cNvSpPr txBox="1"/>
          <p:nvPr/>
        </p:nvSpPr>
        <p:spPr>
          <a:xfrm>
            <a:off x="1325880" y="2240280"/>
            <a:ext cx="4389120" cy="292608"/>
          </a:xfrm>
          <a:prstGeom prst="rect">
            <a:avLst/>
          </a:prstGeom>
          <a:noFill/>
          <a:ln/>
        </p:spPr>
        <p:txBody>
          <a:bodyPr wrap="square" lIns="0" tIns="0" rIns="0" bIns="0" rtlCol="0" anchor="ctr"/>
          <a:lstStyle/>
          <a:p>
            <a:pPr indent="0" marL="0">
              <a:buNone/>
            </a:pPr>
            <a:r>
              <a:rPr lang="en-US" sz="1400" b="1" dirty="0">
                <a:solidFill>
                  <a:srgbClr val="F5F5F5"/>
                </a:solidFill>
                <a:latin typeface="Calibri" pitchFamily="34" charset="0"/>
                <a:ea typeface="Calibri" pitchFamily="34" charset="-122"/>
                <a:cs typeface="Calibri" pitchFamily="34" charset="-120"/>
              </a:rPr>
              <a:t>Dataset &amp; EDA</a:t>
            </a:r>
            <a:endParaRPr lang="en-US" sz="1400" dirty="0"/>
          </a:p>
        </p:txBody>
      </p:sp>
      <p:sp>
        <p:nvSpPr>
          <p:cNvPr id="9" name="Text 7"/>
          <p:cNvSpPr txBox="1"/>
          <p:nvPr/>
        </p:nvSpPr>
        <p:spPr>
          <a:xfrm>
            <a:off x="1325880" y="2514600"/>
            <a:ext cx="4389120" cy="320040"/>
          </a:xfrm>
          <a:prstGeom prst="rect">
            <a:avLst/>
          </a:prstGeom>
          <a:noFill/>
          <a:ln/>
        </p:spPr>
        <p:txBody>
          <a:bodyPr wrap="square" lIns="0" tIns="0" rIns="0" bIns="0" rtlCol="0" anchor="ctr"/>
          <a:lstStyle/>
          <a:p>
            <a:pPr indent="0" marL="0">
              <a:buNone/>
            </a:pPr>
            <a:r>
              <a:rPr lang="en-US" sz="1050" dirty="0">
                <a:solidFill>
                  <a:srgbClr val="9A9A9A"/>
                </a:solidFill>
                <a:latin typeface="Calibri" pitchFamily="34" charset="0"/>
                <a:ea typeface="Calibri" pitchFamily="34" charset="-122"/>
                <a:cs typeface="Calibri" pitchFamily="34" charset="-120"/>
              </a:rPr>
              <a:t>284,807 transactions, 0.17% fraud, distribution insights</a:t>
            </a:r>
            <a:endParaRPr lang="en-US" sz="1050" dirty="0"/>
          </a:p>
        </p:txBody>
      </p:sp>
      <p:sp>
        <p:nvSpPr>
          <p:cNvPr id="10" name="Text 8"/>
          <p:cNvSpPr txBox="1"/>
          <p:nvPr/>
        </p:nvSpPr>
        <p:spPr>
          <a:xfrm>
            <a:off x="640080" y="2916936"/>
            <a:ext cx="685800" cy="502920"/>
          </a:xfrm>
          <a:prstGeom prst="rect">
            <a:avLst/>
          </a:prstGeom>
          <a:noFill/>
          <a:ln/>
        </p:spPr>
        <p:txBody>
          <a:bodyPr wrap="square" lIns="0" tIns="0" rIns="0" bIns="0" rtlCol="0" anchor="ctr"/>
          <a:lstStyle/>
          <a:p>
            <a:pPr indent="0" marL="0">
              <a:buNone/>
            </a:pPr>
            <a:r>
              <a:rPr lang="en-US" sz="2200" b="1" dirty="0">
                <a:solidFill>
                  <a:srgbClr val="7C3AED"/>
                </a:solidFill>
                <a:latin typeface="Cambria" pitchFamily="34" charset="0"/>
                <a:ea typeface="Cambria" pitchFamily="34" charset="-122"/>
                <a:cs typeface="Cambria" pitchFamily="34" charset="-120"/>
              </a:rPr>
              <a:t>03</a:t>
            </a:r>
            <a:endParaRPr lang="en-US" sz="2200" dirty="0"/>
          </a:p>
        </p:txBody>
      </p:sp>
      <p:sp>
        <p:nvSpPr>
          <p:cNvPr id="11" name="Text 9"/>
          <p:cNvSpPr txBox="1"/>
          <p:nvPr/>
        </p:nvSpPr>
        <p:spPr>
          <a:xfrm>
            <a:off x="1325880" y="2898648"/>
            <a:ext cx="4389120" cy="292608"/>
          </a:xfrm>
          <a:prstGeom prst="rect">
            <a:avLst/>
          </a:prstGeom>
          <a:noFill/>
          <a:ln/>
        </p:spPr>
        <p:txBody>
          <a:bodyPr wrap="square" lIns="0" tIns="0" rIns="0" bIns="0" rtlCol="0" anchor="ctr"/>
          <a:lstStyle/>
          <a:p>
            <a:pPr indent="0" marL="0">
              <a:buNone/>
            </a:pPr>
            <a:r>
              <a:rPr lang="en-US" sz="1400" b="1" dirty="0">
                <a:solidFill>
                  <a:srgbClr val="F5F5F5"/>
                </a:solidFill>
                <a:latin typeface="Calibri" pitchFamily="34" charset="0"/>
                <a:ea typeface="Calibri" pitchFamily="34" charset="-122"/>
                <a:cs typeface="Calibri" pitchFamily="34" charset="-120"/>
              </a:rPr>
              <a:t>Pipeline Design</a:t>
            </a:r>
            <a:endParaRPr lang="en-US" sz="1400" dirty="0"/>
          </a:p>
        </p:txBody>
      </p:sp>
      <p:sp>
        <p:nvSpPr>
          <p:cNvPr id="12" name="Text 10"/>
          <p:cNvSpPr txBox="1"/>
          <p:nvPr/>
        </p:nvSpPr>
        <p:spPr>
          <a:xfrm>
            <a:off x="1325880" y="3172968"/>
            <a:ext cx="4389120" cy="320040"/>
          </a:xfrm>
          <a:prstGeom prst="rect">
            <a:avLst/>
          </a:prstGeom>
          <a:noFill/>
          <a:ln/>
        </p:spPr>
        <p:txBody>
          <a:bodyPr wrap="square" lIns="0" tIns="0" rIns="0" bIns="0" rtlCol="0" anchor="ctr"/>
          <a:lstStyle/>
          <a:p>
            <a:pPr indent="0" marL="0">
              <a:buNone/>
            </a:pPr>
            <a:r>
              <a:rPr lang="en-US" sz="1050" dirty="0">
                <a:solidFill>
                  <a:srgbClr val="9A9A9A"/>
                </a:solidFill>
                <a:latin typeface="Calibri" pitchFamily="34" charset="0"/>
                <a:ea typeface="Calibri" pitchFamily="34" charset="-122"/>
                <a:cs typeface="Calibri" pitchFamily="34" charset="-120"/>
              </a:rPr>
              <a:t>Leak-safe split → scale → SMOTE → train → evaluate</a:t>
            </a:r>
            <a:endParaRPr lang="en-US" sz="1050" dirty="0"/>
          </a:p>
        </p:txBody>
      </p:sp>
      <p:sp>
        <p:nvSpPr>
          <p:cNvPr id="13" name="Text 11"/>
          <p:cNvSpPr txBox="1"/>
          <p:nvPr/>
        </p:nvSpPr>
        <p:spPr>
          <a:xfrm>
            <a:off x="640080" y="3575304"/>
            <a:ext cx="685800" cy="502920"/>
          </a:xfrm>
          <a:prstGeom prst="rect">
            <a:avLst/>
          </a:prstGeom>
          <a:noFill/>
          <a:ln/>
        </p:spPr>
        <p:txBody>
          <a:bodyPr wrap="square" lIns="0" tIns="0" rIns="0" bIns="0" rtlCol="0" anchor="ctr"/>
          <a:lstStyle/>
          <a:p>
            <a:pPr indent="0" marL="0">
              <a:buNone/>
            </a:pPr>
            <a:r>
              <a:rPr lang="en-US" sz="2200" b="1" dirty="0">
                <a:solidFill>
                  <a:srgbClr val="10B981"/>
                </a:solidFill>
                <a:latin typeface="Cambria" pitchFamily="34" charset="0"/>
                <a:ea typeface="Cambria" pitchFamily="34" charset="-122"/>
                <a:cs typeface="Cambria" pitchFamily="34" charset="-120"/>
              </a:rPr>
              <a:t>04</a:t>
            </a:r>
            <a:endParaRPr lang="en-US" sz="2200" dirty="0"/>
          </a:p>
        </p:txBody>
      </p:sp>
      <p:sp>
        <p:nvSpPr>
          <p:cNvPr id="14" name="Text 12"/>
          <p:cNvSpPr txBox="1"/>
          <p:nvPr/>
        </p:nvSpPr>
        <p:spPr>
          <a:xfrm>
            <a:off x="1325880" y="3557016"/>
            <a:ext cx="4389120" cy="292608"/>
          </a:xfrm>
          <a:prstGeom prst="rect">
            <a:avLst/>
          </a:prstGeom>
          <a:noFill/>
          <a:ln/>
        </p:spPr>
        <p:txBody>
          <a:bodyPr wrap="square" lIns="0" tIns="0" rIns="0" bIns="0" rtlCol="0" anchor="ctr"/>
          <a:lstStyle/>
          <a:p>
            <a:pPr indent="0" marL="0">
              <a:buNone/>
            </a:pPr>
            <a:r>
              <a:rPr lang="en-US" sz="1400" b="1" dirty="0">
                <a:solidFill>
                  <a:srgbClr val="F5F5F5"/>
                </a:solidFill>
                <a:latin typeface="Calibri" pitchFamily="34" charset="0"/>
                <a:ea typeface="Calibri" pitchFamily="34" charset="-122"/>
                <a:cs typeface="Calibri" pitchFamily="34" charset="-120"/>
              </a:rPr>
              <a:t>Models &amp; Tuning</a:t>
            </a:r>
            <a:endParaRPr lang="en-US" sz="1400" dirty="0"/>
          </a:p>
        </p:txBody>
      </p:sp>
      <p:sp>
        <p:nvSpPr>
          <p:cNvPr id="15" name="Text 13"/>
          <p:cNvSpPr txBox="1"/>
          <p:nvPr/>
        </p:nvSpPr>
        <p:spPr>
          <a:xfrm>
            <a:off x="1325880" y="3831336"/>
            <a:ext cx="4389120" cy="320040"/>
          </a:xfrm>
          <a:prstGeom prst="rect">
            <a:avLst/>
          </a:prstGeom>
          <a:noFill/>
          <a:ln/>
        </p:spPr>
        <p:txBody>
          <a:bodyPr wrap="square" lIns="0" tIns="0" rIns="0" bIns="0" rtlCol="0" anchor="ctr"/>
          <a:lstStyle/>
          <a:p>
            <a:pPr indent="0" marL="0">
              <a:buNone/>
            </a:pPr>
            <a:r>
              <a:rPr lang="en-US" sz="1050" dirty="0">
                <a:solidFill>
                  <a:srgbClr val="9A9A9A"/>
                </a:solidFill>
                <a:latin typeface="Calibri" pitchFamily="34" charset="0"/>
                <a:ea typeface="Calibri" pitchFamily="34" charset="-122"/>
                <a:cs typeface="Calibri" pitchFamily="34" charset="-120"/>
              </a:rPr>
              <a:t>LR, Random Forest, Optuna-tuned XGBoost, Isolation Forest</a:t>
            </a:r>
            <a:endParaRPr lang="en-US" sz="1050" dirty="0"/>
          </a:p>
        </p:txBody>
      </p:sp>
      <p:sp>
        <p:nvSpPr>
          <p:cNvPr id="16" name="Text 14"/>
          <p:cNvSpPr txBox="1"/>
          <p:nvPr/>
        </p:nvSpPr>
        <p:spPr>
          <a:xfrm>
            <a:off x="6172200" y="1600200"/>
            <a:ext cx="685800" cy="502920"/>
          </a:xfrm>
          <a:prstGeom prst="rect">
            <a:avLst/>
          </a:prstGeom>
          <a:noFill/>
          <a:ln/>
        </p:spPr>
        <p:txBody>
          <a:bodyPr wrap="square" lIns="0" tIns="0" rIns="0" bIns="0" rtlCol="0" anchor="ctr"/>
          <a:lstStyle/>
          <a:p>
            <a:pPr indent="0" marL="0">
              <a:buNone/>
            </a:pPr>
            <a:r>
              <a:rPr lang="en-US" sz="2200" b="1" dirty="0">
                <a:solidFill>
                  <a:srgbClr val="F59E0B"/>
                </a:solidFill>
                <a:latin typeface="Cambria" pitchFamily="34" charset="0"/>
                <a:ea typeface="Cambria" pitchFamily="34" charset="-122"/>
                <a:cs typeface="Cambria" pitchFamily="34" charset="-120"/>
              </a:rPr>
              <a:t>05</a:t>
            </a:r>
            <a:endParaRPr lang="en-US" sz="2200" dirty="0"/>
          </a:p>
        </p:txBody>
      </p:sp>
      <p:sp>
        <p:nvSpPr>
          <p:cNvPr id="17" name="Text 15"/>
          <p:cNvSpPr txBox="1"/>
          <p:nvPr/>
        </p:nvSpPr>
        <p:spPr>
          <a:xfrm>
            <a:off x="6858000" y="1581912"/>
            <a:ext cx="4389120" cy="292608"/>
          </a:xfrm>
          <a:prstGeom prst="rect">
            <a:avLst/>
          </a:prstGeom>
          <a:noFill/>
          <a:ln/>
        </p:spPr>
        <p:txBody>
          <a:bodyPr wrap="square" lIns="0" tIns="0" rIns="0" bIns="0" rtlCol="0" anchor="ctr"/>
          <a:lstStyle/>
          <a:p>
            <a:pPr indent="0" marL="0">
              <a:buNone/>
            </a:pPr>
            <a:r>
              <a:rPr lang="en-US" sz="1400" b="1" dirty="0">
                <a:solidFill>
                  <a:srgbClr val="F5F5F5"/>
                </a:solidFill>
                <a:latin typeface="Calibri" pitchFamily="34" charset="0"/>
                <a:ea typeface="Calibri" pitchFamily="34" charset="-122"/>
                <a:cs typeface="Calibri" pitchFamily="34" charset="-120"/>
              </a:rPr>
              <a:t>Results &amp; Explainability</a:t>
            </a:r>
            <a:endParaRPr lang="en-US" sz="1400" dirty="0"/>
          </a:p>
        </p:txBody>
      </p:sp>
      <p:sp>
        <p:nvSpPr>
          <p:cNvPr id="18" name="Text 16"/>
          <p:cNvSpPr txBox="1"/>
          <p:nvPr/>
        </p:nvSpPr>
        <p:spPr>
          <a:xfrm>
            <a:off x="6858000" y="1856232"/>
            <a:ext cx="4389120" cy="320040"/>
          </a:xfrm>
          <a:prstGeom prst="rect">
            <a:avLst/>
          </a:prstGeom>
          <a:noFill/>
          <a:ln/>
        </p:spPr>
        <p:txBody>
          <a:bodyPr wrap="square" lIns="0" tIns="0" rIns="0" bIns="0" rtlCol="0" anchor="ctr"/>
          <a:lstStyle/>
          <a:p>
            <a:pPr indent="0" marL="0">
              <a:buNone/>
            </a:pPr>
            <a:r>
              <a:rPr lang="en-US" sz="1050" dirty="0">
                <a:solidFill>
                  <a:srgbClr val="9A9A9A"/>
                </a:solidFill>
                <a:latin typeface="Calibri" pitchFamily="34" charset="0"/>
                <a:ea typeface="Calibri" pitchFamily="34" charset="-122"/>
                <a:cs typeface="Calibri" pitchFamily="34" charset="-120"/>
              </a:rPr>
              <a:t>ROC/PR curves, thresholds, SHAP reasoning</a:t>
            </a:r>
            <a:endParaRPr lang="en-US" sz="1050" dirty="0"/>
          </a:p>
        </p:txBody>
      </p:sp>
      <p:sp>
        <p:nvSpPr>
          <p:cNvPr id="19" name="Text 17"/>
          <p:cNvSpPr txBox="1"/>
          <p:nvPr/>
        </p:nvSpPr>
        <p:spPr>
          <a:xfrm>
            <a:off x="6172200" y="2258568"/>
            <a:ext cx="685800" cy="502920"/>
          </a:xfrm>
          <a:prstGeom prst="rect">
            <a:avLst/>
          </a:prstGeom>
          <a:noFill/>
          <a:ln/>
        </p:spPr>
        <p:txBody>
          <a:bodyPr wrap="square" lIns="0" tIns="0" rIns="0" bIns="0" rtlCol="0" anchor="ctr"/>
          <a:lstStyle/>
          <a:p>
            <a:pPr indent="0" marL="0">
              <a:buNone/>
            </a:pPr>
            <a:r>
              <a:rPr lang="en-US" sz="2200" b="1" dirty="0">
                <a:solidFill>
                  <a:srgbClr val="EF4444"/>
                </a:solidFill>
                <a:latin typeface="Cambria" pitchFamily="34" charset="0"/>
                <a:ea typeface="Cambria" pitchFamily="34" charset="-122"/>
                <a:cs typeface="Cambria" pitchFamily="34" charset="-120"/>
              </a:rPr>
              <a:t>06</a:t>
            </a:r>
            <a:endParaRPr lang="en-US" sz="2200" dirty="0"/>
          </a:p>
        </p:txBody>
      </p:sp>
      <p:sp>
        <p:nvSpPr>
          <p:cNvPr id="20" name="Text 18"/>
          <p:cNvSpPr txBox="1"/>
          <p:nvPr/>
        </p:nvSpPr>
        <p:spPr>
          <a:xfrm>
            <a:off x="6858000" y="2240280"/>
            <a:ext cx="4389120" cy="292608"/>
          </a:xfrm>
          <a:prstGeom prst="rect">
            <a:avLst/>
          </a:prstGeom>
          <a:noFill/>
          <a:ln/>
        </p:spPr>
        <p:txBody>
          <a:bodyPr wrap="square" lIns="0" tIns="0" rIns="0" bIns="0" rtlCol="0" anchor="ctr"/>
          <a:lstStyle/>
          <a:p>
            <a:pPr indent="0" marL="0">
              <a:buNone/>
            </a:pPr>
            <a:r>
              <a:rPr lang="en-US" sz="1400" b="1" dirty="0">
                <a:solidFill>
                  <a:srgbClr val="F5F5F5"/>
                </a:solidFill>
                <a:latin typeface="Calibri" pitchFamily="34" charset="0"/>
                <a:ea typeface="Calibri" pitchFamily="34" charset="-122"/>
                <a:cs typeface="Calibri" pitchFamily="34" charset="-120"/>
              </a:rPr>
              <a:t>Backend &amp; Frontend</a:t>
            </a:r>
            <a:endParaRPr lang="en-US" sz="1400" dirty="0"/>
          </a:p>
        </p:txBody>
      </p:sp>
      <p:sp>
        <p:nvSpPr>
          <p:cNvPr id="21" name="Text 19"/>
          <p:cNvSpPr txBox="1"/>
          <p:nvPr/>
        </p:nvSpPr>
        <p:spPr>
          <a:xfrm>
            <a:off x="6858000" y="2514600"/>
            <a:ext cx="4389120" cy="320040"/>
          </a:xfrm>
          <a:prstGeom prst="rect">
            <a:avLst/>
          </a:prstGeom>
          <a:noFill/>
          <a:ln/>
        </p:spPr>
        <p:txBody>
          <a:bodyPr wrap="square" lIns="0" tIns="0" rIns="0" bIns="0" rtlCol="0" anchor="ctr"/>
          <a:lstStyle/>
          <a:p>
            <a:pPr indent="0" marL="0">
              <a:buNone/>
            </a:pPr>
            <a:r>
              <a:rPr lang="en-US" sz="1050" dirty="0">
                <a:solidFill>
                  <a:srgbClr val="9A9A9A"/>
                </a:solidFill>
                <a:latin typeface="Calibri" pitchFamily="34" charset="0"/>
                <a:ea typeface="Calibri" pitchFamily="34" charset="-122"/>
                <a:cs typeface="Calibri" pitchFamily="34" charset="-120"/>
              </a:rPr>
              <a:t>FastAPI REST API + dual dashboards (Streamlit &amp; built-in)</a:t>
            </a:r>
            <a:endParaRPr lang="en-US" sz="1050" dirty="0"/>
          </a:p>
        </p:txBody>
      </p:sp>
      <p:sp>
        <p:nvSpPr>
          <p:cNvPr id="22" name="Text 20"/>
          <p:cNvSpPr txBox="1"/>
          <p:nvPr/>
        </p:nvSpPr>
        <p:spPr>
          <a:xfrm>
            <a:off x="6172200" y="2916936"/>
            <a:ext cx="685800" cy="502920"/>
          </a:xfrm>
          <a:prstGeom prst="rect">
            <a:avLst/>
          </a:prstGeom>
          <a:noFill/>
          <a:ln/>
        </p:spPr>
        <p:txBody>
          <a:bodyPr wrap="square" lIns="0" tIns="0" rIns="0" bIns="0" rtlCol="0" anchor="ctr"/>
          <a:lstStyle/>
          <a:p>
            <a:pPr indent="0" marL="0">
              <a:buNone/>
            </a:pPr>
            <a:r>
              <a:rPr lang="en-US" sz="2200" b="1" dirty="0">
                <a:solidFill>
                  <a:srgbClr val="3B82F6"/>
                </a:solidFill>
                <a:latin typeface="Cambria" pitchFamily="34" charset="0"/>
                <a:ea typeface="Cambria" pitchFamily="34" charset="-122"/>
                <a:cs typeface="Cambria" pitchFamily="34" charset="-120"/>
              </a:rPr>
              <a:t>07</a:t>
            </a:r>
            <a:endParaRPr lang="en-US" sz="2200" dirty="0"/>
          </a:p>
        </p:txBody>
      </p:sp>
      <p:sp>
        <p:nvSpPr>
          <p:cNvPr id="23" name="Text 21"/>
          <p:cNvSpPr txBox="1"/>
          <p:nvPr/>
        </p:nvSpPr>
        <p:spPr>
          <a:xfrm>
            <a:off x="6858000" y="2898648"/>
            <a:ext cx="4389120" cy="292608"/>
          </a:xfrm>
          <a:prstGeom prst="rect">
            <a:avLst/>
          </a:prstGeom>
          <a:noFill/>
          <a:ln/>
        </p:spPr>
        <p:txBody>
          <a:bodyPr wrap="square" lIns="0" tIns="0" rIns="0" bIns="0" rtlCol="0" anchor="ctr"/>
          <a:lstStyle/>
          <a:p>
            <a:pPr indent="0" marL="0">
              <a:buNone/>
            </a:pPr>
            <a:r>
              <a:rPr lang="en-US" sz="1400" b="1" dirty="0">
                <a:solidFill>
                  <a:srgbClr val="F5F5F5"/>
                </a:solidFill>
                <a:latin typeface="Calibri" pitchFamily="34" charset="0"/>
                <a:ea typeface="Calibri" pitchFamily="34" charset="-122"/>
                <a:cs typeface="Calibri" pitchFamily="34" charset="-120"/>
              </a:rPr>
              <a:t>Testing &amp; Reliability</a:t>
            </a:r>
            <a:endParaRPr lang="en-US" sz="1400" dirty="0"/>
          </a:p>
        </p:txBody>
      </p:sp>
      <p:sp>
        <p:nvSpPr>
          <p:cNvPr id="24" name="Text 22"/>
          <p:cNvSpPr txBox="1"/>
          <p:nvPr/>
        </p:nvSpPr>
        <p:spPr>
          <a:xfrm>
            <a:off x="6858000" y="3172968"/>
            <a:ext cx="4389120" cy="320040"/>
          </a:xfrm>
          <a:prstGeom prst="rect">
            <a:avLst/>
          </a:prstGeom>
          <a:noFill/>
          <a:ln/>
        </p:spPr>
        <p:txBody>
          <a:bodyPr wrap="square" lIns="0" tIns="0" rIns="0" bIns="0" rtlCol="0" anchor="ctr"/>
          <a:lstStyle/>
          <a:p>
            <a:pPr indent="0" marL="0">
              <a:buNone/>
            </a:pPr>
            <a:r>
              <a:rPr lang="en-US" sz="1050" dirty="0">
                <a:solidFill>
                  <a:srgbClr val="9A9A9A"/>
                </a:solidFill>
                <a:latin typeface="Calibri" pitchFamily="34" charset="0"/>
                <a:ea typeface="Calibri" pitchFamily="34" charset="-122"/>
                <a:cs typeface="Calibri" pitchFamily="34" charset="-120"/>
              </a:rPr>
              <a:t>Smoke tests, deployment fixes, two live production URLs</a:t>
            </a:r>
            <a:endParaRPr lang="en-US" sz="1050" dirty="0"/>
          </a:p>
        </p:txBody>
      </p:sp>
      <p:sp>
        <p:nvSpPr>
          <p:cNvPr id="25" name="Text 23"/>
          <p:cNvSpPr txBox="1"/>
          <p:nvPr/>
        </p:nvSpPr>
        <p:spPr>
          <a:xfrm>
            <a:off x="6172200" y="3575304"/>
            <a:ext cx="685800" cy="502920"/>
          </a:xfrm>
          <a:prstGeom prst="rect">
            <a:avLst/>
          </a:prstGeom>
          <a:noFill/>
          <a:ln/>
        </p:spPr>
        <p:txBody>
          <a:bodyPr wrap="square" lIns="0" tIns="0" rIns="0" bIns="0" rtlCol="0" anchor="ctr"/>
          <a:lstStyle/>
          <a:p>
            <a:pPr indent="0" marL="0">
              <a:buNone/>
            </a:pPr>
            <a:r>
              <a:rPr lang="en-US" sz="2200" b="1" dirty="0">
                <a:solidFill>
                  <a:srgbClr val="7C3AED"/>
                </a:solidFill>
                <a:latin typeface="Cambria" pitchFamily="34" charset="0"/>
                <a:ea typeface="Cambria" pitchFamily="34" charset="-122"/>
                <a:cs typeface="Cambria" pitchFamily="34" charset="-120"/>
              </a:rPr>
              <a:t>08</a:t>
            </a:r>
            <a:endParaRPr lang="en-US" sz="2200" dirty="0"/>
          </a:p>
        </p:txBody>
      </p:sp>
      <p:sp>
        <p:nvSpPr>
          <p:cNvPr id="26" name="Text 24"/>
          <p:cNvSpPr txBox="1"/>
          <p:nvPr/>
        </p:nvSpPr>
        <p:spPr>
          <a:xfrm>
            <a:off x="6858000" y="3557016"/>
            <a:ext cx="4389120" cy="292608"/>
          </a:xfrm>
          <a:prstGeom prst="rect">
            <a:avLst/>
          </a:prstGeom>
          <a:noFill/>
          <a:ln/>
        </p:spPr>
        <p:txBody>
          <a:bodyPr wrap="square" lIns="0" tIns="0" rIns="0" bIns="0" rtlCol="0" anchor="ctr"/>
          <a:lstStyle/>
          <a:p>
            <a:pPr indent="0" marL="0">
              <a:buNone/>
            </a:pPr>
            <a:r>
              <a:rPr lang="en-US" sz="1400" b="1" dirty="0">
                <a:solidFill>
                  <a:srgbClr val="F5F5F5"/>
                </a:solidFill>
                <a:latin typeface="Calibri" pitchFamily="34" charset="0"/>
                <a:ea typeface="Calibri" pitchFamily="34" charset="-122"/>
                <a:cs typeface="Calibri" pitchFamily="34" charset="-120"/>
              </a:rPr>
              <a:t>Benefits &amp; Future Scope</a:t>
            </a:r>
            <a:endParaRPr lang="en-US" sz="1400" dirty="0"/>
          </a:p>
        </p:txBody>
      </p:sp>
      <p:sp>
        <p:nvSpPr>
          <p:cNvPr id="27" name="Text 25"/>
          <p:cNvSpPr txBox="1"/>
          <p:nvPr/>
        </p:nvSpPr>
        <p:spPr>
          <a:xfrm>
            <a:off x="6858000" y="3831336"/>
            <a:ext cx="4389120" cy="320040"/>
          </a:xfrm>
          <a:prstGeom prst="rect">
            <a:avLst/>
          </a:prstGeom>
          <a:noFill/>
          <a:ln/>
        </p:spPr>
        <p:txBody>
          <a:bodyPr wrap="square" lIns="0" tIns="0" rIns="0" bIns="0" rtlCol="0" anchor="ctr"/>
          <a:lstStyle/>
          <a:p>
            <a:pPr indent="0" marL="0">
              <a:buNone/>
            </a:pPr>
            <a:r>
              <a:rPr lang="en-US" sz="1050" dirty="0">
                <a:solidFill>
                  <a:srgbClr val="9A9A9A"/>
                </a:solidFill>
                <a:latin typeface="Calibri" pitchFamily="34" charset="0"/>
                <a:ea typeface="Calibri" pitchFamily="34" charset="-122"/>
                <a:cs typeface="Calibri" pitchFamily="34" charset="-120"/>
              </a:rPr>
              <a:t>Impact, limitations, and what's next</a:t>
            </a:r>
            <a:endParaRPr lang="en-US" sz="1050" dirty="0"/>
          </a:p>
        </p:txBody>
      </p:sp>
      <p:sp>
        <p:nvSpPr>
          <p:cNvPr id="28" name="Text 26"/>
          <p:cNvSpPr txBox="1"/>
          <p:nvPr/>
        </p:nvSpPr>
        <p:spPr>
          <a:xfrm>
            <a:off x="457200" y="6528816"/>
            <a:ext cx="5486400" cy="274320"/>
          </a:xfrm>
          <a:prstGeom prst="rect">
            <a:avLst/>
          </a:prstGeom>
          <a:noFill/>
          <a:ln/>
        </p:spPr>
        <p:txBody>
          <a:bodyPr wrap="square" lIns="0" tIns="0" rIns="0" bIns="0" rtlCol="0" anchor="ctr"/>
          <a:lstStyle/>
          <a:p>
            <a:pPr indent="0" marL="0">
              <a:buNone/>
            </a:pPr>
            <a:r>
              <a:rPr lang="en-US" sz="800" spc="200" kern="0" dirty="0">
                <a:solidFill>
                  <a:srgbClr val="6B6B6B"/>
                </a:solidFill>
                <a:latin typeface="Calibri" pitchFamily="34" charset="0"/>
                <a:ea typeface="Calibri" pitchFamily="34" charset="-122"/>
                <a:cs typeface="Calibri" pitchFamily="34" charset="-120"/>
              </a:rPr>
              <a:t>CREDIT CARD FRAUD DETECTION</a:t>
            </a:r>
            <a:endParaRPr lang="en-US" sz="800" dirty="0"/>
          </a:p>
        </p:txBody>
      </p:sp>
      <p:sp>
        <p:nvSpPr>
          <p:cNvPr id="29" name="Text 27"/>
          <p:cNvSpPr txBox="1"/>
          <p:nvPr/>
        </p:nvSpPr>
        <p:spPr>
          <a:xfrm>
            <a:off x="11274552" y="6528816"/>
            <a:ext cx="548640" cy="274320"/>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50" b="1" spc="220" kern="0" dirty="0">
                <a:solidFill>
                  <a:srgbClr val="EF4444"/>
                </a:solidFill>
                <a:latin typeface="Calibri" pitchFamily="34" charset="0"/>
                <a:ea typeface="Calibri" pitchFamily="34" charset="-122"/>
                <a:cs typeface="Calibri" pitchFamily="34" charset="-120"/>
              </a:rPr>
              <a:t>01 · THE CHALLENGE</a:t>
            </a:r>
            <a:endParaRPr lang="en-US" sz="1250" dirty="0"/>
          </a:p>
        </p:txBody>
      </p:sp>
      <p:sp>
        <p:nvSpPr>
          <p:cNvPr id="3" name="Text 1"/>
          <p:cNvSpPr txBox="1"/>
          <p:nvPr/>
        </p:nvSpPr>
        <p:spPr>
          <a:xfrm>
            <a:off x="640080" y="676656"/>
            <a:ext cx="9875520" cy="685800"/>
          </a:xfrm>
          <a:prstGeom prst="rect">
            <a:avLst/>
          </a:prstGeom>
          <a:noFill/>
          <a:ln/>
        </p:spPr>
        <p:txBody>
          <a:bodyPr wrap="square" lIns="0" tIns="0" rIns="0" bIns="0" rtlCol="0" anchor="ctr"/>
          <a:lstStyle/>
          <a:p>
            <a:pPr indent="0" marL="0">
              <a:buNone/>
            </a:pPr>
            <a:r>
              <a:rPr lang="en-US" sz="3000" b="1" dirty="0">
                <a:solidFill>
                  <a:srgbClr val="F5F5F5"/>
                </a:solidFill>
                <a:latin typeface="Cambria" pitchFamily="34" charset="0"/>
                <a:ea typeface="Cambria" pitchFamily="34" charset="-122"/>
                <a:cs typeface="Cambria" pitchFamily="34" charset="-120"/>
              </a:rPr>
              <a:t>Problem Statement</a:t>
            </a:r>
            <a:endParaRPr lang="en-US" sz="3000" dirty="0"/>
          </a:p>
        </p:txBody>
      </p:sp>
      <p:sp>
        <p:nvSpPr>
          <p:cNvPr id="4" name="Text 2"/>
          <p:cNvSpPr txBox="1"/>
          <p:nvPr/>
        </p:nvSpPr>
        <p:spPr>
          <a:xfrm>
            <a:off x="640080" y="1508760"/>
            <a:ext cx="10881360" cy="777240"/>
          </a:xfrm>
          <a:prstGeom prst="rect">
            <a:avLst/>
          </a:prstGeom>
          <a:noFill/>
          <a:ln/>
        </p:spPr>
        <p:txBody>
          <a:bodyPr wrap="square" lIns="0" tIns="0" rIns="0" bIns="0" rtlCol="0" anchor="ctr"/>
          <a:lstStyle/>
          <a:p>
            <a:pPr indent="0" marL="0">
              <a:lnSpc>
                <a:spcPct val="120000"/>
              </a:lnSpc>
              <a:buNone/>
            </a:pPr>
            <a:r>
              <a:rPr lang="en-US" sz="1450" dirty="0">
                <a:solidFill>
                  <a:srgbClr val="9A9A9A"/>
                </a:solidFill>
                <a:latin typeface="Calibri" pitchFamily="34" charset="0"/>
                <a:ea typeface="Calibri" pitchFamily="34" charset="-122"/>
                <a:cs typeface="Calibri" pitchFamily="34" charset="-120"/>
              </a:rPr>
              <a:t>Credit card fraud costs the global economy tens of billions of dollars every year. The core difficulty isn't just detecting fraud — it's detecting a needle in a haystack where the needle appears only once in every ~580 transactions.</a:t>
            </a:r>
            <a:endParaRPr lang="en-US" sz="1450" dirty="0"/>
          </a:p>
        </p:txBody>
      </p:sp>
      <p:sp>
        <p:nvSpPr>
          <p:cNvPr id="5" name="Shape 3"/>
          <p:cNvSpPr/>
          <p:nvPr/>
        </p:nvSpPr>
        <p:spPr>
          <a:xfrm>
            <a:off x="640080" y="2514600"/>
            <a:ext cx="5257800" cy="1783080"/>
          </a:xfrm>
          <a:prstGeom prst="roundRect">
            <a:avLst>
              <a:gd name="adj" fmla="val 4615"/>
            </a:avLst>
          </a:prstGeom>
          <a:solidFill>
            <a:srgbClr val="141414"/>
          </a:solidFill>
          <a:ln w="12700">
            <a:solidFill>
              <a:srgbClr val="2A2A2A"/>
            </a:solidFill>
            <a:prstDash val="solid"/>
          </a:ln>
        </p:spPr>
      </p:sp>
      <p:sp>
        <p:nvSpPr>
          <p:cNvPr id="6" name="Shape 4"/>
          <p:cNvSpPr/>
          <p:nvPr/>
        </p:nvSpPr>
        <p:spPr>
          <a:xfrm>
            <a:off x="877824" y="2752344"/>
            <a:ext cx="292608" cy="292608"/>
          </a:xfrm>
          <a:prstGeom prst="ellipse">
            <a:avLst/>
          </a:prstGeom>
          <a:solidFill>
            <a:srgbClr val="EF4444"/>
          </a:solidFill>
          <a:ln/>
        </p:spPr>
      </p:sp>
      <p:sp>
        <p:nvSpPr>
          <p:cNvPr id="7" name="Text 5"/>
          <p:cNvSpPr txBox="1"/>
          <p:nvPr/>
        </p:nvSpPr>
        <p:spPr>
          <a:xfrm>
            <a:off x="1325880" y="2715768"/>
            <a:ext cx="4343400" cy="365760"/>
          </a:xfrm>
          <a:prstGeom prst="rect">
            <a:avLst/>
          </a:prstGeom>
          <a:noFill/>
          <a:ln/>
        </p:spPr>
        <p:txBody>
          <a:bodyPr wrap="square" lIns="0" tIns="0" rIns="0" bIns="0" rtlCol="0" anchor="ctr"/>
          <a:lstStyle/>
          <a:p>
            <a:pPr indent="0" marL="0">
              <a:buNone/>
            </a:pPr>
            <a:r>
              <a:rPr lang="en-US" sz="1450" b="1" dirty="0">
                <a:solidFill>
                  <a:srgbClr val="F5F5F5"/>
                </a:solidFill>
                <a:latin typeface="Calibri" pitchFamily="34" charset="0"/>
                <a:ea typeface="Calibri" pitchFamily="34" charset="-122"/>
                <a:cs typeface="Calibri" pitchFamily="34" charset="-120"/>
              </a:rPr>
              <a:t>Extreme Imbalance</a:t>
            </a:r>
            <a:endParaRPr lang="en-US" sz="1450" dirty="0"/>
          </a:p>
        </p:txBody>
      </p:sp>
      <p:sp>
        <p:nvSpPr>
          <p:cNvPr id="8" name="Text 6"/>
          <p:cNvSpPr txBox="1"/>
          <p:nvPr/>
        </p:nvSpPr>
        <p:spPr>
          <a:xfrm>
            <a:off x="960120" y="3264408"/>
            <a:ext cx="4617720" cy="868680"/>
          </a:xfrm>
          <a:prstGeom prst="rect">
            <a:avLst/>
          </a:prstGeom>
          <a:noFill/>
          <a:ln/>
        </p:spPr>
        <p:txBody>
          <a:bodyPr wrap="square" lIns="0" tIns="0" rIns="0" bIns="0" rtlCol="0" anchor="ctr"/>
          <a:lstStyle/>
          <a:p>
            <a:pPr indent="0" marL="0">
              <a:lnSpc>
                <a:spcPct val="118000"/>
              </a:lnSpc>
              <a:buNone/>
            </a:pPr>
            <a:r>
              <a:rPr lang="en-US" sz="1100" dirty="0">
                <a:solidFill>
                  <a:srgbClr val="9A9A9A"/>
                </a:solidFill>
                <a:latin typeface="Calibri" pitchFamily="34" charset="0"/>
                <a:ea typeface="Calibri" pitchFamily="34" charset="-122"/>
                <a:cs typeface="Calibri" pitchFamily="34" charset="-120"/>
              </a:rPr>
              <a:t>Only 492 of 284,807 transactions (0.17%) are fraud — a model predicting "legit" every time still scores 99.83% accuracy.</a:t>
            </a:r>
            <a:endParaRPr lang="en-US" sz="1100" dirty="0"/>
          </a:p>
        </p:txBody>
      </p:sp>
      <p:sp>
        <p:nvSpPr>
          <p:cNvPr id="9" name="Shape 7"/>
          <p:cNvSpPr/>
          <p:nvPr/>
        </p:nvSpPr>
        <p:spPr>
          <a:xfrm>
            <a:off x="6217920" y="2514600"/>
            <a:ext cx="5257800" cy="1783080"/>
          </a:xfrm>
          <a:prstGeom prst="roundRect">
            <a:avLst>
              <a:gd name="adj" fmla="val 4615"/>
            </a:avLst>
          </a:prstGeom>
          <a:solidFill>
            <a:srgbClr val="141414"/>
          </a:solidFill>
          <a:ln w="12700">
            <a:solidFill>
              <a:srgbClr val="2A2A2A"/>
            </a:solidFill>
            <a:prstDash val="solid"/>
          </a:ln>
        </p:spPr>
      </p:sp>
      <p:sp>
        <p:nvSpPr>
          <p:cNvPr id="10" name="Shape 8"/>
          <p:cNvSpPr/>
          <p:nvPr/>
        </p:nvSpPr>
        <p:spPr>
          <a:xfrm>
            <a:off x="6455664" y="2752344"/>
            <a:ext cx="292608" cy="292608"/>
          </a:xfrm>
          <a:prstGeom prst="ellipse">
            <a:avLst/>
          </a:prstGeom>
          <a:solidFill>
            <a:srgbClr val="7C3AED"/>
          </a:solidFill>
          <a:ln/>
        </p:spPr>
      </p:sp>
      <p:sp>
        <p:nvSpPr>
          <p:cNvPr id="11" name="Text 9"/>
          <p:cNvSpPr txBox="1"/>
          <p:nvPr/>
        </p:nvSpPr>
        <p:spPr>
          <a:xfrm>
            <a:off x="6903720" y="2715768"/>
            <a:ext cx="4343400" cy="365760"/>
          </a:xfrm>
          <a:prstGeom prst="rect">
            <a:avLst/>
          </a:prstGeom>
          <a:noFill/>
          <a:ln/>
        </p:spPr>
        <p:txBody>
          <a:bodyPr wrap="square" lIns="0" tIns="0" rIns="0" bIns="0" rtlCol="0" anchor="ctr"/>
          <a:lstStyle/>
          <a:p>
            <a:pPr indent="0" marL="0">
              <a:buNone/>
            </a:pPr>
            <a:r>
              <a:rPr lang="en-US" sz="1450" b="1" dirty="0">
                <a:solidFill>
                  <a:srgbClr val="F5F5F5"/>
                </a:solidFill>
                <a:latin typeface="Calibri" pitchFamily="34" charset="0"/>
                <a:ea typeface="Calibri" pitchFamily="34" charset="-122"/>
                <a:cs typeface="Calibri" pitchFamily="34" charset="-120"/>
              </a:rPr>
              <a:t>Anonymized Features</a:t>
            </a:r>
            <a:endParaRPr lang="en-US" sz="1450" dirty="0"/>
          </a:p>
        </p:txBody>
      </p:sp>
      <p:sp>
        <p:nvSpPr>
          <p:cNvPr id="12" name="Text 10"/>
          <p:cNvSpPr txBox="1"/>
          <p:nvPr/>
        </p:nvSpPr>
        <p:spPr>
          <a:xfrm>
            <a:off x="6537960" y="3264408"/>
            <a:ext cx="4617720" cy="868680"/>
          </a:xfrm>
          <a:prstGeom prst="rect">
            <a:avLst/>
          </a:prstGeom>
          <a:noFill/>
          <a:ln/>
        </p:spPr>
        <p:txBody>
          <a:bodyPr wrap="square" lIns="0" tIns="0" rIns="0" bIns="0" rtlCol="0" anchor="ctr"/>
          <a:lstStyle/>
          <a:p>
            <a:pPr indent="0" marL="0">
              <a:lnSpc>
                <a:spcPct val="118000"/>
              </a:lnSpc>
              <a:buNone/>
            </a:pPr>
            <a:r>
              <a:rPr lang="en-US" sz="1100" dirty="0">
                <a:solidFill>
                  <a:srgbClr val="9A9A9A"/>
                </a:solidFill>
                <a:latin typeface="Calibri" pitchFamily="34" charset="0"/>
                <a:ea typeface="Calibri" pitchFamily="34" charset="-122"/>
                <a:cs typeface="Calibri" pitchFamily="34" charset="-120"/>
              </a:rPr>
              <a:t>V1–V28 are PCA-transformed for confidentiality — the model must learn patterns without knowing what the raw features mean.</a:t>
            </a:r>
            <a:endParaRPr lang="en-US" sz="1100" dirty="0"/>
          </a:p>
        </p:txBody>
      </p:sp>
      <p:sp>
        <p:nvSpPr>
          <p:cNvPr id="13" name="Shape 11"/>
          <p:cNvSpPr/>
          <p:nvPr/>
        </p:nvSpPr>
        <p:spPr>
          <a:xfrm>
            <a:off x="640080" y="4590288"/>
            <a:ext cx="5257800" cy="1783080"/>
          </a:xfrm>
          <a:prstGeom prst="roundRect">
            <a:avLst>
              <a:gd name="adj" fmla="val 4615"/>
            </a:avLst>
          </a:prstGeom>
          <a:solidFill>
            <a:srgbClr val="141414"/>
          </a:solidFill>
          <a:ln w="12700">
            <a:solidFill>
              <a:srgbClr val="2A2A2A"/>
            </a:solidFill>
            <a:prstDash val="solid"/>
          </a:ln>
        </p:spPr>
      </p:sp>
      <p:sp>
        <p:nvSpPr>
          <p:cNvPr id="14" name="Shape 12"/>
          <p:cNvSpPr/>
          <p:nvPr/>
        </p:nvSpPr>
        <p:spPr>
          <a:xfrm>
            <a:off x="877824" y="4828032"/>
            <a:ext cx="292608" cy="292608"/>
          </a:xfrm>
          <a:prstGeom prst="ellipse">
            <a:avLst/>
          </a:prstGeom>
          <a:solidFill>
            <a:srgbClr val="3B82F6"/>
          </a:solidFill>
          <a:ln/>
        </p:spPr>
      </p:sp>
      <p:sp>
        <p:nvSpPr>
          <p:cNvPr id="15" name="Text 13"/>
          <p:cNvSpPr txBox="1"/>
          <p:nvPr/>
        </p:nvSpPr>
        <p:spPr>
          <a:xfrm>
            <a:off x="1325880" y="4791456"/>
            <a:ext cx="4343400" cy="365760"/>
          </a:xfrm>
          <a:prstGeom prst="rect">
            <a:avLst/>
          </a:prstGeom>
          <a:noFill/>
          <a:ln/>
        </p:spPr>
        <p:txBody>
          <a:bodyPr wrap="square" lIns="0" tIns="0" rIns="0" bIns="0" rtlCol="0" anchor="ctr"/>
          <a:lstStyle/>
          <a:p>
            <a:pPr indent="0" marL="0">
              <a:buNone/>
            </a:pPr>
            <a:r>
              <a:rPr lang="en-US" sz="1450" b="1" dirty="0">
                <a:solidFill>
                  <a:srgbClr val="F5F5F5"/>
                </a:solidFill>
                <a:latin typeface="Calibri" pitchFamily="34" charset="0"/>
                <a:ea typeface="Calibri" pitchFamily="34" charset="-122"/>
                <a:cs typeface="Calibri" pitchFamily="34" charset="-120"/>
              </a:rPr>
              <a:t>Cost Asymmetry</a:t>
            </a:r>
            <a:endParaRPr lang="en-US" sz="1450" dirty="0"/>
          </a:p>
        </p:txBody>
      </p:sp>
      <p:sp>
        <p:nvSpPr>
          <p:cNvPr id="16" name="Text 14"/>
          <p:cNvSpPr txBox="1"/>
          <p:nvPr/>
        </p:nvSpPr>
        <p:spPr>
          <a:xfrm>
            <a:off x="960120" y="5340096"/>
            <a:ext cx="4617720" cy="868680"/>
          </a:xfrm>
          <a:prstGeom prst="rect">
            <a:avLst/>
          </a:prstGeom>
          <a:noFill/>
          <a:ln/>
        </p:spPr>
        <p:txBody>
          <a:bodyPr wrap="square" lIns="0" tIns="0" rIns="0" bIns="0" rtlCol="0" anchor="ctr"/>
          <a:lstStyle/>
          <a:p>
            <a:pPr indent="0" marL="0">
              <a:lnSpc>
                <a:spcPct val="118000"/>
              </a:lnSpc>
              <a:buNone/>
            </a:pPr>
            <a:r>
              <a:rPr lang="en-US" sz="1100" dirty="0">
                <a:solidFill>
                  <a:srgbClr val="9A9A9A"/>
                </a:solidFill>
                <a:latin typeface="Calibri" pitchFamily="34" charset="0"/>
                <a:ea typeface="Calibri" pitchFamily="34" charset="-122"/>
                <a:cs typeface="Calibri" pitchFamily="34" charset="-120"/>
              </a:rPr>
              <a:t>A missed fraud (false negative) costs far more than a flagged genuine transaction (false positive) — but over-flagging erodes customer trust.</a:t>
            </a:r>
            <a:endParaRPr lang="en-US" sz="1100" dirty="0"/>
          </a:p>
        </p:txBody>
      </p:sp>
      <p:sp>
        <p:nvSpPr>
          <p:cNvPr id="17" name="Shape 15"/>
          <p:cNvSpPr/>
          <p:nvPr/>
        </p:nvSpPr>
        <p:spPr>
          <a:xfrm>
            <a:off x="6217920" y="4590288"/>
            <a:ext cx="5257800" cy="1783080"/>
          </a:xfrm>
          <a:prstGeom prst="roundRect">
            <a:avLst>
              <a:gd name="adj" fmla="val 4615"/>
            </a:avLst>
          </a:prstGeom>
          <a:solidFill>
            <a:srgbClr val="141414"/>
          </a:solidFill>
          <a:ln w="12700">
            <a:solidFill>
              <a:srgbClr val="2A2A2A"/>
            </a:solidFill>
            <a:prstDash val="solid"/>
          </a:ln>
        </p:spPr>
      </p:sp>
      <p:sp>
        <p:nvSpPr>
          <p:cNvPr id="18" name="Shape 16"/>
          <p:cNvSpPr/>
          <p:nvPr/>
        </p:nvSpPr>
        <p:spPr>
          <a:xfrm>
            <a:off x="6455664" y="4828032"/>
            <a:ext cx="292608" cy="292608"/>
          </a:xfrm>
          <a:prstGeom prst="ellipse">
            <a:avLst/>
          </a:prstGeom>
          <a:solidFill>
            <a:srgbClr val="F59E0B"/>
          </a:solidFill>
          <a:ln/>
        </p:spPr>
      </p:sp>
      <p:sp>
        <p:nvSpPr>
          <p:cNvPr id="19" name="Text 17"/>
          <p:cNvSpPr txBox="1"/>
          <p:nvPr/>
        </p:nvSpPr>
        <p:spPr>
          <a:xfrm>
            <a:off x="6903720" y="4791456"/>
            <a:ext cx="4343400" cy="365760"/>
          </a:xfrm>
          <a:prstGeom prst="rect">
            <a:avLst/>
          </a:prstGeom>
          <a:noFill/>
          <a:ln/>
        </p:spPr>
        <p:txBody>
          <a:bodyPr wrap="square" lIns="0" tIns="0" rIns="0" bIns="0" rtlCol="0" anchor="ctr"/>
          <a:lstStyle/>
          <a:p>
            <a:pPr indent="0" marL="0">
              <a:buNone/>
            </a:pPr>
            <a:r>
              <a:rPr lang="en-US" sz="1450" b="1" dirty="0">
                <a:solidFill>
                  <a:srgbClr val="F5F5F5"/>
                </a:solidFill>
                <a:latin typeface="Calibri" pitchFamily="34" charset="0"/>
                <a:ea typeface="Calibri" pitchFamily="34" charset="-122"/>
                <a:cs typeface="Calibri" pitchFamily="34" charset="-120"/>
              </a:rPr>
              <a:t>Real-Time Constraint</a:t>
            </a:r>
            <a:endParaRPr lang="en-US" sz="1450" dirty="0"/>
          </a:p>
        </p:txBody>
      </p:sp>
      <p:sp>
        <p:nvSpPr>
          <p:cNvPr id="20" name="Text 18"/>
          <p:cNvSpPr txBox="1"/>
          <p:nvPr/>
        </p:nvSpPr>
        <p:spPr>
          <a:xfrm>
            <a:off x="6537960" y="5340096"/>
            <a:ext cx="4617720" cy="868680"/>
          </a:xfrm>
          <a:prstGeom prst="rect">
            <a:avLst/>
          </a:prstGeom>
          <a:noFill/>
          <a:ln/>
        </p:spPr>
        <p:txBody>
          <a:bodyPr wrap="square" lIns="0" tIns="0" rIns="0" bIns="0" rtlCol="0" anchor="ctr"/>
          <a:lstStyle/>
          <a:p>
            <a:pPr indent="0" marL="0">
              <a:lnSpc>
                <a:spcPct val="118000"/>
              </a:lnSpc>
              <a:buNone/>
            </a:pPr>
            <a:r>
              <a:rPr lang="en-US" sz="1100" dirty="0">
                <a:solidFill>
                  <a:srgbClr val="9A9A9A"/>
                </a:solidFill>
                <a:latin typeface="Calibri" pitchFamily="34" charset="0"/>
                <a:ea typeface="Calibri" pitchFamily="34" charset="-122"/>
                <a:cs typeface="Calibri" pitchFamily="34" charset="-120"/>
              </a:rPr>
              <a:t>Fraud must be scored in milliseconds at the point of transaction, with a decision that is explainable for compliance teams.</a:t>
            </a:r>
            <a:endParaRPr lang="en-US" sz="1100" dirty="0"/>
          </a:p>
        </p:txBody>
      </p:sp>
      <p:sp>
        <p:nvSpPr>
          <p:cNvPr id="21" name="Text 19"/>
          <p:cNvSpPr txBox="1"/>
          <p:nvPr/>
        </p:nvSpPr>
        <p:spPr>
          <a:xfrm>
            <a:off x="457200" y="6528816"/>
            <a:ext cx="5486400" cy="274320"/>
          </a:xfrm>
          <a:prstGeom prst="rect">
            <a:avLst/>
          </a:prstGeom>
          <a:noFill/>
          <a:ln/>
        </p:spPr>
        <p:txBody>
          <a:bodyPr wrap="square" lIns="0" tIns="0" rIns="0" bIns="0" rtlCol="0" anchor="ctr"/>
          <a:lstStyle/>
          <a:p>
            <a:pPr indent="0" marL="0">
              <a:buNone/>
            </a:pPr>
            <a:r>
              <a:rPr lang="en-US" sz="800" spc="200" kern="0" dirty="0">
                <a:solidFill>
                  <a:srgbClr val="6B6B6B"/>
                </a:solidFill>
                <a:latin typeface="Calibri" pitchFamily="34" charset="0"/>
                <a:ea typeface="Calibri" pitchFamily="34" charset="-122"/>
                <a:cs typeface="Calibri" pitchFamily="34" charset="-120"/>
              </a:rPr>
              <a:t>CREDIT CARD FRAUD DETECTION</a:t>
            </a:r>
            <a:endParaRPr lang="en-US" sz="800" dirty="0"/>
          </a:p>
        </p:txBody>
      </p:sp>
      <p:sp>
        <p:nvSpPr>
          <p:cNvPr id="22" name="Text 20"/>
          <p:cNvSpPr txBox="1"/>
          <p:nvPr/>
        </p:nvSpPr>
        <p:spPr>
          <a:xfrm>
            <a:off x="11274552" y="6528816"/>
            <a:ext cx="548640" cy="274320"/>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50" b="1" spc="220" kern="0" dirty="0">
                <a:solidFill>
                  <a:srgbClr val="3B82F6"/>
                </a:solidFill>
                <a:latin typeface="Calibri" pitchFamily="34" charset="0"/>
                <a:ea typeface="Calibri" pitchFamily="34" charset="-122"/>
                <a:cs typeface="Calibri" pitchFamily="34" charset="-120"/>
              </a:rPr>
              <a:t>02 · DATASET</a:t>
            </a:r>
            <a:endParaRPr lang="en-US" sz="1250" dirty="0"/>
          </a:p>
        </p:txBody>
      </p:sp>
      <p:sp>
        <p:nvSpPr>
          <p:cNvPr id="3" name="Text 1"/>
          <p:cNvSpPr txBox="1"/>
          <p:nvPr/>
        </p:nvSpPr>
        <p:spPr>
          <a:xfrm>
            <a:off x="640080" y="676656"/>
            <a:ext cx="9875520" cy="685800"/>
          </a:xfrm>
          <a:prstGeom prst="rect">
            <a:avLst/>
          </a:prstGeom>
          <a:noFill/>
          <a:ln/>
        </p:spPr>
        <p:txBody>
          <a:bodyPr wrap="square" lIns="0" tIns="0" rIns="0" bIns="0" rtlCol="0" anchor="ctr"/>
          <a:lstStyle/>
          <a:p>
            <a:pPr indent="0" marL="0">
              <a:buNone/>
            </a:pPr>
            <a:r>
              <a:rPr lang="en-US" sz="3000" b="1" dirty="0">
                <a:solidFill>
                  <a:srgbClr val="F5F5F5"/>
                </a:solidFill>
                <a:latin typeface="Cambria" pitchFamily="34" charset="0"/>
                <a:ea typeface="Cambria" pitchFamily="34" charset="-122"/>
                <a:cs typeface="Cambria" pitchFamily="34" charset="-120"/>
              </a:rPr>
              <a:t>Dataset Overview</a:t>
            </a:r>
            <a:endParaRPr lang="en-US" sz="3000" dirty="0"/>
          </a:p>
        </p:txBody>
      </p:sp>
      <p:sp>
        <p:nvSpPr>
          <p:cNvPr id="4" name="Text 2"/>
          <p:cNvSpPr txBox="1"/>
          <p:nvPr/>
        </p:nvSpPr>
        <p:spPr>
          <a:xfrm>
            <a:off x="640080" y="1481328"/>
            <a:ext cx="5486400" cy="274320"/>
          </a:xfrm>
          <a:prstGeom prst="rect">
            <a:avLst/>
          </a:prstGeom>
          <a:noFill/>
          <a:ln/>
        </p:spPr>
        <p:txBody>
          <a:bodyPr wrap="square" lIns="0" tIns="0" rIns="0" bIns="0" rtlCol="0" anchor="ctr"/>
          <a:lstStyle/>
          <a:p>
            <a:pPr indent="0" marL="0">
              <a:buNone/>
            </a:pPr>
            <a:r>
              <a:rPr lang="en-US" sz="1200" dirty="0">
                <a:solidFill>
                  <a:srgbClr val="9A9A9A"/>
                </a:solidFill>
                <a:latin typeface="Courier New" pitchFamily="34" charset="0"/>
                <a:ea typeface="Courier New" pitchFamily="34" charset="-122"/>
                <a:cs typeface="Courier New" pitchFamily="34" charset="-120"/>
              </a:rPr>
              <a:t>data/creditcard.csv</a:t>
            </a:r>
            <a:endParaRPr lang="en-US" sz="1200" dirty="0"/>
          </a:p>
        </p:txBody>
      </p:sp>
      <p:sp>
        <p:nvSpPr>
          <p:cNvPr id="5" name="Shape 3"/>
          <p:cNvSpPr/>
          <p:nvPr/>
        </p:nvSpPr>
        <p:spPr>
          <a:xfrm>
            <a:off x="640080" y="1874520"/>
            <a:ext cx="2084832" cy="1143000"/>
          </a:xfrm>
          <a:prstGeom prst="roundRect">
            <a:avLst>
              <a:gd name="adj" fmla="val 6400"/>
            </a:avLst>
          </a:prstGeom>
          <a:solidFill>
            <a:srgbClr val="141414"/>
          </a:solidFill>
          <a:ln w="12700">
            <a:solidFill>
              <a:srgbClr val="2A2A2A"/>
            </a:solidFill>
            <a:prstDash val="solid"/>
          </a:ln>
        </p:spPr>
      </p:sp>
      <p:sp>
        <p:nvSpPr>
          <p:cNvPr id="6" name="Text 4"/>
          <p:cNvSpPr txBox="1"/>
          <p:nvPr/>
        </p:nvSpPr>
        <p:spPr>
          <a:xfrm>
            <a:off x="640080" y="2002536"/>
            <a:ext cx="2084832" cy="548640"/>
          </a:xfrm>
          <a:prstGeom prst="rect">
            <a:avLst/>
          </a:prstGeom>
          <a:noFill/>
          <a:ln/>
        </p:spPr>
        <p:txBody>
          <a:bodyPr wrap="square" lIns="0" tIns="0" rIns="0" bIns="0" rtlCol="0" anchor="ctr"/>
          <a:lstStyle/>
          <a:p>
            <a:pPr algn="ctr" indent="0" marL="0">
              <a:buNone/>
            </a:pPr>
            <a:r>
              <a:rPr lang="en-US" sz="2500" b="1" dirty="0">
                <a:solidFill>
                  <a:srgbClr val="F5F5F5"/>
                </a:solidFill>
                <a:latin typeface="Cambria" pitchFamily="34" charset="0"/>
                <a:ea typeface="Cambria" pitchFamily="34" charset="-122"/>
                <a:cs typeface="Cambria" pitchFamily="34" charset="-120"/>
              </a:rPr>
              <a:t>284,807</a:t>
            </a:r>
            <a:endParaRPr lang="en-US" sz="2500" dirty="0"/>
          </a:p>
        </p:txBody>
      </p:sp>
      <p:sp>
        <p:nvSpPr>
          <p:cNvPr id="7" name="Text 5"/>
          <p:cNvSpPr txBox="1"/>
          <p:nvPr/>
        </p:nvSpPr>
        <p:spPr>
          <a:xfrm>
            <a:off x="640080" y="2587752"/>
            <a:ext cx="2084832" cy="320040"/>
          </a:xfrm>
          <a:prstGeom prst="rect">
            <a:avLst/>
          </a:prstGeom>
          <a:noFill/>
          <a:ln/>
        </p:spPr>
        <p:txBody>
          <a:bodyPr wrap="square" lIns="0" tIns="0" rIns="0" bIns="0" rtlCol="0" anchor="ctr"/>
          <a:lstStyle/>
          <a:p>
            <a:pPr algn="ctr" indent="0" marL="0">
              <a:buNone/>
            </a:pPr>
            <a:r>
              <a:rPr lang="en-US" sz="950" spc="50" kern="0" dirty="0">
                <a:solidFill>
                  <a:srgbClr val="9A9A9A"/>
                </a:solidFill>
                <a:latin typeface="Calibri" pitchFamily="34" charset="0"/>
                <a:ea typeface="Calibri" pitchFamily="34" charset="-122"/>
                <a:cs typeface="Calibri" pitchFamily="34" charset="-120"/>
              </a:rPr>
              <a:t>Total Transactions</a:t>
            </a:r>
            <a:endParaRPr lang="en-US" sz="950" dirty="0"/>
          </a:p>
        </p:txBody>
      </p:sp>
      <p:sp>
        <p:nvSpPr>
          <p:cNvPr id="8" name="Shape 6"/>
          <p:cNvSpPr/>
          <p:nvPr/>
        </p:nvSpPr>
        <p:spPr>
          <a:xfrm>
            <a:off x="2862072" y="1874520"/>
            <a:ext cx="2084832" cy="1143000"/>
          </a:xfrm>
          <a:prstGeom prst="roundRect">
            <a:avLst>
              <a:gd name="adj" fmla="val 6400"/>
            </a:avLst>
          </a:prstGeom>
          <a:solidFill>
            <a:srgbClr val="141414"/>
          </a:solidFill>
          <a:ln w="12700">
            <a:solidFill>
              <a:srgbClr val="2A2A2A"/>
            </a:solidFill>
            <a:prstDash val="solid"/>
          </a:ln>
        </p:spPr>
      </p:sp>
      <p:sp>
        <p:nvSpPr>
          <p:cNvPr id="9" name="Text 7"/>
          <p:cNvSpPr txBox="1"/>
          <p:nvPr/>
        </p:nvSpPr>
        <p:spPr>
          <a:xfrm>
            <a:off x="2862072" y="2002536"/>
            <a:ext cx="2084832" cy="548640"/>
          </a:xfrm>
          <a:prstGeom prst="rect">
            <a:avLst/>
          </a:prstGeom>
          <a:noFill/>
          <a:ln/>
        </p:spPr>
        <p:txBody>
          <a:bodyPr wrap="square" lIns="0" tIns="0" rIns="0" bIns="0" rtlCol="0" anchor="ctr"/>
          <a:lstStyle/>
          <a:p>
            <a:pPr algn="ctr" indent="0" marL="0">
              <a:buNone/>
            </a:pPr>
            <a:r>
              <a:rPr lang="en-US" sz="2500" b="1" dirty="0">
                <a:solidFill>
                  <a:srgbClr val="3B82F6"/>
                </a:solidFill>
                <a:latin typeface="Cambria" pitchFamily="34" charset="0"/>
                <a:ea typeface="Cambria" pitchFamily="34" charset="-122"/>
                <a:cs typeface="Cambria" pitchFamily="34" charset="-120"/>
              </a:rPr>
              <a:t>31</a:t>
            </a:r>
            <a:endParaRPr lang="en-US" sz="2500" dirty="0"/>
          </a:p>
        </p:txBody>
      </p:sp>
      <p:sp>
        <p:nvSpPr>
          <p:cNvPr id="10" name="Text 8"/>
          <p:cNvSpPr txBox="1"/>
          <p:nvPr/>
        </p:nvSpPr>
        <p:spPr>
          <a:xfrm>
            <a:off x="2862072" y="2587752"/>
            <a:ext cx="2084832" cy="320040"/>
          </a:xfrm>
          <a:prstGeom prst="rect">
            <a:avLst/>
          </a:prstGeom>
          <a:noFill/>
          <a:ln/>
        </p:spPr>
        <p:txBody>
          <a:bodyPr wrap="square" lIns="0" tIns="0" rIns="0" bIns="0" rtlCol="0" anchor="ctr"/>
          <a:lstStyle/>
          <a:p>
            <a:pPr algn="ctr" indent="0" marL="0">
              <a:buNone/>
            </a:pPr>
            <a:r>
              <a:rPr lang="en-US" sz="950" spc="50" kern="0" dirty="0">
                <a:solidFill>
                  <a:srgbClr val="9A9A9A"/>
                </a:solidFill>
                <a:latin typeface="Calibri" pitchFamily="34" charset="0"/>
                <a:ea typeface="Calibri" pitchFamily="34" charset="-122"/>
                <a:cs typeface="Calibri" pitchFamily="34" charset="-120"/>
              </a:rPr>
              <a:t>Columns</a:t>
            </a:r>
            <a:endParaRPr lang="en-US" sz="950" dirty="0"/>
          </a:p>
        </p:txBody>
      </p:sp>
      <p:sp>
        <p:nvSpPr>
          <p:cNvPr id="11" name="Shape 9"/>
          <p:cNvSpPr/>
          <p:nvPr/>
        </p:nvSpPr>
        <p:spPr>
          <a:xfrm>
            <a:off x="5084064" y="1874520"/>
            <a:ext cx="2084832" cy="1143000"/>
          </a:xfrm>
          <a:prstGeom prst="roundRect">
            <a:avLst>
              <a:gd name="adj" fmla="val 6400"/>
            </a:avLst>
          </a:prstGeom>
          <a:solidFill>
            <a:srgbClr val="141414"/>
          </a:solidFill>
          <a:ln w="12700">
            <a:solidFill>
              <a:srgbClr val="2A2A2A"/>
            </a:solidFill>
            <a:prstDash val="solid"/>
          </a:ln>
        </p:spPr>
      </p:sp>
      <p:sp>
        <p:nvSpPr>
          <p:cNvPr id="12" name="Text 10"/>
          <p:cNvSpPr txBox="1"/>
          <p:nvPr/>
        </p:nvSpPr>
        <p:spPr>
          <a:xfrm>
            <a:off x="5084064" y="2002536"/>
            <a:ext cx="2084832" cy="548640"/>
          </a:xfrm>
          <a:prstGeom prst="rect">
            <a:avLst/>
          </a:prstGeom>
          <a:noFill/>
          <a:ln/>
        </p:spPr>
        <p:txBody>
          <a:bodyPr wrap="square" lIns="0" tIns="0" rIns="0" bIns="0" rtlCol="0" anchor="ctr"/>
          <a:lstStyle/>
          <a:p>
            <a:pPr algn="ctr" indent="0" marL="0">
              <a:buNone/>
            </a:pPr>
            <a:r>
              <a:rPr lang="en-US" sz="2500" b="1" dirty="0">
                <a:solidFill>
                  <a:srgbClr val="EF4444"/>
                </a:solidFill>
                <a:latin typeface="Cambria" pitchFamily="34" charset="0"/>
                <a:ea typeface="Cambria" pitchFamily="34" charset="-122"/>
                <a:cs typeface="Cambria" pitchFamily="34" charset="-120"/>
              </a:rPr>
              <a:t>492</a:t>
            </a:r>
            <a:endParaRPr lang="en-US" sz="2500" dirty="0"/>
          </a:p>
        </p:txBody>
      </p:sp>
      <p:sp>
        <p:nvSpPr>
          <p:cNvPr id="13" name="Text 11"/>
          <p:cNvSpPr txBox="1"/>
          <p:nvPr/>
        </p:nvSpPr>
        <p:spPr>
          <a:xfrm>
            <a:off x="5084064" y="2587752"/>
            <a:ext cx="2084832" cy="320040"/>
          </a:xfrm>
          <a:prstGeom prst="rect">
            <a:avLst/>
          </a:prstGeom>
          <a:noFill/>
          <a:ln/>
        </p:spPr>
        <p:txBody>
          <a:bodyPr wrap="square" lIns="0" tIns="0" rIns="0" bIns="0" rtlCol="0" anchor="ctr"/>
          <a:lstStyle/>
          <a:p>
            <a:pPr algn="ctr" indent="0" marL="0">
              <a:buNone/>
            </a:pPr>
            <a:r>
              <a:rPr lang="en-US" sz="950" spc="50" kern="0" dirty="0">
                <a:solidFill>
                  <a:srgbClr val="9A9A9A"/>
                </a:solidFill>
                <a:latin typeface="Calibri" pitchFamily="34" charset="0"/>
                <a:ea typeface="Calibri" pitchFamily="34" charset="-122"/>
                <a:cs typeface="Calibri" pitchFamily="34" charset="-120"/>
              </a:rPr>
              <a:t>Fraud Cases</a:t>
            </a:r>
            <a:endParaRPr lang="en-US" sz="950" dirty="0"/>
          </a:p>
        </p:txBody>
      </p:sp>
      <p:sp>
        <p:nvSpPr>
          <p:cNvPr id="14" name="Shape 12"/>
          <p:cNvSpPr/>
          <p:nvPr/>
        </p:nvSpPr>
        <p:spPr>
          <a:xfrm>
            <a:off x="7306056" y="1874520"/>
            <a:ext cx="2084832" cy="1143000"/>
          </a:xfrm>
          <a:prstGeom prst="roundRect">
            <a:avLst>
              <a:gd name="adj" fmla="val 6400"/>
            </a:avLst>
          </a:prstGeom>
          <a:solidFill>
            <a:srgbClr val="141414"/>
          </a:solidFill>
          <a:ln w="12700">
            <a:solidFill>
              <a:srgbClr val="2A2A2A"/>
            </a:solidFill>
            <a:prstDash val="solid"/>
          </a:ln>
        </p:spPr>
      </p:sp>
      <p:sp>
        <p:nvSpPr>
          <p:cNvPr id="15" name="Text 13"/>
          <p:cNvSpPr txBox="1"/>
          <p:nvPr/>
        </p:nvSpPr>
        <p:spPr>
          <a:xfrm>
            <a:off x="7306056" y="2002536"/>
            <a:ext cx="2084832" cy="548640"/>
          </a:xfrm>
          <a:prstGeom prst="rect">
            <a:avLst/>
          </a:prstGeom>
          <a:noFill/>
          <a:ln/>
        </p:spPr>
        <p:txBody>
          <a:bodyPr wrap="square" lIns="0" tIns="0" rIns="0" bIns="0" rtlCol="0" anchor="ctr"/>
          <a:lstStyle/>
          <a:p>
            <a:pPr algn="ctr" indent="0" marL="0">
              <a:buNone/>
            </a:pPr>
            <a:r>
              <a:rPr lang="en-US" sz="2500" b="1" dirty="0">
                <a:solidFill>
                  <a:srgbClr val="EF4444"/>
                </a:solidFill>
                <a:latin typeface="Cambria" pitchFamily="34" charset="0"/>
                <a:ea typeface="Cambria" pitchFamily="34" charset="-122"/>
                <a:cs typeface="Cambria" pitchFamily="34" charset="-120"/>
              </a:rPr>
              <a:t>0.172%</a:t>
            </a:r>
            <a:endParaRPr lang="en-US" sz="2500" dirty="0"/>
          </a:p>
        </p:txBody>
      </p:sp>
      <p:sp>
        <p:nvSpPr>
          <p:cNvPr id="16" name="Text 14"/>
          <p:cNvSpPr txBox="1"/>
          <p:nvPr/>
        </p:nvSpPr>
        <p:spPr>
          <a:xfrm>
            <a:off x="7306056" y="2587752"/>
            <a:ext cx="2084832" cy="320040"/>
          </a:xfrm>
          <a:prstGeom prst="rect">
            <a:avLst/>
          </a:prstGeom>
          <a:noFill/>
          <a:ln/>
        </p:spPr>
        <p:txBody>
          <a:bodyPr wrap="square" lIns="0" tIns="0" rIns="0" bIns="0" rtlCol="0" anchor="ctr"/>
          <a:lstStyle/>
          <a:p>
            <a:pPr algn="ctr" indent="0" marL="0">
              <a:buNone/>
            </a:pPr>
            <a:r>
              <a:rPr lang="en-US" sz="950" spc="50" kern="0" dirty="0">
                <a:solidFill>
                  <a:srgbClr val="9A9A9A"/>
                </a:solidFill>
                <a:latin typeface="Calibri" pitchFamily="34" charset="0"/>
                <a:ea typeface="Calibri" pitchFamily="34" charset="-122"/>
                <a:cs typeface="Calibri" pitchFamily="34" charset="-120"/>
              </a:rPr>
              <a:t>Fraud Rate</a:t>
            </a:r>
            <a:endParaRPr lang="en-US" sz="950" dirty="0"/>
          </a:p>
        </p:txBody>
      </p:sp>
      <p:sp>
        <p:nvSpPr>
          <p:cNvPr id="17" name="Shape 15"/>
          <p:cNvSpPr/>
          <p:nvPr/>
        </p:nvSpPr>
        <p:spPr>
          <a:xfrm>
            <a:off x="9528048" y="1874520"/>
            <a:ext cx="2084832" cy="1143000"/>
          </a:xfrm>
          <a:prstGeom prst="roundRect">
            <a:avLst>
              <a:gd name="adj" fmla="val 6400"/>
            </a:avLst>
          </a:prstGeom>
          <a:solidFill>
            <a:srgbClr val="141414"/>
          </a:solidFill>
          <a:ln w="12700">
            <a:solidFill>
              <a:srgbClr val="2A2A2A"/>
            </a:solidFill>
            <a:prstDash val="solid"/>
          </a:ln>
        </p:spPr>
      </p:sp>
      <p:sp>
        <p:nvSpPr>
          <p:cNvPr id="18" name="Text 16"/>
          <p:cNvSpPr txBox="1"/>
          <p:nvPr/>
        </p:nvSpPr>
        <p:spPr>
          <a:xfrm>
            <a:off x="9528048" y="2002536"/>
            <a:ext cx="2084832" cy="548640"/>
          </a:xfrm>
          <a:prstGeom prst="rect">
            <a:avLst/>
          </a:prstGeom>
          <a:noFill/>
          <a:ln/>
        </p:spPr>
        <p:txBody>
          <a:bodyPr wrap="square" lIns="0" tIns="0" rIns="0" bIns="0" rtlCol="0" anchor="ctr"/>
          <a:lstStyle/>
          <a:p>
            <a:pPr algn="ctr" indent="0" marL="0">
              <a:buNone/>
            </a:pPr>
            <a:r>
              <a:rPr lang="en-US" sz="2500" b="1" dirty="0">
                <a:solidFill>
                  <a:srgbClr val="10B981"/>
                </a:solidFill>
                <a:latin typeface="Cambria" pitchFamily="34" charset="0"/>
                <a:ea typeface="Cambria" pitchFamily="34" charset="-122"/>
                <a:cs typeface="Cambria" pitchFamily="34" charset="-120"/>
              </a:rPr>
              <a:t>0</a:t>
            </a:r>
            <a:endParaRPr lang="en-US" sz="2500" dirty="0"/>
          </a:p>
        </p:txBody>
      </p:sp>
      <p:sp>
        <p:nvSpPr>
          <p:cNvPr id="19" name="Text 17"/>
          <p:cNvSpPr txBox="1"/>
          <p:nvPr/>
        </p:nvSpPr>
        <p:spPr>
          <a:xfrm>
            <a:off x="9528048" y="2587752"/>
            <a:ext cx="2084832" cy="320040"/>
          </a:xfrm>
          <a:prstGeom prst="rect">
            <a:avLst/>
          </a:prstGeom>
          <a:noFill/>
          <a:ln/>
        </p:spPr>
        <p:txBody>
          <a:bodyPr wrap="square" lIns="0" tIns="0" rIns="0" bIns="0" rtlCol="0" anchor="ctr"/>
          <a:lstStyle/>
          <a:p>
            <a:pPr algn="ctr" indent="0" marL="0">
              <a:buNone/>
            </a:pPr>
            <a:r>
              <a:rPr lang="en-US" sz="950" spc="50" kern="0" dirty="0">
                <a:solidFill>
                  <a:srgbClr val="9A9A9A"/>
                </a:solidFill>
                <a:latin typeface="Calibri" pitchFamily="34" charset="0"/>
                <a:ea typeface="Calibri" pitchFamily="34" charset="-122"/>
                <a:cs typeface="Calibri" pitchFamily="34" charset="-120"/>
              </a:rPr>
              <a:t>Missing Values</a:t>
            </a:r>
            <a:endParaRPr lang="en-US" sz="950" dirty="0"/>
          </a:p>
        </p:txBody>
      </p:sp>
      <p:sp>
        <p:nvSpPr>
          <p:cNvPr id="20" name="Shape 18"/>
          <p:cNvSpPr/>
          <p:nvPr/>
        </p:nvSpPr>
        <p:spPr>
          <a:xfrm>
            <a:off x="640080" y="3246120"/>
            <a:ext cx="5257800" cy="2880360"/>
          </a:xfrm>
          <a:prstGeom prst="roundRect">
            <a:avLst>
              <a:gd name="adj" fmla="val 2857"/>
            </a:avLst>
          </a:prstGeom>
          <a:solidFill>
            <a:srgbClr val="141414"/>
          </a:solidFill>
          <a:ln w="12700">
            <a:solidFill>
              <a:srgbClr val="2A2A2A"/>
            </a:solidFill>
            <a:prstDash val="solid"/>
          </a:ln>
        </p:spPr>
      </p:sp>
      <p:sp>
        <p:nvSpPr>
          <p:cNvPr id="21" name="Text 19"/>
          <p:cNvSpPr txBox="1"/>
          <p:nvPr/>
        </p:nvSpPr>
        <p:spPr>
          <a:xfrm>
            <a:off x="914400" y="3429000"/>
            <a:ext cx="4572000" cy="274320"/>
          </a:xfrm>
          <a:prstGeom prst="rect">
            <a:avLst/>
          </a:prstGeom>
          <a:noFill/>
          <a:ln/>
        </p:spPr>
        <p:txBody>
          <a:bodyPr wrap="square" lIns="0" tIns="0" rIns="0" bIns="0" rtlCol="0" anchor="ctr"/>
          <a:lstStyle/>
          <a:p>
            <a:pPr indent="0" marL="0">
              <a:buNone/>
            </a:pPr>
            <a:r>
              <a:rPr lang="en-US" sz="1100" b="1" spc="150" kern="0" dirty="0">
                <a:solidFill>
                  <a:srgbClr val="6B6B6B"/>
                </a:solidFill>
                <a:latin typeface="Calibri" pitchFamily="34" charset="0"/>
                <a:ea typeface="Calibri" pitchFamily="34" charset="-122"/>
                <a:cs typeface="Calibri" pitchFamily="34" charset="-120"/>
              </a:rPr>
              <a:t>SCHEMA</a:t>
            </a:r>
            <a:endParaRPr lang="en-US" sz="1100" dirty="0"/>
          </a:p>
        </p:txBody>
      </p:sp>
      <p:sp>
        <p:nvSpPr>
          <p:cNvPr id="22" name="Text 20"/>
          <p:cNvSpPr txBox="1"/>
          <p:nvPr/>
        </p:nvSpPr>
        <p:spPr>
          <a:xfrm>
            <a:off x="914400" y="3794760"/>
            <a:ext cx="1463040" cy="457200"/>
          </a:xfrm>
          <a:prstGeom prst="rect">
            <a:avLst/>
          </a:prstGeom>
          <a:noFill/>
          <a:ln/>
        </p:spPr>
        <p:txBody>
          <a:bodyPr wrap="square" lIns="0" tIns="0" rIns="0" bIns="0" rtlCol="0" anchor="ctr"/>
          <a:lstStyle/>
          <a:p>
            <a:pPr indent="0" marL="0">
              <a:buNone/>
            </a:pPr>
            <a:r>
              <a:rPr lang="en-US" sz="1200" b="1" dirty="0">
                <a:solidFill>
                  <a:srgbClr val="7C3AED"/>
                </a:solidFill>
                <a:latin typeface="Courier New" pitchFamily="34" charset="0"/>
                <a:ea typeface="Courier New" pitchFamily="34" charset="-122"/>
                <a:cs typeface="Courier New" pitchFamily="34" charset="-120"/>
              </a:rPr>
              <a:t>Time</a:t>
            </a:r>
            <a:endParaRPr lang="en-US" sz="1200" dirty="0"/>
          </a:p>
        </p:txBody>
      </p:sp>
      <p:sp>
        <p:nvSpPr>
          <p:cNvPr id="23" name="Text 21"/>
          <p:cNvSpPr txBox="1"/>
          <p:nvPr/>
        </p:nvSpPr>
        <p:spPr>
          <a:xfrm>
            <a:off x="2377440" y="3794760"/>
            <a:ext cx="3337560" cy="457200"/>
          </a:xfrm>
          <a:prstGeom prst="rect">
            <a:avLst/>
          </a:prstGeom>
          <a:noFill/>
          <a:ln/>
        </p:spPr>
        <p:txBody>
          <a:bodyPr wrap="square" lIns="0" tIns="0" rIns="0" bIns="0" rtlCol="0" anchor="t"/>
          <a:lstStyle/>
          <a:p>
            <a:pPr indent="0" marL="0">
              <a:buNone/>
            </a:pPr>
            <a:r>
              <a:rPr lang="en-US" sz="1050" dirty="0">
                <a:solidFill>
                  <a:srgbClr val="9A9A9A"/>
                </a:solidFill>
                <a:latin typeface="Calibri" pitchFamily="34" charset="0"/>
                <a:ea typeface="Calibri" pitchFamily="34" charset="-122"/>
                <a:cs typeface="Calibri" pitchFamily="34" charset="-120"/>
              </a:rPr>
              <a:t>Seconds elapsed since first transaction in the dataset</a:t>
            </a:r>
            <a:endParaRPr lang="en-US" sz="1050" dirty="0"/>
          </a:p>
        </p:txBody>
      </p:sp>
      <p:sp>
        <p:nvSpPr>
          <p:cNvPr id="24" name="Text 22"/>
          <p:cNvSpPr txBox="1"/>
          <p:nvPr/>
        </p:nvSpPr>
        <p:spPr>
          <a:xfrm>
            <a:off x="914400" y="4370832"/>
            <a:ext cx="1463040" cy="457200"/>
          </a:xfrm>
          <a:prstGeom prst="rect">
            <a:avLst/>
          </a:prstGeom>
          <a:noFill/>
          <a:ln/>
        </p:spPr>
        <p:txBody>
          <a:bodyPr wrap="square" lIns="0" tIns="0" rIns="0" bIns="0" rtlCol="0" anchor="ctr"/>
          <a:lstStyle/>
          <a:p>
            <a:pPr indent="0" marL="0">
              <a:buNone/>
            </a:pPr>
            <a:r>
              <a:rPr lang="en-US" sz="1200" b="1" dirty="0">
                <a:solidFill>
                  <a:srgbClr val="7C3AED"/>
                </a:solidFill>
                <a:latin typeface="Courier New" pitchFamily="34" charset="0"/>
                <a:ea typeface="Courier New" pitchFamily="34" charset="-122"/>
                <a:cs typeface="Courier New" pitchFamily="34" charset="-120"/>
              </a:rPr>
              <a:t>V1 – V28</a:t>
            </a:r>
            <a:endParaRPr lang="en-US" sz="1200" dirty="0"/>
          </a:p>
        </p:txBody>
      </p:sp>
      <p:sp>
        <p:nvSpPr>
          <p:cNvPr id="25" name="Text 23"/>
          <p:cNvSpPr txBox="1"/>
          <p:nvPr/>
        </p:nvSpPr>
        <p:spPr>
          <a:xfrm>
            <a:off x="2377440" y="4370832"/>
            <a:ext cx="3337560" cy="457200"/>
          </a:xfrm>
          <a:prstGeom prst="rect">
            <a:avLst/>
          </a:prstGeom>
          <a:noFill/>
          <a:ln/>
        </p:spPr>
        <p:txBody>
          <a:bodyPr wrap="square" lIns="0" tIns="0" rIns="0" bIns="0" rtlCol="0" anchor="t"/>
          <a:lstStyle/>
          <a:p>
            <a:pPr indent="0" marL="0">
              <a:buNone/>
            </a:pPr>
            <a:r>
              <a:rPr lang="en-US" sz="1050" dirty="0">
                <a:solidFill>
                  <a:srgbClr val="9A9A9A"/>
                </a:solidFill>
                <a:latin typeface="Calibri" pitchFamily="34" charset="0"/>
                <a:ea typeface="Calibri" pitchFamily="34" charset="-122"/>
                <a:cs typeface="Calibri" pitchFamily="34" charset="-120"/>
              </a:rPr>
              <a:t>PCA-anonymized principal components (confidential source features)</a:t>
            </a:r>
            <a:endParaRPr lang="en-US" sz="1050" dirty="0"/>
          </a:p>
        </p:txBody>
      </p:sp>
      <p:sp>
        <p:nvSpPr>
          <p:cNvPr id="26" name="Text 24"/>
          <p:cNvSpPr txBox="1"/>
          <p:nvPr/>
        </p:nvSpPr>
        <p:spPr>
          <a:xfrm>
            <a:off x="914400" y="4946904"/>
            <a:ext cx="1463040" cy="457200"/>
          </a:xfrm>
          <a:prstGeom prst="rect">
            <a:avLst/>
          </a:prstGeom>
          <a:noFill/>
          <a:ln/>
        </p:spPr>
        <p:txBody>
          <a:bodyPr wrap="square" lIns="0" tIns="0" rIns="0" bIns="0" rtlCol="0" anchor="ctr"/>
          <a:lstStyle/>
          <a:p>
            <a:pPr indent="0" marL="0">
              <a:buNone/>
            </a:pPr>
            <a:r>
              <a:rPr lang="en-US" sz="1200" b="1" dirty="0">
                <a:solidFill>
                  <a:srgbClr val="7C3AED"/>
                </a:solidFill>
                <a:latin typeface="Courier New" pitchFamily="34" charset="0"/>
                <a:ea typeface="Courier New" pitchFamily="34" charset="-122"/>
                <a:cs typeface="Courier New" pitchFamily="34" charset="-120"/>
              </a:rPr>
              <a:t>Amount</a:t>
            </a:r>
            <a:endParaRPr lang="en-US" sz="1200" dirty="0"/>
          </a:p>
        </p:txBody>
      </p:sp>
      <p:sp>
        <p:nvSpPr>
          <p:cNvPr id="27" name="Text 25"/>
          <p:cNvSpPr txBox="1"/>
          <p:nvPr/>
        </p:nvSpPr>
        <p:spPr>
          <a:xfrm>
            <a:off x="2377440" y="4946904"/>
            <a:ext cx="3337560" cy="457200"/>
          </a:xfrm>
          <a:prstGeom prst="rect">
            <a:avLst/>
          </a:prstGeom>
          <a:noFill/>
          <a:ln/>
        </p:spPr>
        <p:txBody>
          <a:bodyPr wrap="square" lIns="0" tIns="0" rIns="0" bIns="0" rtlCol="0" anchor="t"/>
          <a:lstStyle/>
          <a:p>
            <a:pPr indent="0" marL="0">
              <a:buNone/>
            </a:pPr>
            <a:r>
              <a:rPr lang="en-US" sz="1050" dirty="0">
                <a:solidFill>
                  <a:srgbClr val="9A9A9A"/>
                </a:solidFill>
                <a:latin typeface="Calibri" pitchFamily="34" charset="0"/>
                <a:ea typeface="Calibri" pitchFamily="34" charset="-122"/>
                <a:cs typeface="Calibri" pitchFamily="34" charset="-120"/>
              </a:rPr>
              <a:t>Transaction amount in USD — heavily right-skewed</a:t>
            </a:r>
            <a:endParaRPr lang="en-US" sz="1050" dirty="0"/>
          </a:p>
        </p:txBody>
      </p:sp>
      <p:sp>
        <p:nvSpPr>
          <p:cNvPr id="28" name="Text 26"/>
          <p:cNvSpPr txBox="1"/>
          <p:nvPr/>
        </p:nvSpPr>
        <p:spPr>
          <a:xfrm>
            <a:off x="914400" y="5522976"/>
            <a:ext cx="1463040" cy="457200"/>
          </a:xfrm>
          <a:prstGeom prst="rect">
            <a:avLst/>
          </a:prstGeom>
          <a:noFill/>
          <a:ln/>
        </p:spPr>
        <p:txBody>
          <a:bodyPr wrap="square" lIns="0" tIns="0" rIns="0" bIns="0" rtlCol="0" anchor="ctr"/>
          <a:lstStyle/>
          <a:p>
            <a:pPr indent="0" marL="0">
              <a:buNone/>
            </a:pPr>
            <a:r>
              <a:rPr lang="en-US" sz="1200" b="1" dirty="0">
                <a:solidFill>
                  <a:srgbClr val="7C3AED"/>
                </a:solidFill>
                <a:latin typeface="Courier New" pitchFamily="34" charset="0"/>
                <a:ea typeface="Courier New" pitchFamily="34" charset="-122"/>
                <a:cs typeface="Courier New" pitchFamily="34" charset="-120"/>
              </a:rPr>
              <a:t>Class</a:t>
            </a:r>
            <a:endParaRPr lang="en-US" sz="1200" dirty="0"/>
          </a:p>
        </p:txBody>
      </p:sp>
      <p:sp>
        <p:nvSpPr>
          <p:cNvPr id="29" name="Text 27"/>
          <p:cNvSpPr txBox="1"/>
          <p:nvPr/>
        </p:nvSpPr>
        <p:spPr>
          <a:xfrm>
            <a:off x="2377440" y="5522976"/>
            <a:ext cx="3337560" cy="457200"/>
          </a:xfrm>
          <a:prstGeom prst="rect">
            <a:avLst/>
          </a:prstGeom>
          <a:noFill/>
          <a:ln/>
        </p:spPr>
        <p:txBody>
          <a:bodyPr wrap="square" lIns="0" tIns="0" rIns="0" bIns="0" rtlCol="0" anchor="t"/>
          <a:lstStyle/>
          <a:p>
            <a:pPr indent="0" marL="0">
              <a:buNone/>
            </a:pPr>
            <a:r>
              <a:rPr lang="en-US" sz="1050" dirty="0">
                <a:solidFill>
                  <a:srgbClr val="9A9A9A"/>
                </a:solidFill>
                <a:latin typeface="Calibri" pitchFamily="34" charset="0"/>
                <a:ea typeface="Calibri" pitchFamily="34" charset="-122"/>
                <a:cs typeface="Calibri" pitchFamily="34" charset="-120"/>
              </a:rPr>
              <a:t>Target label — 0 = Legitimate, 1 = Fraud</a:t>
            </a:r>
            <a:endParaRPr lang="en-US" sz="1050" dirty="0"/>
          </a:p>
        </p:txBody>
      </p:sp>
      <p:sp>
        <p:nvSpPr>
          <p:cNvPr id="30" name="Shape 28"/>
          <p:cNvSpPr/>
          <p:nvPr/>
        </p:nvSpPr>
        <p:spPr>
          <a:xfrm>
            <a:off x="6080760" y="3246120"/>
            <a:ext cx="5468112" cy="2880360"/>
          </a:xfrm>
          <a:prstGeom prst="roundRect">
            <a:avLst>
              <a:gd name="adj" fmla="val 2857"/>
            </a:avLst>
          </a:prstGeom>
          <a:solidFill>
            <a:srgbClr val="1A1220"/>
          </a:solidFill>
          <a:ln w="12700">
            <a:solidFill>
              <a:srgbClr val="3D2A44"/>
            </a:solidFill>
            <a:prstDash val="solid"/>
          </a:ln>
        </p:spPr>
      </p:sp>
      <p:sp>
        <p:nvSpPr>
          <p:cNvPr id="31" name="Text 29"/>
          <p:cNvSpPr txBox="1"/>
          <p:nvPr/>
        </p:nvSpPr>
        <p:spPr>
          <a:xfrm>
            <a:off x="6355080" y="3456432"/>
            <a:ext cx="4937760" cy="274320"/>
          </a:xfrm>
          <a:prstGeom prst="rect">
            <a:avLst/>
          </a:prstGeom>
          <a:noFill/>
          <a:ln/>
        </p:spPr>
        <p:txBody>
          <a:bodyPr wrap="square" lIns="0" tIns="0" rIns="0" bIns="0" rtlCol="0" anchor="ctr"/>
          <a:lstStyle/>
          <a:p>
            <a:pPr indent="0" marL="0">
              <a:buNone/>
            </a:pPr>
            <a:r>
              <a:rPr lang="en-US" sz="1100" b="1" spc="100" kern="0" dirty="0">
                <a:solidFill>
                  <a:srgbClr val="7C3AED"/>
                </a:solidFill>
                <a:latin typeface="Calibri" pitchFamily="34" charset="0"/>
                <a:ea typeface="Calibri" pitchFamily="34" charset="-122"/>
                <a:cs typeface="Calibri" pitchFamily="34" charset="-120"/>
              </a:rPr>
              <a:t>WHY PCA-ANONYMIZED?</a:t>
            </a:r>
            <a:endParaRPr lang="en-US" sz="1100" dirty="0"/>
          </a:p>
        </p:txBody>
      </p:sp>
      <p:sp>
        <p:nvSpPr>
          <p:cNvPr id="32" name="Text 30"/>
          <p:cNvSpPr txBox="1"/>
          <p:nvPr/>
        </p:nvSpPr>
        <p:spPr>
          <a:xfrm>
            <a:off x="6355080" y="3794760"/>
            <a:ext cx="4937760" cy="2148840"/>
          </a:xfrm>
          <a:prstGeom prst="rect">
            <a:avLst/>
          </a:prstGeom>
          <a:noFill/>
          <a:ln/>
        </p:spPr>
        <p:txBody>
          <a:bodyPr wrap="square" lIns="0" tIns="0" rIns="0" bIns="0" rtlCol="0" anchor="ctr"/>
          <a:lstStyle/>
          <a:p>
            <a:pPr indent="0" marL="0">
              <a:lnSpc>
                <a:spcPct val="128000"/>
              </a:lnSpc>
              <a:buNone/>
            </a:pPr>
            <a:r>
              <a:rPr lang="en-US" sz="1150" dirty="0">
                <a:solidFill>
                  <a:srgbClr val="D0D0D0"/>
                </a:solidFill>
                <a:latin typeface="Calibri" pitchFamily="34" charset="0"/>
                <a:ea typeface="Calibri" pitchFamily="34" charset="-122"/>
                <a:cs typeface="Calibri" pitchFamily="34" charset="-120"/>
              </a:rPr>
              <a:t>The original dataset (European cardholders, Sept 2013) hides real transaction fields for confidentiality. V1–V28 are the outputs of a PCA transform on the true features — only Time and Amount survive untouched. This means the model must find fraud signal purely from statistical structure, not human-readable features like merchant or location.</a:t>
            </a:r>
            <a:endParaRPr lang="en-US" sz="1150" dirty="0"/>
          </a:p>
        </p:txBody>
      </p:sp>
      <p:sp>
        <p:nvSpPr>
          <p:cNvPr id="33" name="Text 31"/>
          <p:cNvSpPr txBox="1"/>
          <p:nvPr/>
        </p:nvSpPr>
        <p:spPr>
          <a:xfrm>
            <a:off x="457200" y="6528816"/>
            <a:ext cx="5486400" cy="274320"/>
          </a:xfrm>
          <a:prstGeom prst="rect">
            <a:avLst/>
          </a:prstGeom>
          <a:noFill/>
          <a:ln/>
        </p:spPr>
        <p:txBody>
          <a:bodyPr wrap="square" lIns="0" tIns="0" rIns="0" bIns="0" rtlCol="0" anchor="ctr"/>
          <a:lstStyle/>
          <a:p>
            <a:pPr indent="0" marL="0">
              <a:buNone/>
            </a:pPr>
            <a:r>
              <a:rPr lang="en-US" sz="800" spc="200" kern="0" dirty="0">
                <a:solidFill>
                  <a:srgbClr val="6B6B6B"/>
                </a:solidFill>
                <a:latin typeface="Calibri" pitchFamily="34" charset="0"/>
                <a:ea typeface="Calibri" pitchFamily="34" charset="-122"/>
                <a:cs typeface="Calibri" pitchFamily="34" charset="-120"/>
              </a:rPr>
              <a:t>CREDIT CARD FRAUD DETECTION</a:t>
            </a:r>
            <a:endParaRPr lang="en-US" sz="800" dirty="0"/>
          </a:p>
        </p:txBody>
      </p:sp>
      <p:sp>
        <p:nvSpPr>
          <p:cNvPr id="34" name="Text 32"/>
          <p:cNvSpPr txBox="1"/>
          <p:nvPr/>
        </p:nvSpPr>
        <p:spPr>
          <a:xfrm>
            <a:off x="11274552" y="6528816"/>
            <a:ext cx="548640" cy="274320"/>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50" b="1" spc="220" kern="0" dirty="0">
                <a:solidFill>
                  <a:srgbClr val="7C3AED"/>
                </a:solidFill>
                <a:latin typeface="Calibri" pitchFamily="34" charset="0"/>
                <a:ea typeface="Calibri" pitchFamily="34" charset="-122"/>
                <a:cs typeface="Calibri" pitchFamily="34" charset="-120"/>
              </a:rPr>
              <a:t>03 · ARCHITECTURE</a:t>
            </a:r>
            <a:endParaRPr lang="en-US" sz="1250" dirty="0"/>
          </a:p>
        </p:txBody>
      </p:sp>
      <p:sp>
        <p:nvSpPr>
          <p:cNvPr id="3" name="Text 1"/>
          <p:cNvSpPr txBox="1"/>
          <p:nvPr/>
        </p:nvSpPr>
        <p:spPr>
          <a:xfrm>
            <a:off x="640080" y="676656"/>
            <a:ext cx="9875520" cy="685800"/>
          </a:xfrm>
          <a:prstGeom prst="rect">
            <a:avLst/>
          </a:prstGeom>
          <a:noFill/>
          <a:ln/>
        </p:spPr>
        <p:txBody>
          <a:bodyPr wrap="square" lIns="0" tIns="0" rIns="0" bIns="0" rtlCol="0" anchor="ctr"/>
          <a:lstStyle/>
          <a:p>
            <a:pPr indent="0" marL="0">
              <a:buNone/>
            </a:pPr>
            <a:r>
              <a:rPr lang="en-US" sz="3000" b="1" dirty="0">
                <a:solidFill>
                  <a:srgbClr val="F5F5F5"/>
                </a:solidFill>
                <a:latin typeface="Cambria" pitchFamily="34" charset="0"/>
                <a:ea typeface="Cambria" pitchFamily="34" charset="-122"/>
                <a:cs typeface="Cambria" pitchFamily="34" charset="-120"/>
              </a:rPr>
              <a:t>End-to-End Pipeline</a:t>
            </a:r>
            <a:endParaRPr lang="en-US" sz="3000" dirty="0"/>
          </a:p>
        </p:txBody>
      </p:sp>
      <p:sp>
        <p:nvSpPr>
          <p:cNvPr id="4" name="Shape 2"/>
          <p:cNvSpPr/>
          <p:nvPr/>
        </p:nvSpPr>
        <p:spPr>
          <a:xfrm>
            <a:off x="640080" y="1783080"/>
            <a:ext cx="1691640" cy="1371600"/>
          </a:xfrm>
          <a:prstGeom prst="roundRect">
            <a:avLst>
              <a:gd name="adj" fmla="val 5333"/>
            </a:avLst>
          </a:prstGeom>
          <a:solidFill>
            <a:srgbClr val="141414"/>
          </a:solidFill>
          <a:ln w="15875">
            <a:solidFill>
              <a:srgbClr val="3B82F6"/>
            </a:solidFill>
            <a:prstDash val="solid"/>
          </a:ln>
        </p:spPr>
      </p:sp>
      <p:sp>
        <p:nvSpPr>
          <p:cNvPr id="5" name="Text 3"/>
          <p:cNvSpPr txBox="1"/>
          <p:nvPr/>
        </p:nvSpPr>
        <p:spPr>
          <a:xfrm>
            <a:off x="749808" y="1874520"/>
            <a:ext cx="1472184" cy="365760"/>
          </a:xfrm>
          <a:prstGeom prst="rect">
            <a:avLst/>
          </a:prstGeom>
          <a:noFill/>
          <a:ln/>
        </p:spPr>
        <p:txBody>
          <a:bodyPr wrap="square" lIns="0" tIns="0" rIns="0" bIns="0" rtlCol="0" anchor="ctr"/>
          <a:lstStyle/>
          <a:p>
            <a:pPr indent="0" marL="0">
              <a:buNone/>
            </a:pPr>
            <a:r>
              <a:rPr lang="en-US" sz="1700" b="1" dirty="0">
                <a:solidFill>
                  <a:srgbClr val="3B82F6"/>
                </a:solidFill>
                <a:latin typeface="Cambria" pitchFamily="34" charset="0"/>
                <a:ea typeface="Cambria" pitchFamily="34" charset="-122"/>
                <a:cs typeface="Cambria" pitchFamily="34" charset="-120"/>
              </a:rPr>
              <a:t>01</a:t>
            </a:r>
            <a:endParaRPr lang="en-US" sz="1700" dirty="0"/>
          </a:p>
        </p:txBody>
      </p:sp>
      <p:sp>
        <p:nvSpPr>
          <p:cNvPr id="6" name="Text 4"/>
          <p:cNvSpPr txBox="1"/>
          <p:nvPr/>
        </p:nvSpPr>
        <p:spPr>
          <a:xfrm>
            <a:off x="749808" y="2286000"/>
            <a:ext cx="1472184" cy="320040"/>
          </a:xfrm>
          <a:prstGeom prst="rect">
            <a:avLst/>
          </a:prstGeom>
          <a:noFill/>
          <a:ln/>
        </p:spPr>
        <p:txBody>
          <a:bodyPr wrap="square" lIns="0" tIns="0" rIns="0" bIns="0" rtlCol="0" anchor="ctr"/>
          <a:lstStyle/>
          <a:p>
            <a:pPr indent="0" marL="0">
              <a:buNone/>
            </a:pPr>
            <a:r>
              <a:rPr lang="en-US" sz="1300" b="1" dirty="0">
                <a:solidFill>
                  <a:srgbClr val="F5F5F5"/>
                </a:solidFill>
                <a:latin typeface="Calibri" pitchFamily="34" charset="0"/>
                <a:ea typeface="Calibri" pitchFamily="34" charset="-122"/>
                <a:cs typeface="Calibri" pitchFamily="34" charset="-120"/>
              </a:rPr>
              <a:t>Ingest</a:t>
            </a:r>
            <a:endParaRPr lang="en-US" sz="1300" dirty="0"/>
          </a:p>
        </p:txBody>
      </p:sp>
      <p:sp>
        <p:nvSpPr>
          <p:cNvPr id="7" name="Text 5"/>
          <p:cNvSpPr txBox="1"/>
          <p:nvPr/>
        </p:nvSpPr>
        <p:spPr>
          <a:xfrm>
            <a:off x="749808" y="2633472"/>
            <a:ext cx="1472184" cy="457200"/>
          </a:xfrm>
          <a:prstGeom prst="rect">
            <a:avLst/>
          </a:prstGeom>
          <a:noFill/>
          <a:ln/>
        </p:spPr>
        <p:txBody>
          <a:bodyPr wrap="square" lIns="0" tIns="0" rIns="0" bIns="0" rtlCol="0" anchor="ctr"/>
          <a:lstStyle/>
          <a:p>
            <a:pPr indent="0" marL="0">
              <a:lnSpc>
                <a:spcPct val="110000"/>
              </a:lnSpc>
              <a:buNone/>
            </a:pPr>
            <a:r>
              <a:rPr lang="en-US" sz="850" dirty="0">
                <a:solidFill>
                  <a:srgbClr val="9A9A9A"/>
                </a:solidFill>
                <a:latin typeface="Courier New" pitchFamily="34" charset="0"/>
                <a:ea typeface="Courier New" pitchFamily="34" charset="-122"/>
                <a:cs typeface="Courier New" pitchFamily="34" charset="-120"/>
              </a:rPr>
              <a:t>creditcard.csv</a:t>
            </a:r>
            <a:endParaRPr lang="en-US" sz="850" dirty="0"/>
          </a:p>
        </p:txBody>
      </p:sp>
      <p:sp>
        <p:nvSpPr>
          <p:cNvPr id="8" name="Text 6"/>
          <p:cNvSpPr txBox="1"/>
          <p:nvPr/>
        </p:nvSpPr>
        <p:spPr>
          <a:xfrm>
            <a:off x="2313432" y="2221992"/>
            <a:ext cx="320040" cy="457200"/>
          </a:xfrm>
          <a:prstGeom prst="rect">
            <a:avLst/>
          </a:prstGeom>
          <a:noFill/>
          <a:ln/>
        </p:spPr>
        <p:txBody>
          <a:bodyPr wrap="square" lIns="0" tIns="0" rIns="0" bIns="0" rtlCol="0" anchor="ctr"/>
          <a:lstStyle/>
          <a:p>
            <a:pPr algn="ctr" indent="0" marL="0">
              <a:buNone/>
            </a:pPr>
            <a:r>
              <a:rPr lang="en-US" sz="1800" dirty="0">
                <a:solidFill>
                  <a:srgbClr val="6B6B6B"/>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2487168" y="1783080"/>
            <a:ext cx="1691640" cy="1371600"/>
          </a:xfrm>
          <a:prstGeom prst="roundRect">
            <a:avLst>
              <a:gd name="adj" fmla="val 5333"/>
            </a:avLst>
          </a:prstGeom>
          <a:solidFill>
            <a:srgbClr val="141414"/>
          </a:solidFill>
          <a:ln w="15875">
            <a:solidFill>
              <a:srgbClr val="EF4444"/>
            </a:solidFill>
            <a:prstDash val="solid"/>
          </a:ln>
        </p:spPr>
      </p:sp>
      <p:sp>
        <p:nvSpPr>
          <p:cNvPr id="10" name="Text 8"/>
          <p:cNvSpPr txBox="1"/>
          <p:nvPr/>
        </p:nvSpPr>
        <p:spPr>
          <a:xfrm>
            <a:off x="2596896" y="1874520"/>
            <a:ext cx="1472184" cy="365760"/>
          </a:xfrm>
          <a:prstGeom prst="rect">
            <a:avLst/>
          </a:prstGeom>
          <a:noFill/>
          <a:ln/>
        </p:spPr>
        <p:txBody>
          <a:bodyPr wrap="square" lIns="0" tIns="0" rIns="0" bIns="0" rtlCol="0" anchor="ctr"/>
          <a:lstStyle/>
          <a:p>
            <a:pPr indent="0" marL="0">
              <a:buNone/>
            </a:pPr>
            <a:r>
              <a:rPr lang="en-US" sz="1700" b="1" dirty="0">
                <a:solidFill>
                  <a:srgbClr val="EF4444"/>
                </a:solidFill>
                <a:latin typeface="Cambria" pitchFamily="34" charset="0"/>
                <a:ea typeface="Cambria" pitchFamily="34" charset="-122"/>
                <a:cs typeface="Cambria" pitchFamily="34" charset="-120"/>
              </a:rPr>
              <a:t>02</a:t>
            </a:r>
            <a:endParaRPr lang="en-US" sz="1700" dirty="0"/>
          </a:p>
        </p:txBody>
      </p:sp>
      <p:sp>
        <p:nvSpPr>
          <p:cNvPr id="11" name="Text 9"/>
          <p:cNvSpPr txBox="1"/>
          <p:nvPr/>
        </p:nvSpPr>
        <p:spPr>
          <a:xfrm>
            <a:off x="2596896" y="2286000"/>
            <a:ext cx="1472184" cy="320040"/>
          </a:xfrm>
          <a:prstGeom prst="rect">
            <a:avLst/>
          </a:prstGeom>
          <a:noFill/>
          <a:ln/>
        </p:spPr>
        <p:txBody>
          <a:bodyPr wrap="square" lIns="0" tIns="0" rIns="0" bIns="0" rtlCol="0" anchor="ctr"/>
          <a:lstStyle/>
          <a:p>
            <a:pPr indent="0" marL="0">
              <a:buNone/>
            </a:pPr>
            <a:r>
              <a:rPr lang="en-US" sz="1300" b="1" dirty="0">
                <a:solidFill>
                  <a:srgbClr val="F5F5F5"/>
                </a:solidFill>
                <a:latin typeface="Calibri" pitchFamily="34" charset="0"/>
                <a:ea typeface="Calibri" pitchFamily="34" charset="-122"/>
                <a:cs typeface="Calibri" pitchFamily="34" charset="-120"/>
              </a:rPr>
              <a:t>EDA</a:t>
            </a:r>
            <a:endParaRPr lang="en-US" sz="1300" dirty="0"/>
          </a:p>
        </p:txBody>
      </p:sp>
      <p:sp>
        <p:nvSpPr>
          <p:cNvPr id="12" name="Text 10"/>
          <p:cNvSpPr txBox="1"/>
          <p:nvPr/>
        </p:nvSpPr>
        <p:spPr>
          <a:xfrm>
            <a:off x="2596896" y="2633472"/>
            <a:ext cx="1472184" cy="457200"/>
          </a:xfrm>
          <a:prstGeom prst="rect">
            <a:avLst/>
          </a:prstGeom>
          <a:noFill/>
          <a:ln/>
        </p:spPr>
        <p:txBody>
          <a:bodyPr wrap="square" lIns="0" tIns="0" rIns="0" bIns="0" rtlCol="0" anchor="ctr"/>
          <a:lstStyle/>
          <a:p>
            <a:pPr indent="0" marL="0">
              <a:lnSpc>
                <a:spcPct val="110000"/>
              </a:lnSpc>
              <a:buNone/>
            </a:pPr>
            <a:r>
              <a:rPr lang="en-US" sz="850" dirty="0">
                <a:solidFill>
                  <a:srgbClr val="9A9A9A"/>
                </a:solidFill>
                <a:latin typeface="Courier New" pitchFamily="34" charset="0"/>
                <a:ea typeface="Courier New" pitchFamily="34" charset="-122"/>
                <a:cs typeface="Courier New" pitchFamily="34" charset="-120"/>
              </a:rPr>
              <a:t>eda.py</a:t>
            </a:r>
            <a:endParaRPr lang="en-US" sz="850" dirty="0"/>
          </a:p>
        </p:txBody>
      </p:sp>
      <p:sp>
        <p:nvSpPr>
          <p:cNvPr id="13" name="Text 11"/>
          <p:cNvSpPr txBox="1"/>
          <p:nvPr/>
        </p:nvSpPr>
        <p:spPr>
          <a:xfrm>
            <a:off x="4160520" y="2221992"/>
            <a:ext cx="320040" cy="457200"/>
          </a:xfrm>
          <a:prstGeom prst="rect">
            <a:avLst/>
          </a:prstGeom>
          <a:noFill/>
          <a:ln/>
        </p:spPr>
        <p:txBody>
          <a:bodyPr wrap="square" lIns="0" tIns="0" rIns="0" bIns="0" rtlCol="0" anchor="ctr"/>
          <a:lstStyle/>
          <a:p>
            <a:pPr algn="ctr" indent="0" marL="0">
              <a:buNone/>
            </a:pPr>
            <a:r>
              <a:rPr lang="en-US" sz="1800" dirty="0">
                <a:solidFill>
                  <a:srgbClr val="6B6B6B"/>
                </a:solidFill>
                <a:latin typeface="Calibri" pitchFamily="34" charset="0"/>
                <a:ea typeface="Calibri" pitchFamily="34" charset="-122"/>
                <a:cs typeface="Calibri" pitchFamily="34" charset="-120"/>
              </a:rPr>
              <a:t>→</a:t>
            </a:r>
            <a:endParaRPr lang="en-US" sz="1800" dirty="0"/>
          </a:p>
        </p:txBody>
      </p:sp>
      <p:sp>
        <p:nvSpPr>
          <p:cNvPr id="14" name="Shape 12"/>
          <p:cNvSpPr/>
          <p:nvPr/>
        </p:nvSpPr>
        <p:spPr>
          <a:xfrm>
            <a:off x="4334256" y="1783080"/>
            <a:ext cx="1691640" cy="1371600"/>
          </a:xfrm>
          <a:prstGeom prst="roundRect">
            <a:avLst>
              <a:gd name="adj" fmla="val 5333"/>
            </a:avLst>
          </a:prstGeom>
          <a:solidFill>
            <a:srgbClr val="141414"/>
          </a:solidFill>
          <a:ln w="15875">
            <a:solidFill>
              <a:srgbClr val="7C3AED"/>
            </a:solidFill>
            <a:prstDash val="solid"/>
          </a:ln>
        </p:spPr>
      </p:sp>
      <p:sp>
        <p:nvSpPr>
          <p:cNvPr id="15" name="Text 13"/>
          <p:cNvSpPr txBox="1"/>
          <p:nvPr/>
        </p:nvSpPr>
        <p:spPr>
          <a:xfrm>
            <a:off x="4443984" y="1874520"/>
            <a:ext cx="1472184" cy="365760"/>
          </a:xfrm>
          <a:prstGeom prst="rect">
            <a:avLst/>
          </a:prstGeom>
          <a:noFill/>
          <a:ln/>
        </p:spPr>
        <p:txBody>
          <a:bodyPr wrap="square" lIns="0" tIns="0" rIns="0" bIns="0" rtlCol="0" anchor="ctr"/>
          <a:lstStyle/>
          <a:p>
            <a:pPr indent="0" marL="0">
              <a:buNone/>
            </a:pPr>
            <a:r>
              <a:rPr lang="en-US" sz="1700" b="1" dirty="0">
                <a:solidFill>
                  <a:srgbClr val="7C3AED"/>
                </a:solidFill>
                <a:latin typeface="Cambria" pitchFamily="34" charset="0"/>
                <a:ea typeface="Cambria" pitchFamily="34" charset="-122"/>
                <a:cs typeface="Cambria" pitchFamily="34" charset="-120"/>
              </a:rPr>
              <a:t>03</a:t>
            </a:r>
            <a:endParaRPr lang="en-US" sz="1700" dirty="0"/>
          </a:p>
        </p:txBody>
      </p:sp>
      <p:sp>
        <p:nvSpPr>
          <p:cNvPr id="16" name="Text 14"/>
          <p:cNvSpPr txBox="1"/>
          <p:nvPr/>
        </p:nvSpPr>
        <p:spPr>
          <a:xfrm>
            <a:off x="4443984" y="2286000"/>
            <a:ext cx="1472184" cy="320040"/>
          </a:xfrm>
          <a:prstGeom prst="rect">
            <a:avLst/>
          </a:prstGeom>
          <a:noFill/>
          <a:ln/>
        </p:spPr>
        <p:txBody>
          <a:bodyPr wrap="square" lIns="0" tIns="0" rIns="0" bIns="0" rtlCol="0" anchor="ctr"/>
          <a:lstStyle/>
          <a:p>
            <a:pPr indent="0" marL="0">
              <a:buNone/>
            </a:pPr>
            <a:r>
              <a:rPr lang="en-US" sz="1300" b="1" dirty="0">
                <a:solidFill>
                  <a:srgbClr val="F5F5F5"/>
                </a:solidFill>
                <a:latin typeface="Calibri" pitchFamily="34" charset="0"/>
                <a:ea typeface="Calibri" pitchFamily="34" charset="-122"/>
                <a:cs typeface="Calibri" pitchFamily="34" charset="-120"/>
              </a:rPr>
              <a:t>Preprocess</a:t>
            </a:r>
            <a:endParaRPr lang="en-US" sz="1300" dirty="0"/>
          </a:p>
        </p:txBody>
      </p:sp>
      <p:sp>
        <p:nvSpPr>
          <p:cNvPr id="17" name="Text 15"/>
          <p:cNvSpPr txBox="1"/>
          <p:nvPr/>
        </p:nvSpPr>
        <p:spPr>
          <a:xfrm>
            <a:off x="4443984" y="2633472"/>
            <a:ext cx="1472184" cy="457200"/>
          </a:xfrm>
          <a:prstGeom prst="rect">
            <a:avLst/>
          </a:prstGeom>
          <a:noFill/>
          <a:ln/>
        </p:spPr>
        <p:txBody>
          <a:bodyPr wrap="square" lIns="0" tIns="0" rIns="0" bIns="0" rtlCol="0" anchor="ctr"/>
          <a:lstStyle/>
          <a:p>
            <a:pPr indent="0" marL="0">
              <a:lnSpc>
                <a:spcPct val="110000"/>
              </a:lnSpc>
              <a:buNone/>
            </a:pPr>
            <a:r>
              <a:rPr lang="en-US" sz="850" dirty="0">
                <a:solidFill>
                  <a:srgbClr val="9A9A9A"/>
                </a:solidFill>
                <a:latin typeface="Courier New" pitchFamily="34" charset="0"/>
                <a:ea typeface="Courier New" pitchFamily="34" charset="-122"/>
                <a:cs typeface="Courier New" pitchFamily="34" charset="-120"/>
              </a:rPr>
              <a:t>preprocess.py</a:t>
            </a:r>
            <a:endParaRPr lang="en-US" sz="850" dirty="0"/>
          </a:p>
        </p:txBody>
      </p:sp>
      <p:sp>
        <p:nvSpPr>
          <p:cNvPr id="18" name="Text 16"/>
          <p:cNvSpPr txBox="1"/>
          <p:nvPr/>
        </p:nvSpPr>
        <p:spPr>
          <a:xfrm>
            <a:off x="6007608" y="2221992"/>
            <a:ext cx="320040" cy="457200"/>
          </a:xfrm>
          <a:prstGeom prst="rect">
            <a:avLst/>
          </a:prstGeom>
          <a:noFill/>
          <a:ln/>
        </p:spPr>
        <p:txBody>
          <a:bodyPr wrap="square" lIns="0" tIns="0" rIns="0" bIns="0" rtlCol="0" anchor="ctr"/>
          <a:lstStyle/>
          <a:p>
            <a:pPr algn="ctr" indent="0" marL="0">
              <a:buNone/>
            </a:pPr>
            <a:r>
              <a:rPr lang="en-US" sz="1800" dirty="0">
                <a:solidFill>
                  <a:srgbClr val="6B6B6B"/>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6181344" y="1783080"/>
            <a:ext cx="1691640" cy="1371600"/>
          </a:xfrm>
          <a:prstGeom prst="roundRect">
            <a:avLst>
              <a:gd name="adj" fmla="val 5333"/>
            </a:avLst>
          </a:prstGeom>
          <a:solidFill>
            <a:srgbClr val="141414"/>
          </a:solidFill>
          <a:ln w="15875">
            <a:solidFill>
              <a:srgbClr val="F59E0B"/>
            </a:solidFill>
            <a:prstDash val="solid"/>
          </a:ln>
        </p:spPr>
      </p:sp>
      <p:sp>
        <p:nvSpPr>
          <p:cNvPr id="20" name="Text 18"/>
          <p:cNvSpPr txBox="1"/>
          <p:nvPr/>
        </p:nvSpPr>
        <p:spPr>
          <a:xfrm>
            <a:off x="6291072" y="1874520"/>
            <a:ext cx="1472184" cy="365760"/>
          </a:xfrm>
          <a:prstGeom prst="rect">
            <a:avLst/>
          </a:prstGeom>
          <a:noFill/>
          <a:ln/>
        </p:spPr>
        <p:txBody>
          <a:bodyPr wrap="square" lIns="0" tIns="0" rIns="0" bIns="0" rtlCol="0" anchor="ctr"/>
          <a:lstStyle/>
          <a:p>
            <a:pPr indent="0" marL="0">
              <a:buNone/>
            </a:pPr>
            <a:r>
              <a:rPr lang="en-US" sz="1700" b="1" dirty="0">
                <a:solidFill>
                  <a:srgbClr val="F59E0B"/>
                </a:solidFill>
                <a:latin typeface="Cambria" pitchFamily="34" charset="0"/>
                <a:ea typeface="Cambria" pitchFamily="34" charset="-122"/>
                <a:cs typeface="Cambria" pitchFamily="34" charset="-120"/>
              </a:rPr>
              <a:t>04</a:t>
            </a:r>
            <a:endParaRPr lang="en-US" sz="1700" dirty="0"/>
          </a:p>
        </p:txBody>
      </p:sp>
      <p:sp>
        <p:nvSpPr>
          <p:cNvPr id="21" name="Text 19"/>
          <p:cNvSpPr txBox="1"/>
          <p:nvPr/>
        </p:nvSpPr>
        <p:spPr>
          <a:xfrm>
            <a:off x="6291072" y="2286000"/>
            <a:ext cx="1472184" cy="320040"/>
          </a:xfrm>
          <a:prstGeom prst="rect">
            <a:avLst/>
          </a:prstGeom>
          <a:noFill/>
          <a:ln/>
        </p:spPr>
        <p:txBody>
          <a:bodyPr wrap="square" lIns="0" tIns="0" rIns="0" bIns="0" rtlCol="0" anchor="ctr"/>
          <a:lstStyle/>
          <a:p>
            <a:pPr indent="0" marL="0">
              <a:buNone/>
            </a:pPr>
            <a:r>
              <a:rPr lang="en-US" sz="1300" b="1" dirty="0">
                <a:solidFill>
                  <a:srgbClr val="F5F5F5"/>
                </a:solidFill>
                <a:latin typeface="Calibri" pitchFamily="34" charset="0"/>
                <a:ea typeface="Calibri" pitchFamily="34" charset="-122"/>
                <a:cs typeface="Calibri" pitchFamily="34" charset="-120"/>
              </a:rPr>
              <a:t>Train</a:t>
            </a:r>
            <a:endParaRPr lang="en-US" sz="1300" dirty="0"/>
          </a:p>
        </p:txBody>
      </p:sp>
      <p:sp>
        <p:nvSpPr>
          <p:cNvPr id="22" name="Text 20"/>
          <p:cNvSpPr txBox="1"/>
          <p:nvPr/>
        </p:nvSpPr>
        <p:spPr>
          <a:xfrm>
            <a:off x="6291072" y="2633472"/>
            <a:ext cx="1472184" cy="457200"/>
          </a:xfrm>
          <a:prstGeom prst="rect">
            <a:avLst/>
          </a:prstGeom>
          <a:noFill/>
          <a:ln/>
        </p:spPr>
        <p:txBody>
          <a:bodyPr wrap="square" lIns="0" tIns="0" rIns="0" bIns="0" rtlCol="0" anchor="ctr"/>
          <a:lstStyle/>
          <a:p>
            <a:pPr indent="0" marL="0">
              <a:lnSpc>
                <a:spcPct val="110000"/>
              </a:lnSpc>
              <a:buNone/>
            </a:pPr>
            <a:r>
              <a:rPr lang="en-US" sz="850" dirty="0">
                <a:solidFill>
                  <a:srgbClr val="9A9A9A"/>
                </a:solidFill>
                <a:latin typeface="Courier New" pitchFamily="34" charset="0"/>
                <a:ea typeface="Courier New" pitchFamily="34" charset="-122"/>
                <a:cs typeface="Courier New" pitchFamily="34" charset="-120"/>
              </a:rPr>
              <a:t>train.py</a:t>
            </a:r>
            <a:endParaRPr lang="en-US" sz="850" dirty="0"/>
          </a:p>
        </p:txBody>
      </p:sp>
      <p:sp>
        <p:nvSpPr>
          <p:cNvPr id="23" name="Text 21"/>
          <p:cNvSpPr txBox="1"/>
          <p:nvPr/>
        </p:nvSpPr>
        <p:spPr>
          <a:xfrm>
            <a:off x="7854696" y="2221992"/>
            <a:ext cx="320040" cy="457200"/>
          </a:xfrm>
          <a:prstGeom prst="rect">
            <a:avLst/>
          </a:prstGeom>
          <a:noFill/>
          <a:ln/>
        </p:spPr>
        <p:txBody>
          <a:bodyPr wrap="square" lIns="0" tIns="0" rIns="0" bIns="0" rtlCol="0" anchor="ctr"/>
          <a:lstStyle/>
          <a:p>
            <a:pPr algn="ctr" indent="0" marL="0">
              <a:buNone/>
            </a:pPr>
            <a:r>
              <a:rPr lang="en-US" sz="1800" dirty="0">
                <a:solidFill>
                  <a:srgbClr val="6B6B6B"/>
                </a:solidFill>
                <a:latin typeface="Calibri" pitchFamily="34" charset="0"/>
                <a:ea typeface="Calibri" pitchFamily="34" charset="-122"/>
                <a:cs typeface="Calibri" pitchFamily="34" charset="-120"/>
              </a:rPr>
              <a:t>→</a:t>
            </a:r>
            <a:endParaRPr lang="en-US" sz="1800" dirty="0"/>
          </a:p>
        </p:txBody>
      </p:sp>
      <p:sp>
        <p:nvSpPr>
          <p:cNvPr id="24" name="Shape 22"/>
          <p:cNvSpPr/>
          <p:nvPr/>
        </p:nvSpPr>
        <p:spPr>
          <a:xfrm>
            <a:off x="8028432" y="1783080"/>
            <a:ext cx="1691640" cy="1371600"/>
          </a:xfrm>
          <a:prstGeom prst="roundRect">
            <a:avLst>
              <a:gd name="adj" fmla="val 5333"/>
            </a:avLst>
          </a:prstGeom>
          <a:solidFill>
            <a:srgbClr val="141414"/>
          </a:solidFill>
          <a:ln w="15875">
            <a:solidFill>
              <a:srgbClr val="10B981"/>
            </a:solidFill>
            <a:prstDash val="solid"/>
          </a:ln>
        </p:spPr>
      </p:sp>
      <p:sp>
        <p:nvSpPr>
          <p:cNvPr id="25" name="Text 23"/>
          <p:cNvSpPr txBox="1"/>
          <p:nvPr/>
        </p:nvSpPr>
        <p:spPr>
          <a:xfrm>
            <a:off x="8138160" y="1874520"/>
            <a:ext cx="1472184" cy="365760"/>
          </a:xfrm>
          <a:prstGeom prst="rect">
            <a:avLst/>
          </a:prstGeom>
          <a:noFill/>
          <a:ln/>
        </p:spPr>
        <p:txBody>
          <a:bodyPr wrap="square" lIns="0" tIns="0" rIns="0" bIns="0" rtlCol="0" anchor="ctr"/>
          <a:lstStyle/>
          <a:p>
            <a:pPr indent="0" marL="0">
              <a:buNone/>
            </a:pPr>
            <a:r>
              <a:rPr lang="en-US" sz="1700" b="1" dirty="0">
                <a:solidFill>
                  <a:srgbClr val="10B981"/>
                </a:solidFill>
                <a:latin typeface="Cambria" pitchFamily="34" charset="0"/>
                <a:ea typeface="Cambria" pitchFamily="34" charset="-122"/>
                <a:cs typeface="Cambria" pitchFamily="34" charset="-120"/>
              </a:rPr>
              <a:t>05</a:t>
            </a:r>
            <a:endParaRPr lang="en-US" sz="1700" dirty="0"/>
          </a:p>
        </p:txBody>
      </p:sp>
      <p:sp>
        <p:nvSpPr>
          <p:cNvPr id="26" name="Text 24"/>
          <p:cNvSpPr txBox="1"/>
          <p:nvPr/>
        </p:nvSpPr>
        <p:spPr>
          <a:xfrm>
            <a:off x="8138160" y="2286000"/>
            <a:ext cx="1472184" cy="320040"/>
          </a:xfrm>
          <a:prstGeom prst="rect">
            <a:avLst/>
          </a:prstGeom>
          <a:noFill/>
          <a:ln/>
        </p:spPr>
        <p:txBody>
          <a:bodyPr wrap="square" lIns="0" tIns="0" rIns="0" bIns="0" rtlCol="0" anchor="ctr"/>
          <a:lstStyle/>
          <a:p>
            <a:pPr indent="0" marL="0">
              <a:buNone/>
            </a:pPr>
            <a:r>
              <a:rPr lang="en-US" sz="1300" b="1" dirty="0">
                <a:solidFill>
                  <a:srgbClr val="F5F5F5"/>
                </a:solidFill>
                <a:latin typeface="Calibri" pitchFamily="34" charset="0"/>
                <a:ea typeface="Calibri" pitchFamily="34" charset="-122"/>
                <a:cs typeface="Calibri" pitchFamily="34" charset="-120"/>
              </a:rPr>
              <a:t>Evaluate</a:t>
            </a:r>
            <a:endParaRPr lang="en-US" sz="1300" dirty="0"/>
          </a:p>
        </p:txBody>
      </p:sp>
      <p:sp>
        <p:nvSpPr>
          <p:cNvPr id="27" name="Text 25"/>
          <p:cNvSpPr txBox="1"/>
          <p:nvPr/>
        </p:nvSpPr>
        <p:spPr>
          <a:xfrm>
            <a:off x="8138160" y="2633472"/>
            <a:ext cx="1472184" cy="457200"/>
          </a:xfrm>
          <a:prstGeom prst="rect">
            <a:avLst/>
          </a:prstGeom>
          <a:noFill/>
          <a:ln/>
        </p:spPr>
        <p:txBody>
          <a:bodyPr wrap="square" lIns="0" tIns="0" rIns="0" bIns="0" rtlCol="0" anchor="ctr"/>
          <a:lstStyle/>
          <a:p>
            <a:pPr indent="0" marL="0">
              <a:lnSpc>
                <a:spcPct val="110000"/>
              </a:lnSpc>
              <a:buNone/>
            </a:pPr>
            <a:r>
              <a:rPr lang="en-US" sz="850" dirty="0">
                <a:solidFill>
                  <a:srgbClr val="9A9A9A"/>
                </a:solidFill>
                <a:latin typeface="Courier New" pitchFamily="34" charset="0"/>
                <a:ea typeface="Courier New" pitchFamily="34" charset="-122"/>
                <a:cs typeface="Courier New" pitchFamily="34" charset="-120"/>
              </a:rPr>
              <a:t>evaluate.py</a:t>
            </a:r>
            <a:endParaRPr lang="en-US" sz="850" dirty="0"/>
          </a:p>
        </p:txBody>
      </p:sp>
      <p:sp>
        <p:nvSpPr>
          <p:cNvPr id="28" name="Text 26"/>
          <p:cNvSpPr txBox="1"/>
          <p:nvPr/>
        </p:nvSpPr>
        <p:spPr>
          <a:xfrm>
            <a:off x="9701784" y="2221992"/>
            <a:ext cx="320040" cy="457200"/>
          </a:xfrm>
          <a:prstGeom prst="rect">
            <a:avLst/>
          </a:prstGeom>
          <a:noFill/>
          <a:ln/>
        </p:spPr>
        <p:txBody>
          <a:bodyPr wrap="square" lIns="0" tIns="0" rIns="0" bIns="0" rtlCol="0" anchor="ctr"/>
          <a:lstStyle/>
          <a:p>
            <a:pPr algn="ctr" indent="0" marL="0">
              <a:buNone/>
            </a:pPr>
            <a:r>
              <a:rPr lang="en-US" sz="1800" dirty="0">
                <a:solidFill>
                  <a:srgbClr val="6B6B6B"/>
                </a:solidFill>
                <a:latin typeface="Calibri" pitchFamily="34" charset="0"/>
                <a:ea typeface="Calibri" pitchFamily="34" charset="-122"/>
                <a:cs typeface="Calibri" pitchFamily="34" charset="-120"/>
              </a:rPr>
              <a:t>→</a:t>
            </a:r>
            <a:endParaRPr lang="en-US" sz="1800" dirty="0"/>
          </a:p>
        </p:txBody>
      </p:sp>
      <p:sp>
        <p:nvSpPr>
          <p:cNvPr id="29" name="Shape 27"/>
          <p:cNvSpPr/>
          <p:nvPr/>
        </p:nvSpPr>
        <p:spPr>
          <a:xfrm>
            <a:off x="9875520" y="1783080"/>
            <a:ext cx="1691640" cy="1371600"/>
          </a:xfrm>
          <a:prstGeom prst="roundRect">
            <a:avLst>
              <a:gd name="adj" fmla="val 5333"/>
            </a:avLst>
          </a:prstGeom>
          <a:solidFill>
            <a:srgbClr val="141414"/>
          </a:solidFill>
          <a:ln w="15875">
            <a:solidFill>
              <a:srgbClr val="EF4444"/>
            </a:solidFill>
            <a:prstDash val="solid"/>
          </a:ln>
        </p:spPr>
      </p:sp>
      <p:sp>
        <p:nvSpPr>
          <p:cNvPr id="30" name="Text 28"/>
          <p:cNvSpPr txBox="1"/>
          <p:nvPr/>
        </p:nvSpPr>
        <p:spPr>
          <a:xfrm>
            <a:off x="9985248" y="1874520"/>
            <a:ext cx="1472184" cy="365760"/>
          </a:xfrm>
          <a:prstGeom prst="rect">
            <a:avLst/>
          </a:prstGeom>
          <a:noFill/>
          <a:ln/>
        </p:spPr>
        <p:txBody>
          <a:bodyPr wrap="square" lIns="0" tIns="0" rIns="0" bIns="0" rtlCol="0" anchor="ctr"/>
          <a:lstStyle/>
          <a:p>
            <a:pPr indent="0" marL="0">
              <a:buNone/>
            </a:pPr>
            <a:r>
              <a:rPr lang="en-US" sz="1700" b="1" dirty="0">
                <a:solidFill>
                  <a:srgbClr val="EF4444"/>
                </a:solidFill>
                <a:latin typeface="Cambria" pitchFamily="34" charset="0"/>
                <a:ea typeface="Cambria" pitchFamily="34" charset="-122"/>
                <a:cs typeface="Cambria" pitchFamily="34" charset="-120"/>
              </a:rPr>
              <a:t>06</a:t>
            </a:r>
            <a:endParaRPr lang="en-US" sz="1700" dirty="0"/>
          </a:p>
        </p:txBody>
      </p:sp>
      <p:sp>
        <p:nvSpPr>
          <p:cNvPr id="31" name="Text 29"/>
          <p:cNvSpPr txBox="1"/>
          <p:nvPr/>
        </p:nvSpPr>
        <p:spPr>
          <a:xfrm>
            <a:off x="9985248" y="2286000"/>
            <a:ext cx="1472184" cy="320040"/>
          </a:xfrm>
          <a:prstGeom prst="rect">
            <a:avLst/>
          </a:prstGeom>
          <a:noFill/>
          <a:ln/>
        </p:spPr>
        <p:txBody>
          <a:bodyPr wrap="square" lIns="0" tIns="0" rIns="0" bIns="0" rtlCol="0" anchor="ctr"/>
          <a:lstStyle/>
          <a:p>
            <a:pPr indent="0" marL="0">
              <a:buNone/>
            </a:pPr>
            <a:r>
              <a:rPr lang="en-US" sz="1300" b="1" dirty="0">
                <a:solidFill>
                  <a:srgbClr val="F5F5F5"/>
                </a:solidFill>
                <a:latin typeface="Calibri" pitchFamily="34" charset="0"/>
                <a:ea typeface="Calibri" pitchFamily="34" charset="-122"/>
                <a:cs typeface="Calibri" pitchFamily="34" charset="-120"/>
              </a:rPr>
              <a:t>Serve</a:t>
            </a:r>
            <a:endParaRPr lang="en-US" sz="1300" dirty="0"/>
          </a:p>
        </p:txBody>
      </p:sp>
      <p:sp>
        <p:nvSpPr>
          <p:cNvPr id="32" name="Text 30"/>
          <p:cNvSpPr txBox="1"/>
          <p:nvPr/>
        </p:nvSpPr>
        <p:spPr>
          <a:xfrm>
            <a:off x="9985248" y="2633472"/>
            <a:ext cx="1472184" cy="457200"/>
          </a:xfrm>
          <a:prstGeom prst="rect">
            <a:avLst/>
          </a:prstGeom>
          <a:noFill/>
          <a:ln/>
        </p:spPr>
        <p:txBody>
          <a:bodyPr wrap="square" lIns="0" tIns="0" rIns="0" bIns="0" rtlCol="0" anchor="ctr"/>
          <a:lstStyle/>
          <a:p>
            <a:pPr indent="0" marL="0">
              <a:lnSpc>
                <a:spcPct val="110000"/>
              </a:lnSpc>
              <a:buNone/>
            </a:pPr>
            <a:r>
              <a:rPr lang="en-US" sz="850" dirty="0">
                <a:solidFill>
                  <a:srgbClr val="9A9A9A"/>
                </a:solidFill>
                <a:latin typeface="Courier New" pitchFamily="34" charset="0"/>
                <a:ea typeface="Courier New" pitchFamily="34" charset="-122"/>
                <a:cs typeface="Courier New" pitchFamily="34" charset="-120"/>
              </a:rPr>
              <a:t>predict.py + FastAPI + Streamlit</a:t>
            </a:r>
            <a:endParaRPr lang="en-US" sz="850" dirty="0"/>
          </a:p>
        </p:txBody>
      </p:sp>
      <p:sp>
        <p:nvSpPr>
          <p:cNvPr id="33" name="Text 31"/>
          <p:cNvSpPr txBox="1"/>
          <p:nvPr/>
        </p:nvSpPr>
        <p:spPr>
          <a:xfrm>
            <a:off x="640080" y="3429000"/>
            <a:ext cx="9144000" cy="320040"/>
          </a:xfrm>
          <a:prstGeom prst="rect">
            <a:avLst/>
          </a:prstGeom>
          <a:noFill/>
          <a:ln/>
        </p:spPr>
        <p:txBody>
          <a:bodyPr wrap="square" lIns="0" tIns="0" rIns="0" bIns="0" rtlCol="0" anchor="ctr"/>
          <a:lstStyle/>
          <a:p>
            <a:pPr indent="0" marL="0">
              <a:buNone/>
            </a:pPr>
            <a:r>
              <a:rPr lang="en-US" sz="1200" b="1" spc="150" kern="0" dirty="0">
                <a:solidFill>
                  <a:srgbClr val="EF4444"/>
                </a:solidFill>
                <a:latin typeface="Calibri" pitchFamily="34" charset="0"/>
                <a:ea typeface="Calibri" pitchFamily="34" charset="-122"/>
                <a:cs typeface="Calibri" pitchFamily="34" charset="-120"/>
              </a:rPr>
              <a:t>KEY DESIGN PRINCIPLE — NO DATA LEAKAGE</a:t>
            </a:r>
            <a:endParaRPr lang="en-US" sz="1200" dirty="0"/>
          </a:p>
        </p:txBody>
      </p:sp>
      <p:sp>
        <p:nvSpPr>
          <p:cNvPr id="34" name="Shape 32"/>
          <p:cNvSpPr/>
          <p:nvPr/>
        </p:nvSpPr>
        <p:spPr>
          <a:xfrm>
            <a:off x="640080" y="3794760"/>
            <a:ext cx="5257800" cy="2331720"/>
          </a:xfrm>
          <a:prstGeom prst="roundRect">
            <a:avLst>
              <a:gd name="adj" fmla="val 3529"/>
            </a:avLst>
          </a:prstGeom>
          <a:solidFill>
            <a:srgbClr val="1A0A0A"/>
          </a:solidFill>
          <a:ln w="12700">
            <a:solidFill>
              <a:srgbClr val="4A1E1E"/>
            </a:solidFill>
            <a:prstDash val="solid"/>
          </a:ln>
        </p:spPr>
      </p:sp>
      <p:sp>
        <p:nvSpPr>
          <p:cNvPr id="35" name="Text 33"/>
          <p:cNvSpPr txBox="1"/>
          <p:nvPr/>
        </p:nvSpPr>
        <p:spPr>
          <a:xfrm>
            <a:off x="914400" y="3977640"/>
            <a:ext cx="4572000" cy="274320"/>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  WRONG</a:t>
            </a:r>
            <a:endParaRPr lang="en-US" sz="1200" dirty="0"/>
          </a:p>
        </p:txBody>
      </p:sp>
      <p:sp>
        <p:nvSpPr>
          <p:cNvPr id="36" name="Text 34"/>
          <p:cNvSpPr txBox="1"/>
          <p:nvPr/>
        </p:nvSpPr>
        <p:spPr>
          <a:xfrm>
            <a:off x="914400" y="4297680"/>
            <a:ext cx="4709160" cy="365760"/>
          </a:xfrm>
          <a:prstGeom prst="rect">
            <a:avLst/>
          </a:prstGeom>
          <a:noFill/>
          <a:ln/>
        </p:spPr>
        <p:txBody>
          <a:bodyPr wrap="square" lIns="0" tIns="0" rIns="0" bIns="0" rtlCol="0" anchor="ctr"/>
          <a:lstStyle/>
          <a:p>
            <a:pPr indent="0" marL="0">
              <a:buNone/>
            </a:pPr>
            <a:r>
              <a:rPr lang="en-US" sz="1150" dirty="0">
                <a:solidFill>
                  <a:srgbClr val="F5B5B5"/>
                </a:solidFill>
                <a:latin typeface="Courier New" pitchFamily="34" charset="0"/>
                <a:ea typeface="Courier New" pitchFamily="34" charset="-122"/>
                <a:cs typeface="Courier New" pitchFamily="34" charset="-120"/>
              </a:rPr>
              <a:t>full_data → SMOTE → split → train/test</a:t>
            </a:r>
            <a:endParaRPr lang="en-US" sz="1150" dirty="0"/>
          </a:p>
        </p:txBody>
      </p:sp>
      <p:sp>
        <p:nvSpPr>
          <p:cNvPr id="37" name="Text 35"/>
          <p:cNvSpPr txBox="1"/>
          <p:nvPr/>
        </p:nvSpPr>
        <p:spPr>
          <a:xfrm>
            <a:off x="914400" y="4709160"/>
            <a:ext cx="4709160" cy="1280160"/>
          </a:xfrm>
          <a:prstGeom prst="rect">
            <a:avLst/>
          </a:prstGeom>
          <a:noFill/>
          <a:ln/>
        </p:spPr>
        <p:txBody>
          <a:bodyPr wrap="square" lIns="0" tIns="0" rIns="0" bIns="0" rtlCol="0" anchor="ctr"/>
          <a:lstStyle/>
          <a:p>
            <a:pPr indent="0" marL="0">
              <a:lnSpc>
                <a:spcPct val="120000"/>
              </a:lnSpc>
              <a:buNone/>
            </a:pPr>
            <a:r>
              <a:rPr lang="en-US" sz="1050" dirty="0">
                <a:solidFill>
                  <a:srgbClr val="CC9999"/>
                </a:solidFill>
                <a:latin typeface="Calibri" pitchFamily="34" charset="0"/>
                <a:ea typeface="Calibri" pitchFamily="34" charset="-122"/>
                <a:cs typeface="Calibri" pitchFamily="34" charset="-120"/>
              </a:rPr>
              <a:t>Synthetic fraud samples bleed into the test set — metrics look great but are meaningless in production.</a:t>
            </a:r>
            <a:endParaRPr lang="en-US" sz="1050" dirty="0"/>
          </a:p>
        </p:txBody>
      </p:sp>
      <p:sp>
        <p:nvSpPr>
          <p:cNvPr id="38" name="Shape 36"/>
          <p:cNvSpPr/>
          <p:nvPr/>
        </p:nvSpPr>
        <p:spPr>
          <a:xfrm>
            <a:off x="6291072" y="3794760"/>
            <a:ext cx="5257800" cy="2331720"/>
          </a:xfrm>
          <a:prstGeom prst="roundRect">
            <a:avLst>
              <a:gd name="adj" fmla="val 3529"/>
            </a:avLst>
          </a:prstGeom>
          <a:solidFill>
            <a:srgbClr val="0A1A0E"/>
          </a:solidFill>
          <a:ln w="12700">
            <a:solidFill>
              <a:srgbClr val="1E4A2E"/>
            </a:solidFill>
            <a:prstDash val="solid"/>
          </a:ln>
        </p:spPr>
      </p:sp>
      <p:sp>
        <p:nvSpPr>
          <p:cNvPr id="39" name="Text 37"/>
          <p:cNvSpPr txBox="1"/>
          <p:nvPr/>
        </p:nvSpPr>
        <p:spPr>
          <a:xfrm>
            <a:off x="6565392" y="3977640"/>
            <a:ext cx="475488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  CORRECT (this project)</a:t>
            </a:r>
            <a:endParaRPr lang="en-US" sz="1200" dirty="0"/>
          </a:p>
        </p:txBody>
      </p:sp>
      <p:sp>
        <p:nvSpPr>
          <p:cNvPr id="40" name="Text 38"/>
          <p:cNvSpPr txBox="1"/>
          <p:nvPr/>
        </p:nvSpPr>
        <p:spPr>
          <a:xfrm>
            <a:off x="6565392" y="4297680"/>
            <a:ext cx="4846320" cy="594360"/>
          </a:xfrm>
          <a:prstGeom prst="rect">
            <a:avLst/>
          </a:prstGeom>
          <a:noFill/>
          <a:ln/>
        </p:spPr>
        <p:txBody>
          <a:bodyPr wrap="square" lIns="0" tIns="0" rIns="0" bIns="0" rtlCol="0" anchor="ctr"/>
          <a:lstStyle/>
          <a:p>
            <a:pPr indent="0" marL="0">
              <a:lnSpc>
                <a:spcPct val="115000"/>
              </a:lnSpc>
              <a:buNone/>
            </a:pPr>
            <a:r>
              <a:rPr lang="en-US" sz="1150" dirty="0">
                <a:solidFill>
                  <a:srgbClr val="B5F5C9"/>
                </a:solidFill>
                <a:latin typeface="Courier New" pitchFamily="34" charset="0"/>
                <a:ea typeface="Courier New" pitchFamily="34" charset="-122"/>
                <a:cs typeface="Courier New" pitchFamily="34" charset="-120"/>
              </a:rPr>
              <a:t>full_data → split → SMOTE(train only) → train → evaluate on raw test</a:t>
            </a:r>
            <a:endParaRPr lang="en-US" sz="1150" dirty="0"/>
          </a:p>
        </p:txBody>
      </p:sp>
      <p:sp>
        <p:nvSpPr>
          <p:cNvPr id="41" name="Text 39"/>
          <p:cNvSpPr txBox="1"/>
          <p:nvPr/>
        </p:nvSpPr>
        <p:spPr>
          <a:xfrm>
            <a:off x="6565392" y="4956048"/>
            <a:ext cx="4846320" cy="1051560"/>
          </a:xfrm>
          <a:prstGeom prst="rect">
            <a:avLst/>
          </a:prstGeom>
          <a:noFill/>
          <a:ln/>
        </p:spPr>
        <p:txBody>
          <a:bodyPr wrap="square" lIns="0" tIns="0" rIns="0" bIns="0" rtlCol="0" anchor="ctr"/>
          <a:lstStyle/>
          <a:p>
            <a:pPr indent="0" marL="0">
              <a:lnSpc>
                <a:spcPct val="120000"/>
              </a:lnSpc>
              <a:buNone/>
            </a:pPr>
            <a:r>
              <a:rPr lang="en-US" sz="1050" dirty="0">
                <a:solidFill>
                  <a:srgbClr val="99CC99"/>
                </a:solidFill>
                <a:latin typeface="Calibri" pitchFamily="34" charset="0"/>
                <a:ea typeface="Calibri" pitchFamily="34" charset="-122"/>
                <a:cs typeface="Calibri" pitchFamily="34" charset="-120"/>
              </a:rPr>
              <a:t>SMOTE lives inside an ImbPipeline, refit fresh on every CV fold's training portion — the test set (and validation folds) never see synthetic data.</a:t>
            </a:r>
            <a:endParaRPr lang="en-US" sz="1050" dirty="0"/>
          </a:p>
        </p:txBody>
      </p:sp>
      <p:sp>
        <p:nvSpPr>
          <p:cNvPr id="42" name="Text 40"/>
          <p:cNvSpPr txBox="1"/>
          <p:nvPr/>
        </p:nvSpPr>
        <p:spPr>
          <a:xfrm>
            <a:off x="457200" y="6528816"/>
            <a:ext cx="5486400" cy="274320"/>
          </a:xfrm>
          <a:prstGeom prst="rect">
            <a:avLst/>
          </a:prstGeom>
          <a:noFill/>
          <a:ln/>
        </p:spPr>
        <p:txBody>
          <a:bodyPr wrap="square" lIns="0" tIns="0" rIns="0" bIns="0" rtlCol="0" anchor="ctr"/>
          <a:lstStyle/>
          <a:p>
            <a:pPr indent="0" marL="0">
              <a:buNone/>
            </a:pPr>
            <a:r>
              <a:rPr lang="en-US" sz="800" spc="200" kern="0" dirty="0">
                <a:solidFill>
                  <a:srgbClr val="6B6B6B"/>
                </a:solidFill>
                <a:latin typeface="Calibri" pitchFamily="34" charset="0"/>
                <a:ea typeface="Calibri" pitchFamily="34" charset="-122"/>
                <a:cs typeface="Calibri" pitchFamily="34" charset="-120"/>
              </a:rPr>
              <a:t>CREDIT CARD FRAUD DETECTION</a:t>
            </a:r>
            <a:endParaRPr lang="en-US" sz="800" dirty="0"/>
          </a:p>
        </p:txBody>
      </p:sp>
      <p:sp>
        <p:nvSpPr>
          <p:cNvPr id="43" name="Text 41"/>
          <p:cNvSpPr txBox="1"/>
          <p:nvPr/>
        </p:nvSpPr>
        <p:spPr>
          <a:xfrm>
            <a:off x="11274552" y="6528816"/>
            <a:ext cx="548640" cy="274320"/>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50" b="1" spc="220" kern="0" dirty="0">
                <a:solidFill>
                  <a:srgbClr val="EF4444"/>
                </a:solidFill>
                <a:latin typeface="Calibri" pitchFamily="34" charset="0"/>
                <a:ea typeface="Calibri" pitchFamily="34" charset="-122"/>
                <a:cs typeface="Calibri" pitchFamily="34" charset="-120"/>
              </a:rPr>
              <a:t>04 · EXPLORATORY DATA ANALYSIS</a:t>
            </a:r>
            <a:endParaRPr lang="en-US" sz="1250" dirty="0"/>
          </a:p>
        </p:txBody>
      </p:sp>
      <p:sp>
        <p:nvSpPr>
          <p:cNvPr id="3" name="Text 1"/>
          <p:cNvSpPr txBox="1"/>
          <p:nvPr/>
        </p:nvSpPr>
        <p:spPr>
          <a:xfrm>
            <a:off x="640080" y="676656"/>
            <a:ext cx="9875520" cy="685800"/>
          </a:xfrm>
          <a:prstGeom prst="rect">
            <a:avLst/>
          </a:prstGeom>
          <a:noFill/>
          <a:ln/>
        </p:spPr>
        <p:txBody>
          <a:bodyPr wrap="square" lIns="0" tIns="0" rIns="0" bIns="0" rtlCol="0" anchor="ctr"/>
          <a:lstStyle/>
          <a:p>
            <a:pPr indent="0" marL="0">
              <a:buNone/>
            </a:pPr>
            <a:r>
              <a:rPr lang="en-US" sz="3000" b="1" dirty="0">
                <a:solidFill>
                  <a:srgbClr val="F5F5F5"/>
                </a:solidFill>
                <a:latin typeface="Cambria" pitchFamily="34" charset="0"/>
                <a:ea typeface="Cambria" pitchFamily="34" charset="-122"/>
                <a:cs typeface="Cambria" pitchFamily="34" charset="-120"/>
              </a:rPr>
              <a:t>Severe Class Imbalance</a:t>
            </a:r>
            <a:endParaRPr lang="en-US" sz="3000" dirty="0"/>
          </a:p>
        </p:txBody>
      </p:sp>
      <p:pic>
        <p:nvPicPr>
          <p:cNvPr id="4" name="Image 0" descr="/home/claude/deck2/images/class_distribution.png">    </p:cNvPr>
          <p:cNvPicPr>
            <a:picLocks noChangeAspect="1"/>
          </p:cNvPicPr>
          <p:nvPr/>
        </p:nvPicPr>
        <p:blipFill>
          <a:blip r:embed="rId1"/>
          <a:stretch>
            <a:fillRect/>
          </a:stretch>
        </p:blipFill>
        <p:spPr>
          <a:xfrm>
            <a:off x="640080" y="1691640"/>
            <a:ext cx="7360920" cy="3182112"/>
          </a:xfrm>
          <a:prstGeom prst="rect">
            <a:avLst/>
          </a:prstGeom>
        </p:spPr>
      </p:pic>
      <p:sp>
        <p:nvSpPr>
          <p:cNvPr id="5" name="Shape 2"/>
          <p:cNvSpPr/>
          <p:nvPr/>
        </p:nvSpPr>
        <p:spPr>
          <a:xfrm>
            <a:off x="640080" y="5074920"/>
            <a:ext cx="7360920" cy="1143000"/>
          </a:xfrm>
          <a:prstGeom prst="roundRect">
            <a:avLst>
              <a:gd name="adj" fmla="val 6400"/>
            </a:avLst>
          </a:prstGeom>
          <a:solidFill>
            <a:srgbClr val="141414"/>
          </a:solidFill>
          <a:ln w="12700">
            <a:solidFill>
              <a:srgbClr val="2A2A2A"/>
            </a:solidFill>
            <a:prstDash val="solid"/>
          </a:ln>
        </p:spPr>
      </p:sp>
      <p:sp>
        <p:nvSpPr>
          <p:cNvPr id="6" name="Text 3"/>
          <p:cNvSpPr txBox="1"/>
          <p:nvPr/>
        </p:nvSpPr>
        <p:spPr>
          <a:xfrm>
            <a:off x="914400" y="5193792"/>
            <a:ext cx="6858000" cy="914400"/>
          </a:xfrm>
          <a:prstGeom prst="rect">
            <a:avLst/>
          </a:prstGeom>
          <a:noFill/>
          <a:ln/>
        </p:spPr>
        <p:txBody>
          <a:bodyPr wrap="square" lIns="0" tIns="0" rIns="0" bIns="0" rtlCol="0" anchor="ctr"/>
          <a:lstStyle/>
          <a:p>
            <a:pPr indent="0" marL="0">
              <a:lnSpc>
                <a:spcPct val="120000"/>
              </a:lnSpc>
              <a:buNone/>
            </a:pPr>
            <a:r>
              <a:rPr lang="en-US" sz="1150" dirty="0">
                <a:solidFill>
                  <a:srgbClr val="D0D0D0"/>
                </a:solidFill>
                <a:latin typeface="Calibri" pitchFamily="34" charset="0"/>
                <a:ea typeface="Calibri" pitchFamily="34" charset="-122"/>
                <a:cs typeface="Calibri" pitchFamily="34" charset="-120"/>
              </a:rPr>
              <a:t>Ratio: roughly 1 fraudulent transaction for every 578 legitimate ones — the log-scale chart on the right makes the 492 fraud cases visible at all.</a:t>
            </a:r>
            <a:endParaRPr lang="en-US" sz="1150" dirty="0"/>
          </a:p>
        </p:txBody>
      </p:sp>
      <p:sp>
        <p:nvSpPr>
          <p:cNvPr id="7" name="Shape 4"/>
          <p:cNvSpPr/>
          <p:nvPr/>
        </p:nvSpPr>
        <p:spPr>
          <a:xfrm>
            <a:off x="8183880" y="1508760"/>
            <a:ext cx="3364992" cy="4709160"/>
          </a:xfrm>
          <a:prstGeom prst="roundRect">
            <a:avLst>
              <a:gd name="adj" fmla="val 2446"/>
            </a:avLst>
          </a:prstGeom>
          <a:solidFill>
            <a:srgbClr val="141414"/>
          </a:solidFill>
          <a:ln w="12700">
            <a:solidFill>
              <a:srgbClr val="2A2A2A"/>
            </a:solidFill>
            <a:prstDash val="solid"/>
          </a:ln>
        </p:spPr>
      </p:sp>
      <p:sp>
        <p:nvSpPr>
          <p:cNvPr id="8" name="Text 5"/>
          <p:cNvSpPr txBox="1"/>
          <p:nvPr/>
        </p:nvSpPr>
        <p:spPr>
          <a:xfrm>
            <a:off x="8412480" y="1691640"/>
            <a:ext cx="2926080" cy="457200"/>
          </a:xfrm>
          <a:prstGeom prst="rect">
            <a:avLst/>
          </a:prstGeom>
          <a:noFill/>
          <a:ln/>
        </p:spPr>
        <p:txBody>
          <a:bodyPr wrap="square" lIns="0" tIns="0" rIns="0" bIns="0" rtlCol="0" anchor="ctr"/>
          <a:lstStyle/>
          <a:p>
            <a:pPr indent="0" marL="0">
              <a:buNone/>
            </a:pPr>
            <a:r>
              <a:rPr lang="en-US" sz="2400" b="1" dirty="0">
                <a:solidFill>
                  <a:srgbClr val="3B82F6"/>
                </a:solidFill>
                <a:latin typeface="Cambria" pitchFamily="34" charset="0"/>
                <a:ea typeface="Cambria" pitchFamily="34" charset="-122"/>
                <a:cs typeface="Cambria" pitchFamily="34" charset="-120"/>
              </a:rPr>
              <a:t>284,315</a:t>
            </a:r>
            <a:endParaRPr lang="en-US" sz="2400" dirty="0"/>
          </a:p>
        </p:txBody>
      </p:sp>
      <p:sp>
        <p:nvSpPr>
          <p:cNvPr id="9" name="Text 6"/>
          <p:cNvSpPr txBox="1"/>
          <p:nvPr/>
        </p:nvSpPr>
        <p:spPr>
          <a:xfrm>
            <a:off x="8412480" y="2121408"/>
            <a:ext cx="2926080" cy="457200"/>
          </a:xfrm>
          <a:prstGeom prst="rect">
            <a:avLst/>
          </a:prstGeom>
          <a:noFill/>
          <a:ln/>
        </p:spPr>
        <p:txBody>
          <a:bodyPr wrap="square" lIns="0" tIns="0" rIns="0" bIns="0" rtlCol="0" anchor="ctr"/>
          <a:lstStyle/>
          <a:p>
            <a:pPr indent="0" marL="0">
              <a:buNone/>
            </a:pPr>
            <a:r>
              <a:rPr lang="en-US" sz="1050" dirty="0">
                <a:solidFill>
                  <a:srgbClr val="9A9A9A"/>
                </a:solidFill>
                <a:latin typeface="Calibri" pitchFamily="34" charset="0"/>
                <a:ea typeface="Calibri" pitchFamily="34" charset="-122"/>
                <a:cs typeface="Calibri" pitchFamily="34" charset="-120"/>
              </a:rPr>
              <a:t>Legitimate transactions (99.83%)</a:t>
            </a:r>
            <a:endParaRPr lang="en-US" sz="1050" dirty="0"/>
          </a:p>
        </p:txBody>
      </p:sp>
      <p:sp>
        <p:nvSpPr>
          <p:cNvPr id="10" name="Shape 7"/>
          <p:cNvSpPr/>
          <p:nvPr/>
        </p:nvSpPr>
        <p:spPr>
          <a:xfrm>
            <a:off x="8412480" y="2697480"/>
            <a:ext cx="2926080" cy="914"/>
          </a:xfrm>
          <a:prstGeom prst="line">
            <a:avLst/>
          </a:prstGeom>
          <a:noFill/>
          <a:ln w="12700">
            <a:solidFill>
              <a:srgbClr val="2A2A2A"/>
            </a:solidFill>
            <a:prstDash val="solid"/>
          </a:ln>
        </p:spPr>
      </p:sp>
      <p:sp>
        <p:nvSpPr>
          <p:cNvPr id="11" name="Text 8"/>
          <p:cNvSpPr txBox="1"/>
          <p:nvPr/>
        </p:nvSpPr>
        <p:spPr>
          <a:xfrm>
            <a:off x="8412480" y="2834640"/>
            <a:ext cx="2926080" cy="457200"/>
          </a:xfrm>
          <a:prstGeom prst="rect">
            <a:avLst/>
          </a:prstGeom>
          <a:noFill/>
          <a:ln/>
        </p:spPr>
        <p:txBody>
          <a:bodyPr wrap="square" lIns="0" tIns="0" rIns="0" bIns="0" rtlCol="0" anchor="ctr"/>
          <a:lstStyle/>
          <a:p>
            <a:pPr indent="0" marL="0">
              <a:buNone/>
            </a:pPr>
            <a:r>
              <a:rPr lang="en-US" sz="2400" b="1" dirty="0">
                <a:solidFill>
                  <a:srgbClr val="EF4444"/>
                </a:solidFill>
                <a:latin typeface="Cambria" pitchFamily="34" charset="0"/>
                <a:ea typeface="Cambria" pitchFamily="34" charset="-122"/>
                <a:cs typeface="Cambria" pitchFamily="34" charset="-120"/>
              </a:rPr>
              <a:t>492</a:t>
            </a:r>
            <a:endParaRPr lang="en-US" sz="2400" dirty="0"/>
          </a:p>
        </p:txBody>
      </p:sp>
      <p:sp>
        <p:nvSpPr>
          <p:cNvPr id="12" name="Text 9"/>
          <p:cNvSpPr txBox="1"/>
          <p:nvPr/>
        </p:nvSpPr>
        <p:spPr>
          <a:xfrm>
            <a:off x="8412480" y="3264408"/>
            <a:ext cx="2926080" cy="457200"/>
          </a:xfrm>
          <a:prstGeom prst="rect">
            <a:avLst/>
          </a:prstGeom>
          <a:noFill/>
          <a:ln/>
        </p:spPr>
        <p:txBody>
          <a:bodyPr wrap="square" lIns="0" tIns="0" rIns="0" bIns="0" rtlCol="0" anchor="ctr"/>
          <a:lstStyle/>
          <a:p>
            <a:pPr indent="0" marL="0">
              <a:buNone/>
            </a:pPr>
            <a:r>
              <a:rPr lang="en-US" sz="1050" dirty="0">
                <a:solidFill>
                  <a:srgbClr val="9A9A9A"/>
                </a:solidFill>
                <a:latin typeface="Calibri" pitchFamily="34" charset="0"/>
                <a:ea typeface="Calibri" pitchFamily="34" charset="-122"/>
                <a:cs typeface="Calibri" pitchFamily="34" charset="-120"/>
              </a:rPr>
              <a:t>Fraud transactions (0.17%)</a:t>
            </a:r>
            <a:endParaRPr lang="en-US" sz="1050" dirty="0"/>
          </a:p>
        </p:txBody>
      </p:sp>
      <p:sp>
        <p:nvSpPr>
          <p:cNvPr id="13" name="Shape 10"/>
          <p:cNvSpPr/>
          <p:nvPr/>
        </p:nvSpPr>
        <p:spPr>
          <a:xfrm>
            <a:off x="8412480" y="3840480"/>
            <a:ext cx="2926080" cy="914"/>
          </a:xfrm>
          <a:prstGeom prst="line">
            <a:avLst/>
          </a:prstGeom>
          <a:noFill/>
          <a:ln w="12700">
            <a:solidFill>
              <a:srgbClr val="2A2A2A"/>
            </a:solidFill>
            <a:prstDash val="solid"/>
          </a:ln>
        </p:spPr>
      </p:sp>
      <p:sp>
        <p:nvSpPr>
          <p:cNvPr id="14" name="Text 11"/>
          <p:cNvSpPr txBox="1"/>
          <p:nvPr/>
        </p:nvSpPr>
        <p:spPr>
          <a:xfrm>
            <a:off x="8412480" y="4023360"/>
            <a:ext cx="2926080" cy="274320"/>
          </a:xfrm>
          <a:prstGeom prst="rect">
            <a:avLst/>
          </a:prstGeom>
          <a:noFill/>
          <a:ln/>
        </p:spPr>
        <p:txBody>
          <a:bodyPr wrap="square" lIns="0" tIns="0" rIns="0" bIns="0" rtlCol="0" anchor="ctr"/>
          <a:lstStyle/>
          <a:p>
            <a:pPr indent="0" marL="0">
              <a:buNone/>
            </a:pPr>
            <a:r>
              <a:rPr lang="en-US" sz="1000" b="1" spc="100" kern="0" dirty="0">
                <a:solidFill>
                  <a:srgbClr val="EF4444"/>
                </a:solidFill>
                <a:latin typeface="Calibri" pitchFamily="34" charset="0"/>
                <a:ea typeface="Calibri" pitchFamily="34" charset="-122"/>
                <a:cs typeface="Calibri" pitchFamily="34" charset="-120"/>
              </a:rPr>
              <a:t>WHY THIS MATTERS</a:t>
            </a:r>
            <a:endParaRPr lang="en-US" sz="1000" dirty="0"/>
          </a:p>
        </p:txBody>
      </p:sp>
      <p:sp>
        <p:nvSpPr>
          <p:cNvPr id="15" name="Text 12"/>
          <p:cNvSpPr txBox="1"/>
          <p:nvPr/>
        </p:nvSpPr>
        <p:spPr>
          <a:xfrm>
            <a:off x="8412480" y="4315968"/>
            <a:ext cx="2926080" cy="1737360"/>
          </a:xfrm>
          <a:prstGeom prst="rect">
            <a:avLst/>
          </a:prstGeom>
          <a:noFill/>
          <a:ln/>
        </p:spPr>
        <p:txBody>
          <a:bodyPr wrap="square" lIns="0" tIns="0" rIns="0" bIns="0" rtlCol="0" anchor="ctr"/>
          <a:lstStyle/>
          <a:p>
            <a:pPr indent="0" marL="0">
              <a:lnSpc>
                <a:spcPct val="125000"/>
              </a:lnSpc>
              <a:buNone/>
            </a:pPr>
            <a:r>
              <a:rPr lang="en-US" sz="1050" dirty="0">
                <a:solidFill>
                  <a:srgbClr val="D0D0D0"/>
                </a:solidFill>
                <a:latin typeface="Calibri" pitchFamily="34" charset="0"/>
                <a:ea typeface="Calibri" pitchFamily="34" charset="-122"/>
                <a:cs typeface="Calibri" pitchFamily="34" charset="-120"/>
              </a:rPr>
              <a:t>A model predicting "legitimate" for every transaction is 99.83% "accurate" yet catches zero fraud. This is exactly why the team rejected accuracy and optimized for PR-AUC and F1 instead.</a:t>
            </a:r>
            <a:endParaRPr lang="en-US" sz="1050" dirty="0"/>
          </a:p>
        </p:txBody>
      </p:sp>
      <p:sp>
        <p:nvSpPr>
          <p:cNvPr id="16" name="Text 13"/>
          <p:cNvSpPr txBox="1"/>
          <p:nvPr/>
        </p:nvSpPr>
        <p:spPr>
          <a:xfrm>
            <a:off x="457200" y="6528816"/>
            <a:ext cx="5486400" cy="274320"/>
          </a:xfrm>
          <a:prstGeom prst="rect">
            <a:avLst/>
          </a:prstGeom>
          <a:noFill/>
          <a:ln/>
        </p:spPr>
        <p:txBody>
          <a:bodyPr wrap="square" lIns="0" tIns="0" rIns="0" bIns="0" rtlCol="0" anchor="ctr"/>
          <a:lstStyle/>
          <a:p>
            <a:pPr indent="0" marL="0">
              <a:buNone/>
            </a:pPr>
            <a:r>
              <a:rPr lang="en-US" sz="800" spc="200" kern="0" dirty="0">
                <a:solidFill>
                  <a:srgbClr val="6B6B6B"/>
                </a:solidFill>
                <a:latin typeface="Calibri" pitchFamily="34" charset="0"/>
                <a:ea typeface="Calibri" pitchFamily="34" charset="-122"/>
                <a:cs typeface="Calibri" pitchFamily="34" charset="-120"/>
              </a:rPr>
              <a:t>CREDIT CARD FRAUD DETECTION</a:t>
            </a:r>
            <a:endParaRPr lang="en-US" sz="800" dirty="0"/>
          </a:p>
        </p:txBody>
      </p:sp>
      <p:sp>
        <p:nvSpPr>
          <p:cNvPr id="17" name="Text 14"/>
          <p:cNvSpPr txBox="1"/>
          <p:nvPr/>
        </p:nvSpPr>
        <p:spPr>
          <a:xfrm>
            <a:off x="11274552" y="6528816"/>
            <a:ext cx="548640" cy="274320"/>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50" b="1" spc="220" kern="0" dirty="0">
                <a:solidFill>
                  <a:srgbClr val="EF4444"/>
                </a:solidFill>
                <a:latin typeface="Calibri" pitchFamily="34" charset="0"/>
                <a:ea typeface="Calibri" pitchFamily="34" charset="-122"/>
                <a:cs typeface="Calibri" pitchFamily="34" charset="-120"/>
              </a:rPr>
              <a:t>04 · EXPLORATORY DATA ANALYSIS</a:t>
            </a:r>
            <a:endParaRPr lang="en-US" sz="1250" dirty="0"/>
          </a:p>
        </p:txBody>
      </p:sp>
      <p:sp>
        <p:nvSpPr>
          <p:cNvPr id="3" name="Text 1"/>
          <p:cNvSpPr txBox="1"/>
          <p:nvPr/>
        </p:nvSpPr>
        <p:spPr>
          <a:xfrm>
            <a:off x="640080" y="676656"/>
            <a:ext cx="9875520" cy="685800"/>
          </a:xfrm>
          <a:prstGeom prst="rect">
            <a:avLst/>
          </a:prstGeom>
          <a:noFill/>
          <a:ln/>
        </p:spPr>
        <p:txBody>
          <a:bodyPr wrap="square" lIns="0" tIns="0" rIns="0" bIns="0" rtlCol="0" anchor="ctr"/>
          <a:lstStyle/>
          <a:p>
            <a:pPr indent="0" marL="0">
              <a:buNone/>
            </a:pPr>
            <a:r>
              <a:rPr lang="en-US" sz="3000" b="1" dirty="0">
                <a:solidFill>
                  <a:srgbClr val="F5F5F5"/>
                </a:solidFill>
                <a:latin typeface="Cambria" pitchFamily="34" charset="0"/>
                <a:ea typeface="Cambria" pitchFamily="34" charset="-122"/>
                <a:cs typeface="Cambria" pitchFamily="34" charset="-120"/>
              </a:rPr>
              <a:t>Transaction Amount &amp; Time Patterns</a:t>
            </a:r>
            <a:endParaRPr lang="en-US" sz="3000" dirty="0"/>
          </a:p>
        </p:txBody>
      </p:sp>
      <p:pic>
        <p:nvPicPr>
          <p:cNvPr id="4" name="Image 0" descr="/home/claude/deck2/images/amount_distribution.png">    </p:cNvPr>
          <p:cNvPicPr>
            <a:picLocks noChangeAspect="1"/>
          </p:cNvPicPr>
          <p:nvPr/>
        </p:nvPicPr>
        <p:blipFill>
          <a:blip r:embed="rId1"/>
          <a:stretch>
            <a:fillRect/>
          </a:stretch>
        </p:blipFill>
        <p:spPr>
          <a:xfrm>
            <a:off x="640080" y="1481328"/>
            <a:ext cx="10881360" cy="2395728"/>
          </a:xfrm>
          <a:prstGeom prst="rect">
            <a:avLst/>
          </a:prstGeom>
        </p:spPr>
      </p:pic>
      <p:pic>
        <p:nvPicPr>
          <p:cNvPr id="5" name="Image 1" descr="/home/claude/deck2/images/time_distribution.png">    </p:cNvPr>
          <p:cNvPicPr>
            <a:picLocks noChangeAspect="1"/>
          </p:cNvPicPr>
          <p:nvPr/>
        </p:nvPicPr>
        <p:blipFill>
          <a:blip r:embed="rId2"/>
          <a:stretch>
            <a:fillRect/>
          </a:stretch>
        </p:blipFill>
        <p:spPr>
          <a:xfrm>
            <a:off x="640080" y="4069080"/>
            <a:ext cx="10881360" cy="1051560"/>
          </a:xfrm>
          <a:prstGeom prst="rect">
            <a:avLst/>
          </a:prstGeom>
        </p:spPr>
      </p:pic>
      <p:sp>
        <p:nvSpPr>
          <p:cNvPr id="6" name="Shape 2"/>
          <p:cNvSpPr/>
          <p:nvPr/>
        </p:nvSpPr>
        <p:spPr>
          <a:xfrm>
            <a:off x="640080" y="5257800"/>
            <a:ext cx="10881360" cy="914400"/>
          </a:xfrm>
          <a:prstGeom prst="roundRect">
            <a:avLst>
              <a:gd name="adj" fmla="val 8000"/>
            </a:avLst>
          </a:prstGeom>
          <a:solidFill>
            <a:srgbClr val="141414"/>
          </a:solidFill>
          <a:ln w="12700">
            <a:solidFill>
              <a:srgbClr val="2A2A2A"/>
            </a:solidFill>
            <a:prstDash val="solid"/>
          </a:ln>
        </p:spPr>
      </p:sp>
      <p:sp>
        <p:nvSpPr>
          <p:cNvPr id="7" name="Text 3"/>
          <p:cNvSpPr txBox="1"/>
          <p:nvPr/>
        </p:nvSpPr>
        <p:spPr>
          <a:xfrm>
            <a:off x="914400" y="5394960"/>
            <a:ext cx="10332720" cy="640080"/>
          </a:xfrm>
          <a:prstGeom prst="rect">
            <a:avLst/>
          </a:prstGeom>
          <a:noFill/>
          <a:ln/>
        </p:spPr>
        <p:txBody>
          <a:bodyPr wrap="square" lIns="0" tIns="0" rIns="0" bIns="0" rtlCol="0" anchor="ctr"/>
          <a:lstStyle/>
          <a:p>
            <a:pPr indent="0" marL="0">
              <a:lnSpc>
                <a:spcPct val="120000"/>
              </a:lnSpc>
              <a:buNone/>
            </a:pPr>
            <a:r>
              <a:rPr lang="en-US" sz="1200" dirty="0">
                <a:solidFill>
                  <a:srgbClr val="D0D0D0"/>
                </a:solidFill>
                <a:latin typeface="Calibri" pitchFamily="34" charset="0"/>
                <a:ea typeface="Calibri" pitchFamily="34" charset="-122"/>
                <a:cs typeface="Calibri" pitchFamily="34" charset="-120"/>
              </a:rPr>
              <a:t>Fraudulent transactions cluster at lower amounts and show a flatter, less periodic distribution across time compared to the strong day/night cycle seen in legitimate transactions — both signals the model can exploit.</a:t>
            </a:r>
            <a:endParaRPr lang="en-US" sz="1200" dirty="0"/>
          </a:p>
        </p:txBody>
      </p:sp>
      <p:sp>
        <p:nvSpPr>
          <p:cNvPr id="8" name="Text 4"/>
          <p:cNvSpPr txBox="1"/>
          <p:nvPr/>
        </p:nvSpPr>
        <p:spPr>
          <a:xfrm>
            <a:off x="457200" y="6528816"/>
            <a:ext cx="5486400" cy="274320"/>
          </a:xfrm>
          <a:prstGeom prst="rect">
            <a:avLst/>
          </a:prstGeom>
          <a:noFill/>
          <a:ln/>
        </p:spPr>
        <p:txBody>
          <a:bodyPr wrap="square" lIns="0" tIns="0" rIns="0" bIns="0" rtlCol="0" anchor="ctr"/>
          <a:lstStyle/>
          <a:p>
            <a:pPr indent="0" marL="0">
              <a:buNone/>
            </a:pPr>
            <a:r>
              <a:rPr lang="en-US" sz="800" spc="200" kern="0" dirty="0">
                <a:solidFill>
                  <a:srgbClr val="6B6B6B"/>
                </a:solidFill>
                <a:latin typeface="Calibri" pitchFamily="34" charset="0"/>
                <a:ea typeface="Calibri" pitchFamily="34" charset="-122"/>
                <a:cs typeface="Calibri" pitchFamily="34" charset="-120"/>
              </a:rPr>
              <a:t>CREDIT CARD FRAUD DETECTION</a:t>
            </a:r>
            <a:endParaRPr lang="en-US" sz="800" dirty="0"/>
          </a:p>
        </p:txBody>
      </p:sp>
      <p:sp>
        <p:nvSpPr>
          <p:cNvPr id="9" name="Text 5"/>
          <p:cNvSpPr txBox="1"/>
          <p:nvPr/>
        </p:nvSpPr>
        <p:spPr>
          <a:xfrm>
            <a:off x="11274552" y="6528816"/>
            <a:ext cx="548640" cy="274320"/>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50" b="1" spc="220" kern="0" dirty="0">
                <a:solidFill>
                  <a:srgbClr val="EF4444"/>
                </a:solidFill>
                <a:latin typeface="Calibri" pitchFamily="34" charset="0"/>
                <a:ea typeface="Calibri" pitchFamily="34" charset="-122"/>
                <a:cs typeface="Calibri" pitchFamily="34" charset="-120"/>
              </a:rPr>
              <a:t>04 · EXPLORATORY DATA ANALYSIS</a:t>
            </a:r>
            <a:endParaRPr lang="en-US" sz="1250" dirty="0"/>
          </a:p>
        </p:txBody>
      </p:sp>
      <p:sp>
        <p:nvSpPr>
          <p:cNvPr id="3" name="Text 1"/>
          <p:cNvSpPr txBox="1"/>
          <p:nvPr/>
        </p:nvSpPr>
        <p:spPr>
          <a:xfrm>
            <a:off x="640080" y="676656"/>
            <a:ext cx="9875520" cy="685800"/>
          </a:xfrm>
          <a:prstGeom prst="rect">
            <a:avLst/>
          </a:prstGeom>
          <a:noFill/>
          <a:ln/>
        </p:spPr>
        <p:txBody>
          <a:bodyPr wrap="square" lIns="0" tIns="0" rIns="0" bIns="0" rtlCol="0" anchor="ctr"/>
          <a:lstStyle/>
          <a:p>
            <a:pPr indent="0" marL="0">
              <a:buNone/>
            </a:pPr>
            <a:r>
              <a:rPr lang="en-US" sz="3000" b="1" dirty="0">
                <a:solidFill>
                  <a:srgbClr val="F5F5F5"/>
                </a:solidFill>
                <a:latin typeface="Cambria" pitchFamily="34" charset="0"/>
                <a:ea typeface="Cambria" pitchFamily="34" charset="-122"/>
                <a:cs typeface="Cambria" pitchFamily="34" charset="-120"/>
              </a:rPr>
              <a:t>Feature Correlation with Fraud</a:t>
            </a:r>
            <a:endParaRPr lang="en-US" sz="3000" dirty="0"/>
          </a:p>
        </p:txBody>
      </p:sp>
      <p:pic>
        <p:nvPicPr>
          <p:cNvPr id="4" name="Image 0" descr="/home/claude/deck2/images/correlation_with_class.png">    </p:cNvPr>
          <p:cNvPicPr>
            <a:picLocks noChangeAspect="1"/>
          </p:cNvPicPr>
          <p:nvPr/>
        </p:nvPicPr>
        <p:blipFill>
          <a:blip r:embed="rId1"/>
          <a:stretch>
            <a:fillRect/>
          </a:stretch>
        </p:blipFill>
        <p:spPr>
          <a:xfrm>
            <a:off x="2788920" y="1417320"/>
            <a:ext cx="6583680" cy="5230368"/>
          </a:xfrm>
          <a:prstGeom prst="rect">
            <a:avLst/>
          </a:prstGeom>
        </p:spPr>
      </p:pic>
      <p:sp>
        <p:nvSpPr>
          <p:cNvPr id="5" name="Text 2"/>
          <p:cNvSpPr txBox="1"/>
          <p:nvPr/>
        </p:nvSpPr>
        <p:spPr>
          <a:xfrm>
            <a:off x="640080" y="2103120"/>
            <a:ext cx="1965960" cy="457200"/>
          </a:xfrm>
          <a:prstGeom prst="rect">
            <a:avLst/>
          </a:prstGeom>
          <a:noFill/>
          <a:ln/>
        </p:spPr>
        <p:txBody>
          <a:bodyPr wrap="square" lIns="0" tIns="0" rIns="0" bIns="0" rtlCol="0" anchor="ctr"/>
          <a:lstStyle/>
          <a:p>
            <a:pPr indent="0" marL="0">
              <a:buNone/>
            </a:pPr>
            <a:r>
              <a:rPr lang="en-US" sz="2000" b="1" dirty="0">
                <a:solidFill>
                  <a:srgbClr val="EF4444"/>
                </a:solidFill>
                <a:latin typeface="Cambria" pitchFamily="34" charset="0"/>
                <a:ea typeface="Cambria" pitchFamily="34" charset="-122"/>
                <a:cs typeface="Cambria" pitchFamily="34" charset="-120"/>
              </a:rPr>
              <a:t>V14, V4, V12</a:t>
            </a:r>
            <a:endParaRPr lang="en-US" sz="2000" dirty="0"/>
          </a:p>
        </p:txBody>
      </p:sp>
      <p:sp>
        <p:nvSpPr>
          <p:cNvPr id="6" name="Text 3"/>
          <p:cNvSpPr txBox="1"/>
          <p:nvPr/>
        </p:nvSpPr>
        <p:spPr>
          <a:xfrm>
            <a:off x="640080" y="2606040"/>
            <a:ext cx="1965960" cy="1828800"/>
          </a:xfrm>
          <a:prstGeom prst="rect">
            <a:avLst/>
          </a:prstGeom>
          <a:noFill/>
          <a:ln/>
        </p:spPr>
        <p:txBody>
          <a:bodyPr wrap="square" lIns="0" tIns="0" rIns="0" bIns="0" rtlCol="0" anchor="ctr"/>
          <a:lstStyle/>
          <a:p>
            <a:pPr indent="0" marL="0">
              <a:lnSpc>
                <a:spcPct val="125000"/>
              </a:lnSpc>
              <a:buNone/>
            </a:pPr>
            <a:r>
              <a:rPr lang="en-US" sz="1050" dirty="0">
                <a:solidFill>
                  <a:srgbClr val="9A9A9A"/>
                </a:solidFill>
                <a:latin typeface="Calibri" pitchFamily="34" charset="0"/>
                <a:ea typeface="Calibri" pitchFamily="34" charset="-122"/>
                <a:cs typeface="Calibri" pitchFamily="34" charset="-120"/>
              </a:rPr>
              <a:t>Strongest correlated PCA components with the fraud label — V14 and V12 are later confirmed as top predictors by Random Forest's feature importance too.</a:t>
            </a:r>
            <a:endParaRPr lang="en-US" sz="1050" dirty="0"/>
          </a:p>
        </p:txBody>
      </p:sp>
      <p:sp>
        <p:nvSpPr>
          <p:cNvPr id="7" name="Text 4"/>
          <p:cNvSpPr txBox="1"/>
          <p:nvPr/>
        </p:nvSpPr>
        <p:spPr>
          <a:xfrm>
            <a:off x="640080" y="4572000"/>
            <a:ext cx="1965960" cy="457200"/>
          </a:xfrm>
          <a:prstGeom prst="rect">
            <a:avLst/>
          </a:prstGeom>
          <a:noFill/>
          <a:ln/>
        </p:spPr>
        <p:txBody>
          <a:bodyPr wrap="square" lIns="0" tIns="0" rIns="0" bIns="0" rtlCol="0" anchor="ctr"/>
          <a:lstStyle/>
          <a:p>
            <a:pPr indent="0" marL="0">
              <a:buNone/>
            </a:pPr>
            <a:r>
              <a:rPr lang="en-US" sz="1800" b="1" dirty="0">
                <a:solidFill>
                  <a:srgbClr val="3B82F6"/>
                </a:solidFill>
                <a:latin typeface="Cambria" pitchFamily="34" charset="0"/>
                <a:ea typeface="Cambria" pitchFamily="34" charset="-122"/>
                <a:cs typeface="Cambria" pitchFamily="34" charset="-120"/>
              </a:rPr>
              <a:t>Amount &amp; Time</a:t>
            </a:r>
            <a:endParaRPr lang="en-US" sz="1800" dirty="0"/>
          </a:p>
        </p:txBody>
      </p:sp>
      <p:sp>
        <p:nvSpPr>
          <p:cNvPr id="8" name="Text 5"/>
          <p:cNvSpPr txBox="1"/>
          <p:nvPr/>
        </p:nvSpPr>
        <p:spPr>
          <a:xfrm>
            <a:off x="640080" y="5029200"/>
            <a:ext cx="1965960" cy="1463040"/>
          </a:xfrm>
          <a:prstGeom prst="rect">
            <a:avLst/>
          </a:prstGeom>
          <a:noFill/>
          <a:ln/>
        </p:spPr>
        <p:txBody>
          <a:bodyPr wrap="square" lIns="0" tIns="0" rIns="0" bIns="0" rtlCol="0" anchor="ctr"/>
          <a:lstStyle/>
          <a:p>
            <a:pPr indent="0" marL="0">
              <a:lnSpc>
                <a:spcPct val="125000"/>
              </a:lnSpc>
              <a:buNone/>
            </a:pPr>
            <a:r>
              <a:rPr lang="en-US" sz="1050" dirty="0">
                <a:solidFill>
                  <a:srgbClr val="9A9A9A"/>
                </a:solidFill>
                <a:latin typeface="Calibri" pitchFamily="34" charset="0"/>
                <a:ea typeface="Calibri" pitchFamily="34" charset="-122"/>
                <a:cs typeface="Calibri" pitchFamily="34" charset="-120"/>
              </a:rPr>
              <a:t>Weak linear correlation individually — but still useful in combination, which is why they're retained and scaled rather than dropped.</a:t>
            </a:r>
            <a:endParaRPr lang="en-US" sz="1050" dirty="0"/>
          </a:p>
        </p:txBody>
      </p:sp>
      <p:sp>
        <p:nvSpPr>
          <p:cNvPr id="9" name="Text 6"/>
          <p:cNvSpPr txBox="1"/>
          <p:nvPr/>
        </p:nvSpPr>
        <p:spPr>
          <a:xfrm>
            <a:off x="457200" y="6528816"/>
            <a:ext cx="5486400" cy="274320"/>
          </a:xfrm>
          <a:prstGeom prst="rect">
            <a:avLst/>
          </a:prstGeom>
          <a:noFill/>
          <a:ln/>
        </p:spPr>
        <p:txBody>
          <a:bodyPr wrap="square" lIns="0" tIns="0" rIns="0" bIns="0" rtlCol="0" anchor="ctr"/>
          <a:lstStyle/>
          <a:p>
            <a:pPr indent="0" marL="0">
              <a:buNone/>
            </a:pPr>
            <a:r>
              <a:rPr lang="en-US" sz="800" spc="200" kern="0" dirty="0">
                <a:solidFill>
                  <a:srgbClr val="6B6B6B"/>
                </a:solidFill>
                <a:latin typeface="Calibri" pitchFamily="34" charset="0"/>
                <a:ea typeface="Calibri" pitchFamily="34" charset="-122"/>
                <a:cs typeface="Calibri" pitchFamily="34" charset="-120"/>
              </a:rPr>
              <a:t>CREDIT CARD FRAUD DETECTION</a:t>
            </a:r>
            <a:endParaRPr lang="en-US" sz="800" dirty="0"/>
          </a:p>
        </p:txBody>
      </p:sp>
      <p:sp>
        <p:nvSpPr>
          <p:cNvPr id="10" name="Text 7"/>
          <p:cNvSpPr txBox="1"/>
          <p:nvPr/>
        </p:nvSpPr>
        <p:spPr>
          <a:xfrm>
            <a:off x="11274552" y="6528816"/>
            <a:ext cx="548640" cy="274320"/>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50" b="1" spc="220" kern="0" dirty="0">
                <a:solidFill>
                  <a:srgbClr val="7C3AED"/>
                </a:solidFill>
                <a:latin typeface="Calibri" pitchFamily="34" charset="0"/>
                <a:ea typeface="Calibri" pitchFamily="34" charset="-122"/>
                <a:cs typeface="Calibri" pitchFamily="34" charset="-120"/>
              </a:rPr>
              <a:t>05 · PREPROCESSING</a:t>
            </a:r>
            <a:endParaRPr lang="en-US" sz="1250" dirty="0"/>
          </a:p>
        </p:txBody>
      </p:sp>
      <p:sp>
        <p:nvSpPr>
          <p:cNvPr id="3" name="Text 1"/>
          <p:cNvSpPr txBox="1"/>
          <p:nvPr/>
        </p:nvSpPr>
        <p:spPr>
          <a:xfrm>
            <a:off x="640080" y="676656"/>
            <a:ext cx="9875520" cy="685800"/>
          </a:xfrm>
          <a:prstGeom prst="rect">
            <a:avLst/>
          </a:prstGeom>
          <a:noFill/>
          <a:ln/>
        </p:spPr>
        <p:txBody>
          <a:bodyPr wrap="square" lIns="0" tIns="0" rIns="0" bIns="0" rtlCol="0" anchor="ctr"/>
          <a:lstStyle/>
          <a:p>
            <a:pPr indent="0" marL="0">
              <a:buNone/>
            </a:pPr>
            <a:r>
              <a:rPr lang="en-US" sz="3000" b="1" dirty="0">
                <a:solidFill>
                  <a:srgbClr val="F5F5F5"/>
                </a:solidFill>
                <a:latin typeface="Cambria" pitchFamily="34" charset="0"/>
                <a:ea typeface="Cambria" pitchFamily="34" charset="-122"/>
                <a:cs typeface="Cambria" pitchFamily="34" charset="-120"/>
              </a:rPr>
              <a:t>Preprocessing &amp; Feature Engineering</a:t>
            </a:r>
            <a:endParaRPr lang="en-US" sz="3000" dirty="0"/>
          </a:p>
        </p:txBody>
      </p:sp>
      <p:sp>
        <p:nvSpPr>
          <p:cNvPr id="4" name="Shape 2"/>
          <p:cNvSpPr/>
          <p:nvPr/>
        </p:nvSpPr>
        <p:spPr>
          <a:xfrm>
            <a:off x="640080" y="1536192"/>
            <a:ext cx="10908792" cy="1024128"/>
          </a:xfrm>
          <a:prstGeom prst="roundRect">
            <a:avLst>
              <a:gd name="adj" fmla="val 7143"/>
            </a:avLst>
          </a:prstGeom>
          <a:solidFill>
            <a:srgbClr val="141414"/>
          </a:solidFill>
          <a:ln w="12700">
            <a:solidFill>
              <a:srgbClr val="2A2A2A"/>
            </a:solidFill>
            <a:prstDash val="solid"/>
          </a:ln>
        </p:spPr>
      </p:sp>
      <p:sp>
        <p:nvSpPr>
          <p:cNvPr id="5" name="Shape 3"/>
          <p:cNvSpPr/>
          <p:nvPr/>
        </p:nvSpPr>
        <p:spPr>
          <a:xfrm>
            <a:off x="868680" y="1819656"/>
            <a:ext cx="457200" cy="457200"/>
          </a:xfrm>
          <a:prstGeom prst="ellipse">
            <a:avLst/>
          </a:prstGeom>
          <a:solidFill>
            <a:srgbClr val="3B82F6"/>
          </a:solidFill>
          <a:ln/>
        </p:spPr>
      </p:sp>
      <p:sp>
        <p:nvSpPr>
          <p:cNvPr id="6" name="Text 4"/>
          <p:cNvSpPr txBox="1"/>
          <p:nvPr/>
        </p:nvSpPr>
        <p:spPr>
          <a:xfrm>
            <a:off x="868680" y="1819656"/>
            <a:ext cx="457200" cy="457200"/>
          </a:xfrm>
          <a:prstGeom prst="rect">
            <a:avLst/>
          </a:prstGeom>
          <a:noFill/>
          <a:ln/>
        </p:spPr>
        <p:txBody>
          <a:bodyPr wrap="square" lIns="0" tIns="0" rIns="0" bIns="0" rtlCol="0" anchor="ctr"/>
          <a:lstStyle/>
          <a:p>
            <a:pPr algn="ctr" indent="0" marL="0">
              <a:buNone/>
            </a:pPr>
            <a:r>
              <a:rPr lang="en-US" sz="1600" b="1" dirty="0">
                <a:solidFill>
                  <a:srgbClr val="0A0A0A"/>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554480" y="1645920"/>
            <a:ext cx="2834640" cy="777240"/>
          </a:xfrm>
          <a:prstGeom prst="rect">
            <a:avLst/>
          </a:prstGeom>
          <a:noFill/>
          <a:ln/>
        </p:spPr>
        <p:txBody>
          <a:bodyPr wrap="square" lIns="0" tIns="0" rIns="0" bIns="0" rtlCol="0" anchor="ctr"/>
          <a:lstStyle/>
          <a:p>
            <a:pPr indent="0" marL="0">
              <a:buNone/>
            </a:pPr>
            <a:r>
              <a:rPr lang="en-US" sz="1350" b="1" dirty="0">
                <a:solidFill>
                  <a:srgbClr val="F5F5F5"/>
                </a:solidFill>
                <a:latin typeface="Calibri" pitchFamily="34" charset="0"/>
                <a:ea typeface="Calibri" pitchFamily="34" charset="-122"/>
                <a:cs typeface="Calibri" pitchFamily="34" charset="-120"/>
              </a:rPr>
              <a:t>Stratified Split</a:t>
            </a:r>
            <a:endParaRPr lang="en-US" sz="1350" dirty="0"/>
          </a:p>
        </p:txBody>
      </p:sp>
      <p:sp>
        <p:nvSpPr>
          <p:cNvPr id="8" name="Text 6"/>
          <p:cNvSpPr txBox="1"/>
          <p:nvPr/>
        </p:nvSpPr>
        <p:spPr>
          <a:xfrm>
            <a:off x="4434840" y="1627632"/>
            <a:ext cx="6903720" cy="841248"/>
          </a:xfrm>
          <a:prstGeom prst="rect">
            <a:avLst/>
          </a:prstGeom>
          <a:noFill/>
          <a:ln/>
        </p:spPr>
        <p:txBody>
          <a:bodyPr wrap="square" lIns="0" tIns="0" rIns="0" bIns="0" rtlCol="0" anchor="ctr"/>
          <a:lstStyle/>
          <a:p>
            <a:pPr indent="0" marL="0">
              <a:lnSpc>
                <a:spcPct val="115000"/>
              </a:lnSpc>
              <a:buNone/>
            </a:pPr>
            <a:r>
              <a:rPr lang="en-US" sz="1030" dirty="0">
                <a:solidFill>
                  <a:srgbClr val="9A9A9A"/>
                </a:solidFill>
                <a:latin typeface="Calibri" pitchFamily="34" charset="0"/>
                <a:ea typeface="Calibri" pitchFamily="34" charset="-122"/>
                <a:cs typeface="Calibri" pitchFamily="34" charset="-120"/>
              </a:rPr>
              <a:t>80 / 20 train-test split, stratified on Class so both sets preserve the 0.17% fraud rate — done BEFORE any scaling or resampling.</a:t>
            </a:r>
            <a:endParaRPr lang="en-US" sz="1030" dirty="0"/>
          </a:p>
        </p:txBody>
      </p:sp>
      <p:sp>
        <p:nvSpPr>
          <p:cNvPr id="9" name="Shape 7"/>
          <p:cNvSpPr/>
          <p:nvPr/>
        </p:nvSpPr>
        <p:spPr>
          <a:xfrm>
            <a:off x="640080" y="2697480"/>
            <a:ext cx="10908792" cy="1024128"/>
          </a:xfrm>
          <a:prstGeom prst="roundRect">
            <a:avLst>
              <a:gd name="adj" fmla="val 7143"/>
            </a:avLst>
          </a:prstGeom>
          <a:solidFill>
            <a:srgbClr val="141414"/>
          </a:solidFill>
          <a:ln w="12700">
            <a:solidFill>
              <a:srgbClr val="2A2A2A"/>
            </a:solidFill>
            <a:prstDash val="solid"/>
          </a:ln>
        </p:spPr>
      </p:sp>
      <p:sp>
        <p:nvSpPr>
          <p:cNvPr id="10" name="Shape 8"/>
          <p:cNvSpPr/>
          <p:nvPr/>
        </p:nvSpPr>
        <p:spPr>
          <a:xfrm>
            <a:off x="868680" y="2980944"/>
            <a:ext cx="457200" cy="457200"/>
          </a:xfrm>
          <a:prstGeom prst="ellipse">
            <a:avLst/>
          </a:prstGeom>
          <a:solidFill>
            <a:srgbClr val="7C3AED"/>
          </a:solidFill>
          <a:ln/>
        </p:spPr>
      </p:sp>
      <p:sp>
        <p:nvSpPr>
          <p:cNvPr id="11" name="Text 9"/>
          <p:cNvSpPr txBox="1"/>
          <p:nvPr/>
        </p:nvSpPr>
        <p:spPr>
          <a:xfrm>
            <a:off x="868680" y="2980944"/>
            <a:ext cx="457200" cy="457200"/>
          </a:xfrm>
          <a:prstGeom prst="rect">
            <a:avLst/>
          </a:prstGeom>
          <a:noFill/>
          <a:ln/>
        </p:spPr>
        <p:txBody>
          <a:bodyPr wrap="square" lIns="0" tIns="0" rIns="0" bIns="0" rtlCol="0" anchor="ctr"/>
          <a:lstStyle/>
          <a:p>
            <a:pPr algn="ctr" indent="0" marL="0">
              <a:buNone/>
            </a:pPr>
            <a:r>
              <a:rPr lang="en-US" sz="1600" b="1" dirty="0">
                <a:solidFill>
                  <a:srgbClr val="0A0A0A"/>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1554480" y="2807208"/>
            <a:ext cx="2834640" cy="777240"/>
          </a:xfrm>
          <a:prstGeom prst="rect">
            <a:avLst/>
          </a:prstGeom>
          <a:noFill/>
          <a:ln/>
        </p:spPr>
        <p:txBody>
          <a:bodyPr wrap="square" lIns="0" tIns="0" rIns="0" bIns="0" rtlCol="0" anchor="ctr"/>
          <a:lstStyle/>
          <a:p>
            <a:pPr indent="0" marL="0">
              <a:buNone/>
            </a:pPr>
            <a:r>
              <a:rPr lang="en-US" sz="1350" b="1" dirty="0">
                <a:solidFill>
                  <a:srgbClr val="F5F5F5"/>
                </a:solidFill>
                <a:latin typeface="Calibri" pitchFamily="34" charset="0"/>
                <a:ea typeface="Calibri" pitchFamily="34" charset="-122"/>
                <a:cs typeface="Calibri" pitchFamily="34" charset="-120"/>
              </a:rPr>
              <a:t>Robust Scaling</a:t>
            </a:r>
            <a:endParaRPr lang="en-US" sz="1350" dirty="0"/>
          </a:p>
        </p:txBody>
      </p:sp>
      <p:sp>
        <p:nvSpPr>
          <p:cNvPr id="13" name="Text 11"/>
          <p:cNvSpPr txBox="1"/>
          <p:nvPr/>
        </p:nvSpPr>
        <p:spPr>
          <a:xfrm>
            <a:off x="4434840" y="2788920"/>
            <a:ext cx="6903720" cy="841248"/>
          </a:xfrm>
          <a:prstGeom prst="rect">
            <a:avLst/>
          </a:prstGeom>
          <a:noFill/>
          <a:ln/>
        </p:spPr>
        <p:txBody>
          <a:bodyPr wrap="square" lIns="0" tIns="0" rIns="0" bIns="0" rtlCol="0" anchor="ctr"/>
          <a:lstStyle/>
          <a:p>
            <a:pPr indent="0" marL="0">
              <a:lnSpc>
                <a:spcPct val="115000"/>
              </a:lnSpc>
              <a:buNone/>
            </a:pPr>
            <a:r>
              <a:rPr lang="en-US" sz="1030" dirty="0">
                <a:solidFill>
                  <a:srgbClr val="9A9A9A"/>
                </a:solidFill>
                <a:latin typeface="Calibri" pitchFamily="34" charset="0"/>
                <a:ea typeface="Calibri" pitchFamily="34" charset="-122"/>
                <a:cs typeface="Calibri" pitchFamily="34" charset="-120"/>
              </a:rPr>
              <a:t>RobustScaler fit on X_train only, applied to Amount &amp; Time (median/IQR-based — resistant to the extreme outliers common in transaction amounts). V1–V28 are already PCA-scaled.</a:t>
            </a:r>
            <a:endParaRPr lang="en-US" sz="1030" dirty="0"/>
          </a:p>
        </p:txBody>
      </p:sp>
      <p:sp>
        <p:nvSpPr>
          <p:cNvPr id="14" name="Shape 12"/>
          <p:cNvSpPr/>
          <p:nvPr/>
        </p:nvSpPr>
        <p:spPr>
          <a:xfrm>
            <a:off x="640080" y="3858768"/>
            <a:ext cx="10908792" cy="1024128"/>
          </a:xfrm>
          <a:prstGeom prst="roundRect">
            <a:avLst>
              <a:gd name="adj" fmla="val 7143"/>
            </a:avLst>
          </a:prstGeom>
          <a:solidFill>
            <a:srgbClr val="141414"/>
          </a:solidFill>
          <a:ln w="12700">
            <a:solidFill>
              <a:srgbClr val="2A2A2A"/>
            </a:solidFill>
            <a:prstDash val="solid"/>
          </a:ln>
        </p:spPr>
      </p:sp>
      <p:sp>
        <p:nvSpPr>
          <p:cNvPr id="15" name="Shape 13"/>
          <p:cNvSpPr/>
          <p:nvPr/>
        </p:nvSpPr>
        <p:spPr>
          <a:xfrm>
            <a:off x="868680" y="4142232"/>
            <a:ext cx="457200" cy="457200"/>
          </a:xfrm>
          <a:prstGeom prst="ellipse">
            <a:avLst/>
          </a:prstGeom>
          <a:solidFill>
            <a:srgbClr val="EF4444"/>
          </a:solidFill>
          <a:ln/>
        </p:spPr>
      </p:sp>
      <p:sp>
        <p:nvSpPr>
          <p:cNvPr id="16" name="Text 14"/>
          <p:cNvSpPr txBox="1"/>
          <p:nvPr/>
        </p:nvSpPr>
        <p:spPr>
          <a:xfrm>
            <a:off x="868680" y="4142232"/>
            <a:ext cx="457200" cy="457200"/>
          </a:xfrm>
          <a:prstGeom prst="rect">
            <a:avLst/>
          </a:prstGeom>
          <a:noFill/>
          <a:ln/>
        </p:spPr>
        <p:txBody>
          <a:bodyPr wrap="square" lIns="0" tIns="0" rIns="0" bIns="0" rtlCol="0" anchor="ctr"/>
          <a:lstStyle/>
          <a:p>
            <a:pPr algn="ctr" indent="0" marL="0">
              <a:buNone/>
            </a:pPr>
            <a:r>
              <a:rPr lang="en-US" sz="1600" b="1" dirty="0">
                <a:solidFill>
                  <a:srgbClr val="0A0A0A"/>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554480" y="3968496"/>
            <a:ext cx="2834640" cy="777240"/>
          </a:xfrm>
          <a:prstGeom prst="rect">
            <a:avLst/>
          </a:prstGeom>
          <a:noFill/>
          <a:ln/>
        </p:spPr>
        <p:txBody>
          <a:bodyPr wrap="square" lIns="0" tIns="0" rIns="0" bIns="0" rtlCol="0" anchor="ctr"/>
          <a:lstStyle/>
          <a:p>
            <a:pPr indent="0" marL="0">
              <a:buNone/>
            </a:pPr>
            <a:r>
              <a:rPr lang="en-US" sz="1350" b="1" dirty="0">
                <a:solidFill>
                  <a:srgbClr val="F5F5F5"/>
                </a:solidFill>
                <a:latin typeface="Calibri" pitchFamily="34" charset="0"/>
                <a:ea typeface="Calibri" pitchFamily="34" charset="-122"/>
                <a:cs typeface="Calibri" pitchFamily="34" charset="-120"/>
              </a:rPr>
              <a:t>SMOTE Inside Pipeline</a:t>
            </a:r>
            <a:endParaRPr lang="en-US" sz="1350" dirty="0"/>
          </a:p>
        </p:txBody>
      </p:sp>
      <p:sp>
        <p:nvSpPr>
          <p:cNvPr id="18" name="Text 16"/>
          <p:cNvSpPr txBox="1"/>
          <p:nvPr/>
        </p:nvSpPr>
        <p:spPr>
          <a:xfrm>
            <a:off x="4434840" y="3950208"/>
            <a:ext cx="6903720" cy="841248"/>
          </a:xfrm>
          <a:prstGeom prst="rect">
            <a:avLst/>
          </a:prstGeom>
          <a:noFill/>
          <a:ln/>
        </p:spPr>
        <p:txBody>
          <a:bodyPr wrap="square" lIns="0" tIns="0" rIns="0" bIns="0" rtlCol="0" anchor="ctr"/>
          <a:lstStyle/>
          <a:p>
            <a:pPr indent="0" marL="0">
              <a:lnSpc>
                <a:spcPct val="115000"/>
              </a:lnSpc>
              <a:buNone/>
            </a:pPr>
            <a:r>
              <a:rPr lang="en-US" sz="1030" dirty="0">
                <a:solidFill>
                  <a:srgbClr val="9A9A9A"/>
                </a:solidFill>
                <a:latin typeface="Calibri" pitchFamily="34" charset="0"/>
                <a:ea typeface="Calibri" pitchFamily="34" charset="-122"/>
                <a:cs typeface="Calibri" pitchFamily="34" charset="-120"/>
              </a:rPr>
              <a:t>Minority class oversampled to 15% of majority (sampling_strategy=0.15) via imblearn's ImbPipeline — refit fresh on every CV fold's training portion only.</a:t>
            </a:r>
            <a:endParaRPr lang="en-US" sz="1030" dirty="0"/>
          </a:p>
        </p:txBody>
      </p:sp>
      <p:sp>
        <p:nvSpPr>
          <p:cNvPr id="19" name="Shape 17"/>
          <p:cNvSpPr/>
          <p:nvPr/>
        </p:nvSpPr>
        <p:spPr>
          <a:xfrm>
            <a:off x="640080" y="5020056"/>
            <a:ext cx="10908792" cy="1024128"/>
          </a:xfrm>
          <a:prstGeom prst="roundRect">
            <a:avLst>
              <a:gd name="adj" fmla="val 7143"/>
            </a:avLst>
          </a:prstGeom>
          <a:solidFill>
            <a:srgbClr val="141414"/>
          </a:solidFill>
          <a:ln w="12700">
            <a:solidFill>
              <a:srgbClr val="2A2A2A"/>
            </a:solidFill>
            <a:prstDash val="solid"/>
          </a:ln>
        </p:spPr>
      </p:sp>
      <p:sp>
        <p:nvSpPr>
          <p:cNvPr id="20" name="Shape 18"/>
          <p:cNvSpPr/>
          <p:nvPr/>
        </p:nvSpPr>
        <p:spPr>
          <a:xfrm>
            <a:off x="868680" y="5303520"/>
            <a:ext cx="457200" cy="457200"/>
          </a:xfrm>
          <a:prstGeom prst="ellipse">
            <a:avLst/>
          </a:prstGeom>
          <a:solidFill>
            <a:srgbClr val="F59E0B"/>
          </a:solidFill>
          <a:ln/>
        </p:spPr>
      </p:sp>
      <p:sp>
        <p:nvSpPr>
          <p:cNvPr id="21" name="Text 19"/>
          <p:cNvSpPr txBox="1"/>
          <p:nvPr/>
        </p:nvSpPr>
        <p:spPr>
          <a:xfrm>
            <a:off x="868680" y="5303520"/>
            <a:ext cx="457200" cy="457200"/>
          </a:xfrm>
          <a:prstGeom prst="rect">
            <a:avLst/>
          </a:prstGeom>
          <a:noFill/>
          <a:ln/>
        </p:spPr>
        <p:txBody>
          <a:bodyPr wrap="square" lIns="0" tIns="0" rIns="0" bIns="0" rtlCol="0" anchor="ctr"/>
          <a:lstStyle/>
          <a:p>
            <a:pPr algn="ctr" indent="0" marL="0">
              <a:buNone/>
            </a:pPr>
            <a:r>
              <a:rPr lang="en-US" sz="1600" b="1" dirty="0">
                <a:solidFill>
                  <a:srgbClr val="0A0A0A"/>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1554480" y="5129784"/>
            <a:ext cx="2834640" cy="777240"/>
          </a:xfrm>
          <a:prstGeom prst="rect">
            <a:avLst/>
          </a:prstGeom>
          <a:noFill/>
          <a:ln/>
        </p:spPr>
        <p:txBody>
          <a:bodyPr wrap="square" lIns="0" tIns="0" rIns="0" bIns="0" rtlCol="0" anchor="ctr"/>
          <a:lstStyle/>
          <a:p>
            <a:pPr indent="0" marL="0">
              <a:buNone/>
            </a:pPr>
            <a:r>
              <a:rPr lang="en-US" sz="1350" b="1" dirty="0">
                <a:solidFill>
                  <a:srgbClr val="F5F5F5"/>
                </a:solidFill>
                <a:latin typeface="Calibri" pitchFamily="34" charset="0"/>
                <a:ea typeface="Calibri" pitchFamily="34" charset="-122"/>
                <a:cs typeface="Calibri" pitchFamily="34" charset="-120"/>
              </a:rPr>
              <a:t>Threshold Engineering</a:t>
            </a:r>
            <a:endParaRPr lang="en-US" sz="1350" dirty="0"/>
          </a:p>
        </p:txBody>
      </p:sp>
      <p:sp>
        <p:nvSpPr>
          <p:cNvPr id="23" name="Text 21"/>
          <p:cNvSpPr txBox="1"/>
          <p:nvPr/>
        </p:nvSpPr>
        <p:spPr>
          <a:xfrm>
            <a:off x="4434840" y="5111496"/>
            <a:ext cx="6903720" cy="841248"/>
          </a:xfrm>
          <a:prstGeom prst="rect">
            <a:avLst/>
          </a:prstGeom>
          <a:noFill/>
          <a:ln/>
        </p:spPr>
        <p:txBody>
          <a:bodyPr wrap="square" lIns="0" tIns="0" rIns="0" bIns="0" rtlCol="0" anchor="ctr"/>
          <a:lstStyle/>
          <a:p>
            <a:pPr indent="0" marL="0">
              <a:lnSpc>
                <a:spcPct val="115000"/>
              </a:lnSpc>
              <a:buNone/>
            </a:pPr>
            <a:r>
              <a:rPr lang="en-US" sz="1030" dirty="0">
                <a:solidFill>
                  <a:srgbClr val="9A9A9A"/>
                </a:solidFill>
                <a:latin typeface="Calibri" pitchFamily="34" charset="0"/>
                <a:ea typeface="Calibri" pitchFamily="34" charset="-122"/>
                <a:cs typeface="Calibri" pitchFamily="34" charset="-120"/>
              </a:rPr>
              <a:t>Rather than the default 0.5 cut-off, the optimal decision threshold is computed by scanning the full precision-recall curve for the F1-maximizing point.</a:t>
            </a:r>
            <a:endParaRPr lang="en-US" sz="1030" dirty="0"/>
          </a:p>
        </p:txBody>
      </p:sp>
      <p:sp>
        <p:nvSpPr>
          <p:cNvPr id="24" name="Text 22"/>
          <p:cNvSpPr txBox="1"/>
          <p:nvPr/>
        </p:nvSpPr>
        <p:spPr>
          <a:xfrm>
            <a:off x="457200" y="6528816"/>
            <a:ext cx="5486400" cy="274320"/>
          </a:xfrm>
          <a:prstGeom prst="rect">
            <a:avLst/>
          </a:prstGeom>
          <a:noFill/>
          <a:ln/>
        </p:spPr>
        <p:txBody>
          <a:bodyPr wrap="square" lIns="0" tIns="0" rIns="0" bIns="0" rtlCol="0" anchor="ctr"/>
          <a:lstStyle/>
          <a:p>
            <a:pPr indent="0" marL="0">
              <a:buNone/>
            </a:pPr>
            <a:r>
              <a:rPr lang="en-US" sz="800" spc="200" kern="0" dirty="0">
                <a:solidFill>
                  <a:srgbClr val="6B6B6B"/>
                </a:solidFill>
                <a:latin typeface="Calibri" pitchFamily="34" charset="0"/>
                <a:ea typeface="Calibri" pitchFamily="34" charset="-122"/>
                <a:cs typeface="Calibri" pitchFamily="34" charset="-120"/>
              </a:rPr>
              <a:t>CREDIT CARD FRAUD DETECTION</a:t>
            </a:r>
            <a:endParaRPr lang="en-US" sz="800" dirty="0"/>
          </a:p>
        </p:txBody>
      </p:sp>
      <p:sp>
        <p:nvSpPr>
          <p:cNvPr id="25" name="Text 23"/>
          <p:cNvSpPr txBox="1"/>
          <p:nvPr/>
        </p:nvSpPr>
        <p:spPr>
          <a:xfrm>
            <a:off x="11274552" y="6528816"/>
            <a:ext cx="548640" cy="274320"/>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50" b="1" spc="220" kern="0" dirty="0">
                <a:solidFill>
                  <a:srgbClr val="10B981"/>
                </a:solidFill>
                <a:latin typeface="Calibri" pitchFamily="34" charset="0"/>
                <a:ea typeface="Calibri" pitchFamily="34" charset="-122"/>
                <a:cs typeface="Calibri" pitchFamily="34" charset="-120"/>
              </a:rPr>
              <a:t>06 · MODELING</a:t>
            </a:r>
            <a:endParaRPr lang="en-US" sz="1250" dirty="0"/>
          </a:p>
        </p:txBody>
      </p:sp>
      <p:sp>
        <p:nvSpPr>
          <p:cNvPr id="3" name="Text 1"/>
          <p:cNvSpPr txBox="1"/>
          <p:nvPr/>
        </p:nvSpPr>
        <p:spPr>
          <a:xfrm>
            <a:off x="640080" y="676656"/>
            <a:ext cx="9875520" cy="685800"/>
          </a:xfrm>
          <a:prstGeom prst="rect">
            <a:avLst/>
          </a:prstGeom>
          <a:noFill/>
          <a:ln/>
        </p:spPr>
        <p:txBody>
          <a:bodyPr wrap="square" lIns="0" tIns="0" rIns="0" bIns="0" rtlCol="0" anchor="ctr"/>
          <a:lstStyle/>
          <a:p>
            <a:pPr indent="0" marL="0">
              <a:buNone/>
            </a:pPr>
            <a:r>
              <a:rPr lang="en-US" sz="3000" b="1" dirty="0">
                <a:solidFill>
                  <a:srgbClr val="F5F5F5"/>
                </a:solidFill>
                <a:latin typeface="Cambria" pitchFamily="34" charset="0"/>
                <a:ea typeface="Cambria" pitchFamily="34" charset="-122"/>
                <a:cs typeface="Cambria" pitchFamily="34" charset="-120"/>
              </a:rPr>
              <a:t>Four Models, Four Perspectives</a:t>
            </a:r>
            <a:endParaRPr lang="en-US" sz="3000" dirty="0"/>
          </a:p>
        </p:txBody>
      </p:sp>
      <p:sp>
        <p:nvSpPr>
          <p:cNvPr id="4" name="Shape 2"/>
          <p:cNvSpPr/>
          <p:nvPr/>
        </p:nvSpPr>
        <p:spPr>
          <a:xfrm>
            <a:off x="640080" y="1417320"/>
            <a:ext cx="5257800" cy="1828800"/>
          </a:xfrm>
          <a:prstGeom prst="roundRect">
            <a:avLst>
              <a:gd name="adj" fmla="val 4500"/>
            </a:avLst>
          </a:prstGeom>
          <a:solidFill>
            <a:srgbClr val="141414"/>
          </a:solidFill>
          <a:ln w="15875">
            <a:solidFill>
              <a:srgbClr val="3B82F6"/>
            </a:solidFill>
            <a:prstDash val="solid"/>
          </a:ln>
        </p:spPr>
      </p:sp>
      <p:sp>
        <p:nvSpPr>
          <p:cNvPr id="5" name="Shape 3"/>
          <p:cNvSpPr/>
          <p:nvPr/>
        </p:nvSpPr>
        <p:spPr>
          <a:xfrm>
            <a:off x="640080" y="1417320"/>
            <a:ext cx="82296" cy="1828800"/>
          </a:xfrm>
          <a:prstGeom prst="rect">
            <a:avLst/>
          </a:prstGeom>
          <a:solidFill>
            <a:srgbClr val="3B82F6"/>
          </a:solidFill>
          <a:ln/>
        </p:spPr>
      </p:sp>
      <p:sp>
        <p:nvSpPr>
          <p:cNvPr id="6" name="Text 4"/>
          <p:cNvSpPr txBox="1"/>
          <p:nvPr/>
        </p:nvSpPr>
        <p:spPr>
          <a:xfrm>
            <a:off x="960120" y="1600200"/>
            <a:ext cx="4709160" cy="365760"/>
          </a:xfrm>
          <a:prstGeom prst="rect">
            <a:avLst/>
          </a:prstGeom>
          <a:noFill/>
          <a:ln/>
        </p:spPr>
        <p:txBody>
          <a:bodyPr wrap="square" lIns="0" tIns="0" rIns="0" bIns="0" rtlCol="0" anchor="ctr"/>
          <a:lstStyle/>
          <a:p>
            <a:pPr indent="0" marL="0">
              <a:buNone/>
            </a:pPr>
            <a:r>
              <a:rPr lang="en-US" sz="1600" b="1" dirty="0">
                <a:solidFill>
                  <a:srgbClr val="F5F5F5"/>
                </a:solidFill>
                <a:latin typeface="Calibri" pitchFamily="34" charset="0"/>
                <a:ea typeface="Calibri" pitchFamily="34" charset="-122"/>
                <a:cs typeface="Calibri" pitchFamily="34" charset="-120"/>
              </a:rPr>
              <a:t>Logistic Regression</a:t>
            </a:r>
            <a:endParaRPr lang="en-US" sz="1600" dirty="0"/>
          </a:p>
        </p:txBody>
      </p:sp>
      <p:sp>
        <p:nvSpPr>
          <p:cNvPr id="7" name="Text 5"/>
          <p:cNvSpPr txBox="1"/>
          <p:nvPr/>
        </p:nvSpPr>
        <p:spPr>
          <a:xfrm>
            <a:off x="960120" y="1965960"/>
            <a:ext cx="4709160" cy="274320"/>
          </a:xfrm>
          <a:prstGeom prst="rect">
            <a:avLst/>
          </a:prstGeom>
          <a:noFill/>
          <a:ln/>
        </p:spPr>
        <p:txBody>
          <a:bodyPr wrap="square" lIns="0" tIns="0" rIns="0" bIns="0" rtlCol="0" anchor="ctr"/>
          <a:lstStyle/>
          <a:p>
            <a:pPr indent="0" marL="0">
              <a:buNone/>
            </a:pPr>
            <a:r>
              <a:rPr lang="en-US" sz="950" b="1" spc="100" kern="0" dirty="0">
                <a:solidFill>
                  <a:srgbClr val="3B82F6"/>
                </a:solidFill>
                <a:latin typeface="Calibri" pitchFamily="34" charset="0"/>
                <a:ea typeface="Calibri" pitchFamily="34" charset="-122"/>
                <a:cs typeface="Calibri" pitchFamily="34" charset="-120"/>
              </a:rPr>
              <a:t>SUPERVISED · BASELINE</a:t>
            </a:r>
            <a:endParaRPr lang="en-US" sz="950" dirty="0"/>
          </a:p>
        </p:txBody>
      </p:sp>
      <p:sp>
        <p:nvSpPr>
          <p:cNvPr id="8" name="Text 6"/>
          <p:cNvSpPr txBox="1"/>
          <p:nvPr/>
        </p:nvSpPr>
        <p:spPr>
          <a:xfrm>
            <a:off x="960120" y="2313432"/>
            <a:ext cx="4617720" cy="777240"/>
          </a:xfrm>
          <a:prstGeom prst="rect">
            <a:avLst/>
          </a:prstGeom>
          <a:noFill/>
          <a:ln/>
        </p:spPr>
        <p:txBody>
          <a:bodyPr wrap="square" lIns="0" tIns="0" rIns="0" bIns="0" rtlCol="0" anchor="ctr"/>
          <a:lstStyle/>
          <a:p>
            <a:pPr indent="0" marL="0">
              <a:lnSpc>
                <a:spcPct val="120000"/>
              </a:lnSpc>
              <a:buNone/>
            </a:pPr>
            <a:r>
              <a:rPr lang="en-US" sz="1050" dirty="0">
                <a:solidFill>
                  <a:srgbClr val="9A9A9A"/>
                </a:solidFill>
                <a:latin typeface="Calibri" pitchFamily="34" charset="0"/>
                <a:ea typeface="Calibri" pitchFamily="34" charset="-122"/>
                <a:cs typeface="Calibri" pitchFamily="34" charset="-120"/>
              </a:rPr>
              <a:t>class_weight='balanced', solver='saga', max_iter=1000 — a fast, interpretable linear benchmark.</a:t>
            </a:r>
            <a:endParaRPr lang="en-US" sz="1050" dirty="0"/>
          </a:p>
        </p:txBody>
      </p:sp>
      <p:sp>
        <p:nvSpPr>
          <p:cNvPr id="9" name="Shape 7"/>
          <p:cNvSpPr/>
          <p:nvPr/>
        </p:nvSpPr>
        <p:spPr>
          <a:xfrm>
            <a:off x="6217920" y="1417320"/>
            <a:ext cx="5257800" cy="1828800"/>
          </a:xfrm>
          <a:prstGeom prst="roundRect">
            <a:avLst>
              <a:gd name="adj" fmla="val 4500"/>
            </a:avLst>
          </a:prstGeom>
          <a:solidFill>
            <a:srgbClr val="141414"/>
          </a:solidFill>
          <a:ln w="15875">
            <a:solidFill>
              <a:srgbClr val="10B981"/>
            </a:solidFill>
            <a:prstDash val="solid"/>
          </a:ln>
        </p:spPr>
      </p:sp>
      <p:sp>
        <p:nvSpPr>
          <p:cNvPr id="10" name="Shape 8"/>
          <p:cNvSpPr/>
          <p:nvPr/>
        </p:nvSpPr>
        <p:spPr>
          <a:xfrm>
            <a:off x="6217920" y="1417320"/>
            <a:ext cx="82296" cy="1828800"/>
          </a:xfrm>
          <a:prstGeom prst="rect">
            <a:avLst/>
          </a:prstGeom>
          <a:solidFill>
            <a:srgbClr val="10B981"/>
          </a:solidFill>
          <a:ln/>
        </p:spPr>
      </p:sp>
      <p:sp>
        <p:nvSpPr>
          <p:cNvPr id="11" name="Text 9"/>
          <p:cNvSpPr txBox="1"/>
          <p:nvPr/>
        </p:nvSpPr>
        <p:spPr>
          <a:xfrm>
            <a:off x="6537960" y="1600200"/>
            <a:ext cx="4709160" cy="365760"/>
          </a:xfrm>
          <a:prstGeom prst="rect">
            <a:avLst/>
          </a:prstGeom>
          <a:noFill/>
          <a:ln/>
        </p:spPr>
        <p:txBody>
          <a:bodyPr wrap="square" lIns="0" tIns="0" rIns="0" bIns="0" rtlCol="0" anchor="ctr"/>
          <a:lstStyle/>
          <a:p>
            <a:pPr indent="0" marL="0">
              <a:buNone/>
            </a:pPr>
            <a:r>
              <a:rPr lang="en-US" sz="1600" b="1" dirty="0">
                <a:solidFill>
                  <a:srgbClr val="F5F5F5"/>
                </a:solidFill>
                <a:latin typeface="Calibri" pitchFamily="34" charset="0"/>
                <a:ea typeface="Calibri" pitchFamily="34" charset="-122"/>
                <a:cs typeface="Calibri" pitchFamily="34" charset="-120"/>
              </a:rPr>
              <a:t>Random Forest</a:t>
            </a:r>
            <a:endParaRPr lang="en-US" sz="1600" dirty="0"/>
          </a:p>
        </p:txBody>
      </p:sp>
      <p:sp>
        <p:nvSpPr>
          <p:cNvPr id="12" name="Text 10"/>
          <p:cNvSpPr txBox="1"/>
          <p:nvPr/>
        </p:nvSpPr>
        <p:spPr>
          <a:xfrm>
            <a:off x="6537960" y="1965960"/>
            <a:ext cx="4709160"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Calibri" pitchFamily="34" charset="0"/>
                <a:ea typeface="Calibri" pitchFamily="34" charset="-122"/>
                <a:cs typeface="Calibri" pitchFamily="34" charset="-120"/>
              </a:rPr>
              <a:t>SUPERVISED · ENSEMBLE (DEPLOYED MODEL)</a:t>
            </a:r>
            <a:endParaRPr lang="en-US" sz="950" dirty="0"/>
          </a:p>
        </p:txBody>
      </p:sp>
      <p:sp>
        <p:nvSpPr>
          <p:cNvPr id="13" name="Text 11"/>
          <p:cNvSpPr txBox="1"/>
          <p:nvPr/>
        </p:nvSpPr>
        <p:spPr>
          <a:xfrm>
            <a:off x="6537960" y="2313432"/>
            <a:ext cx="4617720" cy="777240"/>
          </a:xfrm>
          <a:prstGeom prst="rect">
            <a:avLst/>
          </a:prstGeom>
          <a:noFill/>
          <a:ln/>
        </p:spPr>
        <p:txBody>
          <a:bodyPr wrap="square" lIns="0" tIns="0" rIns="0" bIns="0" rtlCol="0" anchor="ctr"/>
          <a:lstStyle/>
          <a:p>
            <a:pPr indent="0" marL="0">
              <a:lnSpc>
                <a:spcPct val="120000"/>
              </a:lnSpc>
              <a:buNone/>
            </a:pPr>
            <a:r>
              <a:rPr lang="en-US" sz="1050" dirty="0">
                <a:solidFill>
                  <a:srgbClr val="9A9A9A"/>
                </a:solidFill>
                <a:latin typeface="Calibri" pitchFamily="34" charset="0"/>
                <a:ea typeface="Calibri" pitchFamily="34" charset="-122"/>
                <a:cs typeface="Calibri" pitchFamily="34" charset="-120"/>
              </a:rPr>
              <a:t>200 trees, max_depth=12, min_samples_leaf=2, balanced weights — captures non-linear feature interactions.</a:t>
            </a:r>
            <a:endParaRPr lang="en-US" sz="1050" dirty="0"/>
          </a:p>
        </p:txBody>
      </p:sp>
      <p:sp>
        <p:nvSpPr>
          <p:cNvPr id="14" name="Shape 12"/>
          <p:cNvSpPr/>
          <p:nvPr/>
        </p:nvSpPr>
        <p:spPr>
          <a:xfrm>
            <a:off x="640080" y="3447288"/>
            <a:ext cx="5257800" cy="1828800"/>
          </a:xfrm>
          <a:prstGeom prst="roundRect">
            <a:avLst>
              <a:gd name="adj" fmla="val 4500"/>
            </a:avLst>
          </a:prstGeom>
          <a:solidFill>
            <a:srgbClr val="141414"/>
          </a:solidFill>
          <a:ln w="15875">
            <a:solidFill>
              <a:srgbClr val="3B82F6"/>
            </a:solidFill>
            <a:prstDash val="solid"/>
          </a:ln>
        </p:spPr>
      </p:sp>
      <p:sp>
        <p:nvSpPr>
          <p:cNvPr id="15" name="Shape 13"/>
          <p:cNvSpPr/>
          <p:nvPr/>
        </p:nvSpPr>
        <p:spPr>
          <a:xfrm>
            <a:off x="640080" y="3447288"/>
            <a:ext cx="82296" cy="1828800"/>
          </a:xfrm>
          <a:prstGeom prst="rect">
            <a:avLst/>
          </a:prstGeom>
          <a:solidFill>
            <a:srgbClr val="3B82F6"/>
          </a:solidFill>
          <a:ln/>
        </p:spPr>
      </p:sp>
      <p:sp>
        <p:nvSpPr>
          <p:cNvPr id="16" name="Text 14"/>
          <p:cNvSpPr txBox="1"/>
          <p:nvPr/>
        </p:nvSpPr>
        <p:spPr>
          <a:xfrm>
            <a:off x="960120" y="3630168"/>
            <a:ext cx="4709160" cy="365760"/>
          </a:xfrm>
          <a:prstGeom prst="rect">
            <a:avLst/>
          </a:prstGeom>
          <a:noFill/>
          <a:ln/>
        </p:spPr>
        <p:txBody>
          <a:bodyPr wrap="square" lIns="0" tIns="0" rIns="0" bIns="0" rtlCol="0" anchor="ctr"/>
          <a:lstStyle/>
          <a:p>
            <a:pPr indent="0" marL="0">
              <a:buNone/>
            </a:pPr>
            <a:r>
              <a:rPr lang="en-US" sz="1600" b="1" dirty="0">
                <a:solidFill>
                  <a:srgbClr val="F5F5F5"/>
                </a:solidFill>
                <a:latin typeface="Calibri" pitchFamily="34" charset="0"/>
                <a:ea typeface="Calibri" pitchFamily="34" charset="-122"/>
                <a:cs typeface="Calibri" pitchFamily="34" charset="-120"/>
              </a:rPr>
              <a:t>XGBoost</a:t>
            </a:r>
            <a:endParaRPr lang="en-US" sz="1600" dirty="0"/>
          </a:p>
        </p:txBody>
      </p:sp>
      <p:sp>
        <p:nvSpPr>
          <p:cNvPr id="17" name="Text 15"/>
          <p:cNvSpPr txBox="1"/>
          <p:nvPr/>
        </p:nvSpPr>
        <p:spPr>
          <a:xfrm>
            <a:off x="960120" y="3995928"/>
            <a:ext cx="4709160" cy="274320"/>
          </a:xfrm>
          <a:prstGeom prst="rect">
            <a:avLst/>
          </a:prstGeom>
          <a:noFill/>
          <a:ln/>
        </p:spPr>
        <p:txBody>
          <a:bodyPr wrap="square" lIns="0" tIns="0" rIns="0" bIns="0" rtlCol="0" anchor="ctr"/>
          <a:lstStyle/>
          <a:p>
            <a:pPr indent="0" marL="0">
              <a:buNone/>
            </a:pPr>
            <a:r>
              <a:rPr lang="en-US" sz="950" b="1" spc="100" kern="0" dirty="0">
                <a:solidFill>
                  <a:srgbClr val="3B82F6"/>
                </a:solidFill>
                <a:latin typeface="Calibri" pitchFamily="34" charset="0"/>
                <a:ea typeface="Calibri" pitchFamily="34" charset="-122"/>
                <a:cs typeface="Calibri" pitchFamily="34" charset="-120"/>
              </a:rPr>
              <a:t>SUPERVISED · BOOSTING</a:t>
            </a:r>
            <a:endParaRPr lang="en-US" sz="950" dirty="0"/>
          </a:p>
        </p:txBody>
      </p:sp>
      <p:sp>
        <p:nvSpPr>
          <p:cNvPr id="18" name="Text 16"/>
          <p:cNvSpPr txBox="1"/>
          <p:nvPr/>
        </p:nvSpPr>
        <p:spPr>
          <a:xfrm>
            <a:off x="960120" y="4343400"/>
            <a:ext cx="4617720" cy="777240"/>
          </a:xfrm>
          <a:prstGeom prst="rect">
            <a:avLst/>
          </a:prstGeom>
          <a:noFill/>
          <a:ln/>
        </p:spPr>
        <p:txBody>
          <a:bodyPr wrap="square" lIns="0" tIns="0" rIns="0" bIns="0" rtlCol="0" anchor="ctr"/>
          <a:lstStyle/>
          <a:p>
            <a:pPr indent="0" marL="0">
              <a:lnSpc>
                <a:spcPct val="120000"/>
              </a:lnSpc>
              <a:buNone/>
            </a:pPr>
            <a:r>
              <a:rPr lang="en-US" sz="1050" dirty="0">
                <a:solidFill>
                  <a:srgbClr val="9A9A9A"/>
                </a:solidFill>
                <a:latin typeface="Calibri" pitchFamily="34" charset="0"/>
                <a:ea typeface="Calibri" pitchFamily="34" charset="-122"/>
                <a:cs typeface="Calibri" pitchFamily="34" charset="-120"/>
              </a:rPr>
              <a:t>Optuna-tuned over 50 trials (n_estimators, max_depth, learning_rate, scale_pos_weight, etc.) — highest PR-AUC (0.8766).</a:t>
            </a:r>
            <a:endParaRPr lang="en-US" sz="1050" dirty="0"/>
          </a:p>
        </p:txBody>
      </p:sp>
      <p:sp>
        <p:nvSpPr>
          <p:cNvPr id="19" name="Shape 17"/>
          <p:cNvSpPr/>
          <p:nvPr/>
        </p:nvSpPr>
        <p:spPr>
          <a:xfrm>
            <a:off x="6217920" y="3447288"/>
            <a:ext cx="5257800" cy="1828800"/>
          </a:xfrm>
          <a:prstGeom prst="roundRect">
            <a:avLst>
              <a:gd name="adj" fmla="val 4500"/>
            </a:avLst>
          </a:prstGeom>
          <a:solidFill>
            <a:srgbClr val="141414"/>
          </a:solidFill>
          <a:ln w="15875">
            <a:solidFill>
              <a:srgbClr val="F59E0B"/>
            </a:solidFill>
            <a:prstDash val="solid"/>
          </a:ln>
        </p:spPr>
      </p:sp>
      <p:sp>
        <p:nvSpPr>
          <p:cNvPr id="20" name="Shape 18"/>
          <p:cNvSpPr/>
          <p:nvPr/>
        </p:nvSpPr>
        <p:spPr>
          <a:xfrm>
            <a:off x="6217920" y="3447288"/>
            <a:ext cx="82296" cy="1828800"/>
          </a:xfrm>
          <a:prstGeom prst="rect">
            <a:avLst/>
          </a:prstGeom>
          <a:solidFill>
            <a:srgbClr val="F59E0B"/>
          </a:solidFill>
          <a:ln/>
        </p:spPr>
      </p:sp>
      <p:sp>
        <p:nvSpPr>
          <p:cNvPr id="21" name="Text 19"/>
          <p:cNvSpPr txBox="1"/>
          <p:nvPr/>
        </p:nvSpPr>
        <p:spPr>
          <a:xfrm>
            <a:off x="6537960" y="3630168"/>
            <a:ext cx="4709160" cy="365760"/>
          </a:xfrm>
          <a:prstGeom prst="rect">
            <a:avLst/>
          </a:prstGeom>
          <a:noFill/>
          <a:ln/>
        </p:spPr>
        <p:txBody>
          <a:bodyPr wrap="square" lIns="0" tIns="0" rIns="0" bIns="0" rtlCol="0" anchor="ctr"/>
          <a:lstStyle/>
          <a:p>
            <a:pPr indent="0" marL="0">
              <a:buNone/>
            </a:pPr>
            <a:r>
              <a:rPr lang="en-US" sz="1600" b="1" dirty="0">
                <a:solidFill>
                  <a:srgbClr val="F5F5F5"/>
                </a:solidFill>
                <a:latin typeface="Calibri" pitchFamily="34" charset="0"/>
                <a:ea typeface="Calibri" pitchFamily="34" charset="-122"/>
                <a:cs typeface="Calibri" pitchFamily="34" charset="-120"/>
              </a:rPr>
              <a:t>Isolation Forest</a:t>
            </a:r>
            <a:endParaRPr lang="en-US" sz="1600" dirty="0"/>
          </a:p>
        </p:txBody>
      </p:sp>
      <p:sp>
        <p:nvSpPr>
          <p:cNvPr id="22" name="Text 20"/>
          <p:cNvSpPr txBox="1"/>
          <p:nvPr/>
        </p:nvSpPr>
        <p:spPr>
          <a:xfrm>
            <a:off x="6537960" y="3995928"/>
            <a:ext cx="4709160" cy="274320"/>
          </a:xfrm>
          <a:prstGeom prst="rect">
            <a:avLst/>
          </a:prstGeom>
          <a:noFill/>
          <a:ln/>
        </p:spPr>
        <p:txBody>
          <a:bodyPr wrap="square" lIns="0" tIns="0" rIns="0" bIns="0" rtlCol="0" anchor="ctr"/>
          <a:lstStyle/>
          <a:p>
            <a:pPr indent="0" marL="0">
              <a:buNone/>
            </a:pPr>
            <a:r>
              <a:rPr lang="en-US" sz="950" b="1" spc="100" kern="0" dirty="0">
                <a:solidFill>
                  <a:srgbClr val="F59E0B"/>
                </a:solidFill>
                <a:latin typeface="Calibri" pitchFamily="34" charset="0"/>
                <a:ea typeface="Calibri" pitchFamily="34" charset="-122"/>
                <a:cs typeface="Calibri" pitchFamily="34" charset="-120"/>
              </a:rPr>
              <a:t>UNSUPERVISED · ANOMALY DETECTION</a:t>
            </a:r>
            <a:endParaRPr lang="en-US" sz="950" dirty="0"/>
          </a:p>
        </p:txBody>
      </p:sp>
      <p:sp>
        <p:nvSpPr>
          <p:cNvPr id="23" name="Text 21"/>
          <p:cNvSpPr txBox="1"/>
          <p:nvPr/>
        </p:nvSpPr>
        <p:spPr>
          <a:xfrm>
            <a:off x="6537960" y="4343400"/>
            <a:ext cx="4617720" cy="777240"/>
          </a:xfrm>
          <a:prstGeom prst="rect">
            <a:avLst/>
          </a:prstGeom>
          <a:noFill/>
          <a:ln/>
        </p:spPr>
        <p:txBody>
          <a:bodyPr wrap="square" lIns="0" tIns="0" rIns="0" bIns="0" rtlCol="0" anchor="ctr"/>
          <a:lstStyle/>
          <a:p>
            <a:pPr indent="0" marL="0">
              <a:lnSpc>
                <a:spcPct val="120000"/>
              </a:lnSpc>
              <a:buNone/>
            </a:pPr>
            <a:r>
              <a:rPr lang="en-US" sz="1050" dirty="0">
                <a:solidFill>
                  <a:srgbClr val="9A9A9A"/>
                </a:solidFill>
                <a:latin typeface="Calibri" pitchFamily="34" charset="0"/>
                <a:ea typeface="Calibri" pitchFamily="34" charset="-122"/>
                <a:cs typeface="Calibri" pitchFamily="34" charset="-120"/>
              </a:rPr>
              <a:t>200 estimators, contamination = live fraud rate — flags outliers without ever seeing labels during training.</a:t>
            </a:r>
            <a:endParaRPr lang="en-US" sz="1050" dirty="0"/>
          </a:p>
        </p:txBody>
      </p:sp>
      <p:sp>
        <p:nvSpPr>
          <p:cNvPr id="24" name="Shape 22"/>
          <p:cNvSpPr/>
          <p:nvPr/>
        </p:nvSpPr>
        <p:spPr>
          <a:xfrm>
            <a:off x="640080" y="5349240"/>
            <a:ext cx="10908792" cy="960120"/>
          </a:xfrm>
          <a:prstGeom prst="roundRect">
            <a:avLst>
              <a:gd name="adj" fmla="val 7619"/>
            </a:avLst>
          </a:prstGeom>
          <a:solidFill>
            <a:srgbClr val="0A140F"/>
          </a:solidFill>
          <a:ln w="12700">
            <a:solidFill>
              <a:srgbClr val="1E4A2E"/>
            </a:solidFill>
            <a:prstDash val="solid"/>
          </a:ln>
        </p:spPr>
      </p:sp>
      <p:sp>
        <p:nvSpPr>
          <p:cNvPr id="25" name="Text 23"/>
          <p:cNvSpPr txBox="1"/>
          <p:nvPr/>
        </p:nvSpPr>
        <p:spPr>
          <a:xfrm>
            <a:off x="914400" y="5468112"/>
            <a:ext cx="10332720" cy="256032"/>
          </a:xfrm>
          <a:prstGeom prst="rect">
            <a:avLst/>
          </a:prstGeom>
          <a:noFill/>
          <a:ln/>
        </p:spPr>
        <p:txBody>
          <a:bodyPr wrap="square" lIns="0" tIns="0" rIns="0" bIns="0" rtlCol="0" anchor="ctr"/>
          <a:lstStyle/>
          <a:p>
            <a:pPr indent="0" marL="0">
              <a:buNone/>
            </a:pPr>
            <a:r>
              <a:rPr lang="en-US" sz="1000" b="1" spc="120" kern="0" dirty="0">
                <a:solidFill>
                  <a:srgbClr val="10B981"/>
                </a:solidFill>
                <a:latin typeface="Calibri" pitchFamily="34" charset="0"/>
                <a:ea typeface="Calibri" pitchFamily="34" charset="-122"/>
                <a:cs typeface="Calibri" pitchFamily="34" charset="-120"/>
              </a:rPr>
              <a:t>WHY RANDOM FOREST OVER XGBOOST?</a:t>
            </a:r>
            <a:endParaRPr lang="en-US" sz="1000" dirty="0"/>
          </a:p>
        </p:txBody>
      </p:sp>
      <p:sp>
        <p:nvSpPr>
          <p:cNvPr id="26" name="Text 24"/>
          <p:cNvSpPr txBox="1"/>
          <p:nvPr/>
        </p:nvSpPr>
        <p:spPr>
          <a:xfrm>
            <a:off x="914400" y="5724144"/>
            <a:ext cx="10332720" cy="548640"/>
          </a:xfrm>
          <a:prstGeom prst="rect">
            <a:avLst/>
          </a:prstGeom>
          <a:noFill/>
          <a:ln/>
        </p:spPr>
        <p:txBody>
          <a:bodyPr wrap="square" lIns="0" tIns="0" rIns="0" bIns="0" rtlCol="0" anchor="ctr"/>
          <a:lstStyle/>
          <a:p>
            <a:pPr indent="0" marL="0">
              <a:lnSpc>
                <a:spcPct val="120000"/>
              </a:lnSpc>
              <a:buNone/>
            </a:pPr>
            <a:r>
              <a:rPr lang="en-US" sz="1100" i="1" dirty="0">
                <a:solidFill>
                  <a:srgbClr val="D0D0D0"/>
                </a:solidFill>
                <a:latin typeface="Calibri" pitchFamily="34" charset="0"/>
                <a:ea typeface="Calibri" pitchFamily="34" charset="-122"/>
                <a:cs typeface="Calibri" pitchFamily="34" charset="-120"/>
              </a:rPr>
              <a:t>Random Forest posts the highest ROC-AUC of all four models (0.9808) and nearly matches XGBoost's F1 (0.8542 vs 0.8743) — but at a far safer decision threshold (0.655 vs XGBoost's extreme 0.993) and without an extra heavyweight dependency to keep stable in production.</a:t>
            </a:r>
            <a:endParaRPr lang="en-US" sz="1100" dirty="0"/>
          </a:p>
        </p:txBody>
      </p:sp>
      <p:sp>
        <p:nvSpPr>
          <p:cNvPr id="27" name="Text 25"/>
          <p:cNvSpPr txBox="1"/>
          <p:nvPr/>
        </p:nvSpPr>
        <p:spPr>
          <a:xfrm>
            <a:off x="457200" y="6528816"/>
            <a:ext cx="5486400" cy="274320"/>
          </a:xfrm>
          <a:prstGeom prst="rect">
            <a:avLst/>
          </a:prstGeom>
          <a:noFill/>
          <a:ln/>
        </p:spPr>
        <p:txBody>
          <a:bodyPr wrap="square" lIns="0" tIns="0" rIns="0" bIns="0" rtlCol="0" anchor="ctr"/>
          <a:lstStyle/>
          <a:p>
            <a:pPr indent="0" marL="0">
              <a:buNone/>
            </a:pPr>
            <a:r>
              <a:rPr lang="en-US" sz="800" spc="200" kern="0" dirty="0">
                <a:solidFill>
                  <a:srgbClr val="6B6B6B"/>
                </a:solidFill>
                <a:latin typeface="Calibri" pitchFamily="34" charset="0"/>
                <a:ea typeface="Calibri" pitchFamily="34" charset="-122"/>
                <a:cs typeface="Calibri" pitchFamily="34" charset="-120"/>
              </a:rPr>
              <a:t>CREDIT CARD FRAUD DETECTION</a:t>
            </a:r>
            <a:endParaRPr lang="en-US" sz="800" dirty="0"/>
          </a:p>
        </p:txBody>
      </p:sp>
      <p:sp>
        <p:nvSpPr>
          <p:cNvPr id="28" name="Text 26"/>
          <p:cNvSpPr txBox="1"/>
          <p:nvPr/>
        </p:nvSpPr>
        <p:spPr>
          <a:xfrm>
            <a:off x="11274552" y="6528816"/>
            <a:ext cx="548640" cy="274320"/>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50" b="1" spc="220" kern="0" dirty="0">
                <a:solidFill>
                  <a:srgbClr val="10B981"/>
                </a:solidFill>
                <a:latin typeface="Calibri" pitchFamily="34" charset="0"/>
                <a:ea typeface="Calibri" pitchFamily="34" charset="-122"/>
                <a:cs typeface="Calibri" pitchFamily="34" charset="-120"/>
              </a:rPr>
              <a:t>06 · MODELING</a:t>
            </a:r>
            <a:endParaRPr lang="en-US" sz="1250" dirty="0"/>
          </a:p>
        </p:txBody>
      </p:sp>
      <p:sp>
        <p:nvSpPr>
          <p:cNvPr id="3" name="Text 1"/>
          <p:cNvSpPr txBox="1"/>
          <p:nvPr/>
        </p:nvSpPr>
        <p:spPr>
          <a:xfrm>
            <a:off x="640080" y="676656"/>
            <a:ext cx="9875520" cy="685800"/>
          </a:xfrm>
          <a:prstGeom prst="rect">
            <a:avLst/>
          </a:prstGeom>
          <a:noFill/>
          <a:ln/>
        </p:spPr>
        <p:txBody>
          <a:bodyPr wrap="square" lIns="0" tIns="0" rIns="0" bIns="0" rtlCol="0" anchor="ctr"/>
          <a:lstStyle/>
          <a:p>
            <a:pPr indent="0" marL="0">
              <a:buNone/>
            </a:pPr>
            <a:r>
              <a:rPr lang="en-US" sz="3000" b="1" dirty="0">
                <a:solidFill>
                  <a:srgbClr val="F5F5F5"/>
                </a:solidFill>
                <a:latin typeface="Cambria" pitchFamily="34" charset="0"/>
                <a:ea typeface="Cambria" pitchFamily="34" charset="-122"/>
                <a:cs typeface="Cambria" pitchFamily="34" charset="-120"/>
              </a:rPr>
              <a:t>Hyperparameter &amp; Threshold Tuning</a:t>
            </a:r>
            <a:endParaRPr lang="en-US" sz="3000" dirty="0"/>
          </a:p>
        </p:txBody>
      </p:sp>
      <p:sp>
        <p:nvSpPr>
          <p:cNvPr id="4" name="Shape 2"/>
          <p:cNvSpPr/>
          <p:nvPr/>
        </p:nvSpPr>
        <p:spPr>
          <a:xfrm>
            <a:off x="640080" y="1508760"/>
            <a:ext cx="5806440" cy="4709160"/>
          </a:xfrm>
          <a:prstGeom prst="roundRect">
            <a:avLst>
              <a:gd name="adj" fmla="val 1553"/>
            </a:avLst>
          </a:prstGeom>
          <a:solidFill>
            <a:srgbClr val="0D0D12"/>
          </a:solidFill>
          <a:ln w="12700">
            <a:solidFill>
              <a:srgbClr val="2A2A2A"/>
            </a:solidFill>
            <a:prstDash val="solid"/>
          </a:ln>
        </p:spPr>
      </p:sp>
      <p:sp>
        <p:nvSpPr>
          <p:cNvPr id="5" name="Text 3"/>
          <p:cNvSpPr txBox="1"/>
          <p:nvPr/>
        </p:nvSpPr>
        <p:spPr>
          <a:xfrm>
            <a:off x="868680" y="1645920"/>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train.py — best_threshold_f1()  (applied per-model)</a:t>
            </a:r>
            <a:endParaRPr lang="en-US" sz="1000" dirty="0"/>
          </a:p>
        </p:txBody>
      </p:sp>
      <p:sp>
        <p:nvSpPr>
          <p:cNvPr id="6" name="Text 4"/>
          <p:cNvSpPr txBox="1"/>
          <p:nvPr/>
        </p:nvSpPr>
        <p:spPr>
          <a:xfrm>
            <a:off x="868680" y="2011680"/>
            <a:ext cx="5394960" cy="2743200"/>
          </a:xfrm>
          <a:prstGeom prst="rect">
            <a:avLst/>
          </a:prstGeom>
          <a:noFill/>
          <a:ln/>
        </p:spPr>
        <p:txBody>
          <a:bodyPr wrap="square" lIns="0" tIns="0" rIns="0" bIns="0" rtlCol="0" anchor="ctr"/>
          <a:lstStyle/>
          <a:p>
            <a:pPr indent="0" marL="0">
              <a:lnSpc>
                <a:spcPct val="128000"/>
              </a:lnSpc>
              <a:buNone/>
            </a:pPr>
            <a:r>
              <a:rPr lang="en-US" sz="1020" dirty="0">
                <a:solidFill>
                  <a:srgbClr val="C9D1E0"/>
                </a:solidFill>
                <a:latin typeface="Courier New" pitchFamily="34" charset="0"/>
                <a:ea typeface="Courier New" pitchFamily="34" charset="-122"/>
                <a:cs typeface="Courier New" pitchFamily="34" charset="-120"/>
              </a:rPr>
              <a:t>precisions, recalls, thresholds = \</a:t>
            </a:r>
            <a:endParaRPr lang="en-US" sz="1020" dirty="0"/>
          </a:p>
          <a:p>
            <a:pPr indent="0" marL="0">
              <a:lnSpc>
                <a:spcPct val="128000"/>
              </a:lnSpc>
              <a:buNone/>
            </a:pPr>
            <a:r>
              <a:rPr lang="en-US" sz="1020" dirty="0">
                <a:solidFill>
                  <a:srgbClr val="C9D1E0"/>
                </a:solidFill>
                <a:latin typeface="Courier New" pitchFamily="34" charset="0"/>
                <a:ea typeface="Courier New" pitchFamily="34" charset="-122"/>
                <a:cs typeface="Courier New" pitchFamily="34" charset="-120"/>
              </a:rPr>
              <a:t>    precision_recall_curve(y_true, y_prob)</a:t>
            </a:r>
            <a:endParaRPr lang="en-US" sz="1020" dirty="0"/>
          </a:p>
          <a:p>
            <a:pPr indent="0" marL="0">
              <a:lnSpc>
                <a:spcPct val="128000"/>
              </a:lnSpc>
              <a:buNone/>
            </a:pPr>
            <a:endParaRPr lang="en-US" sz="1020" dirty="0"/>
          </a:p>
          <a:p>
            <a:pPr indent="0" marL="0">
              <a:lnSpc>
                <a:spcPct val="128000"/>
              </a:lnSpc>
              <a:buNone/>
            </a:pPr>
            <a:r>
              <a:rPr lang="en-US" sz="1020" dirty="0">
                <a:solidFill>
                  <a:srgbClr val="C9D1E0"/>
                </a:solidFill>
                <a:latin typeface="Courier New" pitchFamily="34" charset="0"/>
                <a:ea typeface="Courier New" pitchFamily="34" charset="-122"/>
                <a:cs typeface="Courier New" pitchFamily="34" charset="-120"/>
              </a:rPr>
              <a:t># [:-1] aligns arrays: f1s[i] &lt;-&gt; thresholds[i]</a:t>
            </a:r>
            <a:endParaRPr lang="en-US" sz="1020" dirty="0"/>
          </a:p>
          <a:p>
            <a:pPr indent="0" marL="0">
              <a:lnSpc>
                <a:spcPct val="128000"/>
              </a:lnSpc>
              <a:buNone/>
            </a:pPr>
            <a:r>
              <a:rPr lang="en-US" sz="1020" dirty="0">
                <a:solidFill>
                  <a:srgbClr val="C9D1E0"/>
                </a:solidFill>
                <a:latin typeface="Courier New" pitchFamily="34" charset="0"/>
                <a:ea typeface="Courier New" pitchFamily="34" charset="-122"/>
                <a:cs typeface="Courier New" pitchFamily="34" charset="-120"/>
              </a:rPr>
              <a:t>f1s = 2 * precisions[:-1] * recalls[:-1] / \</a:t>
            </a:r>
            <a:endParaRPr lang="en-US" sz="1020" dirty="0"/>
          </a:p>
          <a:p>
            <a:pPr indent="0" marL="0">
              <a:lnSpc>
                <a:spcPct val="128000"/>
              </a:lnSpc>
              <a:buNone/>
            </a:pPr>
            <a:r>
              <a:rPr lang="en-US" sz="1020" dirty="0">
                <a:solidFill>
                  <a:srgbClr val="C9D1E0"/>
                </a:solidFill>
                <a:latin typeface="Courier New" pitchFamily="34" charset="0"/>
                <a:ea typeface="Courier New" pitchFamily="34" charset="-122"/>
                <a:cs typeface="Courier New" pitchFamily="34" charset="-120"/>
              </a:rPr>
              <a:t>    (precisions[:-1] + recalls[:-1] + 1e-9)</a:t>
            </a:r>
            <a:endParaRPr lang="en-US" sz="1020" dirty="0"/>
          </a:p>
          <a:p>
            <a:pPr indent="0" marL="0">
              <a:lnSpc>
                <a:spcPct val="128000"/>
              </a:lnSpc>
              <a:buNone/>
            </a:pPr>
            <a:endParaRPr lang="en-US" sz="1020" dirty="0"/>
          </a:p>
          <a:p>
            <a:pPr indent="0" marL="0">
              <a:lnSpc>
                <a:spcPct val="128000"/>
              </a:lnSpc>
              <a:buNone/>
            </a:pPr>
            <a:r>
              <a:rPr lang="en-US" sz="1020" dirty="0">
                <a:solidFill>
                  <a:srgbClr val="C9D1E0"/>
                </a:solidFill>
                <a:latin typeface="Courier New" pitchFamily="34" charset="0"/>
                <a:ea typeface="Courier New" pitchFamily="34" charset="-122"/>
                <a:cs typeface="Courier New" pitchFamily="34" charset="-120"/>
              </a:rPr>
              <a:t>best_idx = np.argmax(f1s)</a:t>
            </a:r>
            <a:endParaRPr lang="en-US" sz="1020" dirty="0"/>
          </a:p>
          <a:p>
            <a:pPr indent="0" marL="0">
              <a:lnSpc>
                <a:spcPct val="128000"/>
              </a:lnSpc>
              <a:buNone/>
            </a:pPr>
            <a:r>
              <a:rPr lang="en-US" sz="1020" dirty="0">
                <a:solidFill>
                  <a:srgbClr val="C9D1E0"/>
                </a:solidFill>
                <a:latin typeface="Courier New" pitchFamily="34" charset="0"/>
                <a:ea typeface="Courier New" pitchFamily="34" charset="-122"/>
                <a:cs typeface="Courier New" pitchFamily="34" charset="-120"/>
              </a:rPr>
              <a:t>thr = float(thresholds[best_idx])</a:t>
            </a:r>
            <a:endParaRPr lang="en-US" sz="1020" dirty="0"/>
          </a:p>
          <a:p>
            <a:pPr indent="0" marL="0">
              <a:lnSpc>
                <a:spcPct val="128000"/>
              </a:lnSpc>
              <a:buNone/>
            </a:pPr>
            <a:endParaRPr lang="en-US" sz="1020" dirty="0"/>
          </a:p>
          <a:p>
            <a:pPr indent="0" marL="0">
              <a:lnSpc>
                <a:spcPct val="128000"/>
              </a:lnSpc>
              <a:buNone/>
            </a:pPr>
            <a:r>
              <a:rPr lang="en-US" sz="1020" dirty="0">
                <a:solidFill>
                  <a:srgbClr val="C9D1E0"/>
                </a:solidFill>
                <a:latin typeface="Courier New" pitchFamily="34" charset="0"/>
                <a:ea typeface="Courier New" pitchFamily="34" charset="-122"/>
                <a:cs typeface="Courier New" pitchFamily="34" charset="-120"/>
              </a:rPr>
              <a:t># prob &gt;= 1.0 is always False at inference</a:t>
            </a:r>
            <a:endParaRPr lang="en-US" sz="1020" dirty="0"/>
          </a:p>
          <a:p>
            <a:pPr indent="0" marL="0">
              <a:lnSpc>
                <a:spcPct val="128000"/>
              </a:lnSpc>
              <a:buNone/>
            </a:pPr>
            <a:r>
              <a:rPr lang="en-US" sz="1020" dirty="0">
                <a:solidFill>
                  <a:srgbClr val="C9D1E0"/>
                </a:solidFill>
                <a:latin typeface="Courier New" pitchFamily="34" charset="0"/>
                <a:ea typeface="Courier New" pitchFamily="34" charset="-122"/>
                <a:cs typeface="Courier New" pitchFamily="34" charset="-120"/>
              </a:rPr>
              <a:t>thr = min(thr, 0.9999)</a:t>
            </a:r>
            <a:endParaRPr lang="en-US" sz="1020" dirty="0"/>
          </a:p>
          <a:p>
            <a:pPr indent="0" marL="0">
              <a:lnSpc>
                <a:spcPct val="128000"/>
              </a:lnSpc>
              <a:buNone/>
            </a:pPr>
            <a:r>
              <a:rPr lang="en-US" sz="1020" dirty="0">
                <a:solidFill>
                  <a:srgbClr val="C9D1E0"/>
                </a:solidFill>
                <a:latin typeface="Courier New" pitchFamily="34" charset="0"/>
                <a:ea typeface="Courier New" pitchFamily="34" charset="-122"/>
                <a:cs typeface="Courier New" pitchFamily="34" charset="-120"/>
              </a:rPr>
              <a:t>return thr, float(f1s[best_idx])</a:t>
            </a:r>
            <a:endParaRPr lang="en-US" sz="1020" dirty="0"/>
          </a:p>
        </p:txBody>
      </p:sp>
      <p:sp>
        <p:nvSpPr>
          <p:cNvPr id="7" name="Shape 5"/>
          <p:cNvSpPr/>
          <p:nvPr/>
        </p:nvSpPr>
        <p:spPr>
          <a:xfrm>
            <a:off x="868680" y="4892040"/>
            <a:ext cx="5349240" cy="914"/>
          </a:xfrm>
          <a:prstGeom prst="line">
            <a:avLst/>
          </a:prstGeom>
          <a:noFill/>
          <a:ln w="12700">
            <a:solidFill>
              <a:srgbClr val="2A2A2A"/>
            </a:solidFill>
            <a:prstDash val="solid"/>
          </a:ln>
        </p:spPr>
      </p:sp>
      <p:sp>
        <p:nvSpPr>
          <p:cNvPr id="8" name="Text 6"/>
          <p:cNvSpPr txBox="1"/>
          <p:nvPr/>
        </p:nvSpPr>
        <p:spPr>
          <a:xfrm>
            <a:off x="868680" y="5010912"/>
            <a:ext cx="5394960" cy="274320"/>
          </a:xfrm>
          <a:prstGeom prst="rect">
            <a:avLst/>
          </a:prstGeom>
          <a:noFill/>
          <a:ln/>
        </p:spPr>
        <p:txBody>
          <a:bodyPr wrap="square" lIns="0" tIns="0" rIns="0" bIns="0" rtlCol="0" anchor="ctr"/>
          <a:lstStyle/>
          <a:p>
            <a:pPr indent="0" marL="0">
              <a:buNone/>
            </a:pPr>
            <a:r>
              <a:rPr lang="en-US" sz="1100" b="1" dirty="0">
                <a:solidFill>
                  <a:srgbClr val="F5F5F5"/>
                </a:solidFill>
                <a:latin typeface="Calibri" pitchFamily="34" charset="0"/>
                <a:ea typeface="Calibri" pitchFamily="34" charset="-122"/>
                <a:cs typeface="Calibri" pitchFamily="34" charset="-120"/>
              </a:rPr>
              <a:t>Optuna search (train_xgboost)</a:t>
            </a:r>
            <a:endParaRPr lang="en-US" sz="1100" dirty="0"/>
          </a:p>
        </p:txBody>
      </p:sp>
      <p:sp>
        <p:nvSpPr>
          <p:cNvPr id="9" name="Text 7"/>
          <p:cNvSpPr txBox="1"/>
          <p:nvPr/>
        </p:nvSpPr>
        <p:spPr>
          <a:xfrm>
            <a:off x="868680" y="5303520"/>
            <a:ext cx="5394960" cy="822960"/>
          </a:xfrm>
          <a:prstGeom prst="rect">
            <a:avLst/>
          </a:prstGeom>
          <a:noFill/>
          <a:ln/>
        </p:spPr>
        <p:txBody>
          <a:bodyPr wrap="square" lIns="0" tIns="0" rIns="0" bIns="0" rtlCol="0" anchor="ctr"/>
          <a:lstStyle/>
          <a:p>
            <a:pPr indent="0" marL="0">
              <a:lnSpc>
                <a:spcPct val="120000"/>
              </a:lnSpc>
              <a:buNone/>
            </a:pPr>
            <a:r>
              <a:rPr lang="en-US" sz="1000" dirty="0">
                <a:solidFill>
                  <a:srgbClr val="9A9A9A"/>
                </a:solidFill>
                <a:latin typeface="Calibri" pitchFamily="34" charset="0"/>
                <a:ea typeface="Calibri" pitchFamily="34" charset="-122"/>
                <a:cs typeface="Calibri" pitchFamily="34" charset="-120"/>
              </a:rPr>
              <a:t>50 trials tuning n_estimators, max_depth, learning_rate, subsample, colsample_bytree, min_child_weight, gamma &amp; scale_pos_weight — each trial wraps XGBoost inside the SMOTE pipeline so CV stays leakage-free. Random Forest and Logistic Regression use fixed, sensible configs instead of a full search.</a:t>
            </a:r>
            <a:endParaRPr lang="en-US" sz="1000" dirty="0"/>
          </a:p>
        </p:txBody>
      </p:sp>
      <p:sp>
        <p:nvSpPr>
          <p:cNvPr id="10" name="Shape 8"/>
          <p:cNvSpPr/>
          <p:nvPr/>
        </p:nvSpPr>
        <p:spPr>
          <a:xfrm>
            <a:off x="6675120" y="1508760"/>
            <a:ext cx="4873752" cy="2148840"/>
          </a:xfrm>
          <a:prstGeom prst="roundRect">
            <a:avLst>
              <a:gd name="adj" fmla="val 3830"/>
            </a:avLst>
          </a:prstGeom>
          <a:solidFill>
            <a:srgbClr val="0A140F"/>
          </a:solidFill>
          <a:ln w="12700">
            <a:solidFill>
              <a:srgbClr val="1E4A2E"/>
            </a:solidFill>
            <a:prstDash val="solid"/>
          </a:ln>
        </p:spPr>
      </p:sp>
      <p:sp>
        <p:nvSpPr>
          <p:cNvPr id="11" name="Text 9"/>
          <p:cNvSpPr txBox="1"/>
          <p:nvPr/>
        </p:nvSpPr>
        <p:spPr>
          <a:xfrm>
            <a:off x="6949440" y="1691640"/>
            <a:ext cx="4389120" cy="274320"/>
          </a:xfrm>
          <a:prstGeom prst="rect">
            <a:avLst/>
          </a:prstGeom>
          <a:noFill/>
          <a:ln/>
        </p:spPr>
        <p:txBody>
          <a:bodyPr wrap="square" lIns="0" tIns="0" rIns="0" bIns="0" rtlCol="0" anchor="ctr"/>
          <a:lstStyle/>
          <a:p>
            <a:pPr indent="0" marL="0">
              <a:buNone/>
            </a:pPr>
            <a:r>
              <a:rPr lang="en-US" sz="1000" b="1" spc="100" kern="0" dirty="0">
                <a:solidFill>
                  <a:srgbClr val="10B981"/>
                </a:solidFill>
                <a:latin typeface="Calibri" pitchFamily="34" charset="0"/>
                <a:ea typeface="Calibri" pitchFamily="34" charset="-122"/>
                <a:cs typeface="Calibri" pitchFamily="34" charset="-120"/>
              </a:rPr>
              <a:t>F1 IMPROVEMENT FROM THRESHOLD TUNING — RANDOM FOREST</a:t>
            </a:r>
            <a:endParaRPr lang="en-US" sz="1000" dirty="0"/>
          </a:p>
        </p:txBody>
      </p:sp>
      <p:sp>
        <p:nvSpPr>
          <p:cNvPr id="12" name="Text 10"/>
          <p:cNvSpPr txBox="1"/>
          <p:nvPr/>
        </p:nvSpPr>
        <p:spPr>
          <a:xfrm>
            <a:off x="6949440" y="2011680"/>
            <a:ext cx="4389120" cy="777240"/>
          </a:xfrm>
          <a:prstGeom prst="rect">
            <a:avLst/>
          </a:prstGeom>
          <a:noFill/>
          <a:ln/>
        </p:spPr>
        <p:txBody>
          <a:bodyPr wrap="square" lIns="0" tIns="0" rIns="0" bIns="0" rtlCol="0" anchor="ctr"/>
          <a:lstStyle/>
          <a:p>
            <a:pPr indent="0" marL="0">
              <a:buNone/>
            </a:pPr>
            <a:r>
              <a:rPr lang="en-US" sz="3200" b="1" dirty="0">
                <a:solidFill>
                  <a:srgbClr val="9A9A9A"/>
                </a:solidFill>
                <a:latin typeface="Cambria" pitchFamily="34" charset="0"/>
                <a:ea typeface="Cambria" pitchFamily="34" charset="-122"/>
                <a:cs typeface="Cambria" pitchFamily="34" charset="-120"/>
              </a:rPr>
              <a:t>0.816  </a:t>
            </a:r>
            <a:pPr indent="0" marL="0">
              <a:buNone/>
            </a:pPr>
            <a:r>
              <a:rPr lang="en-US" sz="2200" dirty="0">
                <a:solidFill>
                  <a:srgbClr val="6B6B6B"/>
                </a:solidFill>
                <a:latin typeface="Cambria" pitchFamily="34" charset="0"/>
                <a:ea typeface="Cambria" pitchFamily="34" charset="-122"/>
                <a:cs typeface="Cambria" pitchFamily="34" charset="-120"/>
              </a:rPr>
              <a:t>→</a:t>
            </a:r>
            <a:pPr indent="0" marL="0">
              <a:buNone/>
            </a:pPr>
            <a:r>
              <a:rPr lang="en-US" sz="3200" b="1" dirty="0">
                <a:solidFill>
                  <a:srgbClr val="10B981"/>
                </a:solidFill>
                <a:latin typeface="Cambria" pitchFamily="34" charset="0"/>
                <a:ea typeface="Cambria" pitchFamily="34" charset="-122"/>
                <a:cs typeface="Cambria" pitchFamily="34" charset="-120"/>
              </a:rPr>
              <a:t>  0.854</a:t>
            </a:r>
            <a:endParaRPr lang="en-US" sz="3200" dirty="0"/>
          </a:p>
        </p:txBody>
      </p:sp>
      <p:sp>
        <p:nvSpPr>
          <p:cNvPr id="13" name="Text 11"/>
          <p:cNvSpPr txBox="1"/>
          <p:nvPr/>
        </p:nvSpPr>
        <p:spPr>
          <a:xfrm>
            <a:off x="6949440" y="2880360"/>
            <a:ext cx="4389120" cy="914400"/>
          </a:xfrm>
          <a:prstGeom prst="rect">
            <a:avLst/>
          </a:prstGeom>
          <a:noFill/>
          <a:ln/>
        </p:spPr>
        <p:txBody>
          <a:bodyPr wrap="square" lIns="0" tIns="0" rIns="0" bIns="0" rtlCol="0" anchor="ctr"/>
          <a:lstStyle/>
          <a:p>
            <a:pPr indent="0" marL="0">
              <a:lnSpc>
                <a:spcPct val="120000"/>
              </a:lnSpc>
              <a:buNone/>
            </a:pPr>
            <a:r>
              <a:rPr lang="en-US" sz="1020" dirty="0">
                <a:solidFill>
                  <a:srgbClr val="9A9A9A"/>
                </a:solidFill>
                <a:latin typeface="Calibri" pitchFamily="34" charset="0"/>
                <a:ea typeface="Calibri" pitchFamily="34" charset="-122"/>
                <a:cs typeface="Calibri" pitchFamily="34" charset="-120"/>
              </a:rPr>
              <a:t>Random Forest F1-score at default 0.5 threshold vs. the tuned optimal threshold (0.6554) — a smaller, safer jump than XGBoost's, since RF was already well-calibrated near 0.5.</a:t>
            </a:r>
            <a:endParaRPr lang="en-US" sz="1020" dirty="0"/>
          </a:p>
        </p:txBody>
      </p:sp>
      <p:pic>
        <p:nvPicPr>
          <p:cNvPr id="14" name="Image 0" descr="/home/claude/deck2/images/threshold_f1.png">    </p:cNvPr>
          <p:cNvPicPr>
            <a:picLocks noChangeAspect="1"/>
          </p:cNvPicPr>
          <p:nvPr/>
        </p:nvPicPr>
        <p:blipFill>
          <a:blip r:embed="rId1"/>
          <a:stretch>
            <a:fillRect/>
          </a:stretch>
        </p:blipFill>
        <p:spPr>
          <a:xfrm>
            <a:off x="6675120" y="3794760"/>
            <a:ext cx="4873752" cy="2395728"/>
          </a:xfrm>
          <a:prstGeom prst="rect">
            <a:avLst/>
          </a:prstGeom>
        </p:spPr>
      </p:pic>
      <p:sp>
        <p:nvSpPr>
          <p:cNvPr id="15" name="Text 12"/>
          <p:cNvSpPr txBox="1"/>
          <p:nvPr/>
        </p:nvSpPr>
        <p:spPr>
          <a:xfrm>
            <a:off x="457200" y="6528816"/>
            <a:ext cx="5486400" cy="274320"/>
          </a:xfrm>
          <a:prstGeom prst="rect">
            <a:avLst/>
          </a:prstGeom>
          <a:noFill/>
          <a:ln/>
        </p:spPr>
        <p:txBody>
          <a:bodyPr wrap="square" lIns="0" tIns="0" rIns="0" bIns="0" rtlCol="0" anchor="ctr"/>
          <a:lstStyle/>
          <a:p>
            <a:pPr indent="0" marL="0">
              <a:buNone/>
            </a:pPr>
            <a:r>
              <a:rPr lang="en-US" sz="800" spc="200" kern="0" dirty="0">
                <a:solidFill>
                  <a:srgbClr val="6B6B6B"/>
                </a:solidFill>
                <a:latin typeface="Calibri" pitchFamily="34" charset="0"/>
                <a:ea typeface="Calibri" pitchFamily="34" charset="-122"/>
                <a:cs typeface="Calibri" pitchFamily="34" charset="-120"/>
              </a:rPr>
              <a:t>CREDIT CARD FRAUD DETECTION</a:t>
            </a:r>
            <a:endParaRPr lang="en-US" sz="800" dirty="0"/>
          </a:p>
        </p:txBody>
      </p:sp>
      <p:sp>
        <p:nvSpPr>
          <p:cNvPr id="16" name="Text 13"/>
          <p:cNvSpPr txBox="1"/>
          <p:nvPr/>
        </p:nvSpPr>
        <p:spPr>
          <a:xfrm>
            <a:off x="11274552" y="6528816"/>
            <a:ext cx="548640" cy="274320"/>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50" b="1" spc="220" kern="0" dirty="0">
                <a:solidFill>
                  <a:srgbClr val="F59E0B"/>
                </a:solidFill>
                <a:latin typeface="Calibri" pitchFamily="34" charset="0"/>
                <a:ea typeface="Calibri" pitchFamily="34" charset="-122"/>
                <a:cs typeface="Calibri" pitchFamily="34" charset="-120"/>
              </a:rPr>
              <a:t>07 · EVALUATION</a:t>
            </a:r>
            <a:endParaRPr lang="en-US" sz="1250" dirty="0"/>
          </a:p>
        </p:txBody>
      </p:sp>
      <p:sp>
        <p:nvSpPr>
          <p:cNvPr id="3" name="Text 1"/>
          <p:cNvSpPr txBox="1"/>
          <p:nvPr/>
        </p:nvSpPr>
        <p:spPr>
          <a:xfrm>
            <a:off x="640080" y="676656"/>
            <a:ext cx="9875520" cy="685800"/>
          </a:xfrm>
          <a:prstGeom prst="rect">
            <a:avLst/>
          </a:prstGeom>
          <a:noFill/>
          <a:ln/>
        </p:spPr>
        <p:txBody>
          <a:bodyPr wrap="square" lIns="0" tIns="0" rIns="0" bIns="0" rtlCol="0" anchor="ctr"/>
          <a:lstStyle/>
          <a:p>
            <a:pPr indent="0" marL="0">
              <a:buNone/>
            </a:pPr>
            <a:r>
              <a:rPr lang="en-US" sz="3000" b="1" dirty="0">
                <a:solidFill>
                  <a:srgbClr val="F5F5F5"/>
                </a:solidFill>
                <a:latin typeface="Cambria" pitchFamily="34" charset="0"/>
                <a:ea typeface="Cambria" pitchFamily="34" charset="-122"/>
                <a:cs typeface="Cambria" pitchFamily="34" charset="-120"/>
              </a:rPr>
              <a:t>Model Comparison — ROC &amp; PR Curves</a:t>
            </a:r>
            <a:endParaRPr lang="en-US" sz="3000" dirty="0"/>
          </a:p>
        </p:txBody>
      </p:sp>
      <p:pic>
        <p:nvPicPr>
          <p:cNvPr id="4" name="Image 0" descr="/home/claude/deck2/images/roc_curve.png">    </p:cNvPr>
          <p:cNvPicPr>
            <a:picLocks noChangeAspect="1"/>
          </p:cNvPicPr>
          <p:nvPr/>
        </p:nvPicPr>
        <p:blipFill>
          <a:blip r:embed="rId1"/>
          <a:stretch>
            <a:fillRect/>
          </a:stretch>
        </p:blipFill>
        <p:spPr>
          <a:xfrm>
            <a:off x="548640" y="1463040"/>
            <a:ext cx="5486400" cy="4087368"/>
          </a:xfrm>
          <a:prstGeom prst="rect">
            <a:avLst/>
          </a:prstGeom>
        </p:spPr>
      </p:pic>
      <p:pic>
        <p:nvPicPr>
          <p:cNvPr id="5" name="Image 1" descr="/home/claude/deck2/images/pr_curve.png">    </p:cNvPr>
          <p:cNvPicPr>
            <a:picLocks noChangeAspect="1"/>
          </p:cNvPicPr>
          <p:nvPr/>
        </p:nvPicPr>
        <p:blipFill>
          <a:blip r:embed="rId2"/>
          <a:stretch>
            <a:fillRect/>
          </a:stretch>
        </p:blipFill>
        <p:spPr>
          <a:xfrm>
            <a:off x="6172200" y="1463040"/>
            <a:ext cx="5486400" cy="4087368"/>
          </a:xfrm>
          <a:prstGeom prst="rect">
            <a:avLst/>
          </a:prstGeom>
        </p:spPr>
      </p:pic>
      <p:sp>
        <p:nvSpPr>
          <p:cNvPr id="6" name="Shape 2"/>
          <p:cNvSpPr/>
          <p:nvPr/>
        </p:nvSpPr>
        <p:spPr>
          <a:xfrm>
            <a:off x="548640" y="5669280"/>
            <a:ext cx="11109960" cy="777240"/>
          </a:xfrm>
          <a:prstGeom prst="roundRect">
            <a:avLst>
              <a:gd name="adj" fmla="val 9412"/>
            </a:avLst>
          </a:prstGeom>
          <a:solidFill>
            <a:srgbClr val="141414"/>
          </a:solidFill>
          <a:ln w="12700">
            <a:solidFill>
              <a:srgbClr val="2A2A2A"/>
            </a:solidFill>
            <a:prstDash val="solid"/>
          </a:ln>
        </p:spPr>
      </p:sp>
      <p:sp>
        <p:nvSpPr>
          <p:cNvPr id="7" name="Text 3"/>
          <p:cNvSpPr txBox="1"/>
          <p:nvPr/>
        </p:nvSpPr>
        <p:spPr>
          <a:xfrm>
            <a:off x="822960" y="5760720"/>
            <a:ext cx="10607040" cy="594360"/>
          </a:xfrm>
          <a:prstGeom prst="rect">
            <a:avLst/>
          </a:prstGeom>
          <a:noFill/>
          <a:ln/>
        </p:spPr>
        <p:txBody>
          <a:bodyPr wrap="square" lIns="0" tIns="0" rIns="0" bIns="0" rtlCol="0" anchor="ctr"/>
          <a:lstStyle/>
          <a:p>
            <a:pPr indent="0" marL="0">
              <a:lnSpc>
                <a:spcPct val="115000"/>
              </a:lnSpc>
              <a:buNone/>
            </a:pPr>
            <a:r>
              <a:rPr lang="en-US" sz="1150" dirty="0">
                <a:solidFill>
                  <a:srgbClr val="D0D0D0"/>
                </a:solidFill>
                <a:latin typeface="Calibri" pitchFamily="34" charset="0"/>
                <a:ea typeface="Calibri" pitchFamily="34" charset="-122"/>
                <a:cs typeface="Calibri" pitchFamily="34" charset="-120"/>
              </a:rPr>
              <a:t>Random Forest posts the best ROC-AUC of all four (0.9808); XGBoost edges ahead on PR-AUC (0.877 vs 0.868) — both far ahead of Isolation Forest (0.173), confirming unsupervised anomaly detection alone isn't enough for this problem.</a:t>
            </a:r>
            <a:endParaRPr lang="en-US" sz="1150" dirty="0"/>
          </a:p>
        </p:txBody>
      </p:sp>
      <p:sp>
        <p:nvSpPr>
          <p:cNvPr id="8" name="Text 4"/>
          <p:cNvSpPr txBox="1"/>
          <p:nvPr/>
        </p:nvSpPr>
        <p:spPr>
          <a:xfrm>
            <a:off x="457200" y="6528816"/>
            <a:ext cx="5486400" cy="274320"/>
          </a:xfrm>
          <a:prstGeom prst="rect">
            <a:avLst/>
          </a:prstGeom>
          <a:noFill/>
          <a:ln/>
        </p:spPr>
        <p:txBody>
          <a:bodyPr wrap="square" lIns="0" tIns="0" rIns="0" bIns="0" rtlCol="0" anchor="ctr"/>
          <a:lstStyle/>
          <a:p>
            <a:pPr indent="0" marL="0">
              <a:buNone/>
            </a:pPr>
            <a:r>
              <a:rPr lang="en-US" sz="800" spc="200" kern="0" dirty="0">
                <a:solidFill>
                  <a:srgbClr val="6B6B6B"/>
                </a:solidFill>
                <a:latin typeface="Calibri" pitchFamily="34" charset="0"/>
                <a:ea typeface="Calibri" pitchFamily="34" charset="-122"/>
                <a:cs typeface="Calibri" pitchFamily="34" charset="-120"/>
              </a:rPr>
              <a:t>CREDIT CARD FRAUD DETECTION</a:t>
            </a:r>
            <a:endParaRPr lang="en-US" sz="800" dirty="0"/>
          </a:p>
        </p:txBody>
      </p:sp>
      <p:sp>
        <p:nvSpPr>
          <p:cNvPr id="9" name="Text 5"/>
          <p:cNvSpPr txBox="1"/>
          <p:nvPr/>
        </p:nvSpPr>
        <p:spPr>
          <a:xfrm>
            <a:off x="11274552" y="6528816"/>
            <a:ext cx="548640" cy="274320"/>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50" b="1" spc="220" kern="0" dirty="0">
                <a:solidFill>
                  <a:srgbClr val="F59E0B"/>
                </a:solidFill>
                <a:latin typeface="Calibri" pitchFamily="34" charset="0"/>
                <a:ea typeface="Calibri" pitchFamily="34" charset="-122"/>
                <a:cs typeface="Calibri" pitchFamily="34" charset="-120"/>
              </a:rPr>
              <a:t>07 · EVALUATION</a:t>
            </a:r>
            <a:endParaRPr lang="en-US" sz="1250" dirty="0"/>
          </a:p>
        </p:txBody>
      </p:sp>
      <p:sp>
        <p:nvSpPr>
          <p:cNvPr id="3" name="Text 1"/>
          <p:cNvSpPr txBox="1"/>
          <p:nvPr/>
        </p:nvSpPr>
        <p:spPr>
          <a:xfrm>
            <a:off x="640080" y="676656"/>
            <a:ext cx="9875520" cy="685800"/>
          </a:xfrm>
          <a:prstGeom prst="rect">
            <a:avLst/>
          </a:prstGeom>
          <a:noFill/>
          <a:ln/>
        </p:spPr>
        <p:txBody>
          <a:bodyPr wrap="square" lIns="0" tIns="0" rIns="0" bIns="0" rtlCol="0" anchor="ctr"/>
          <a:lstStyle/>
          <a:p>
            <a:pPr indent="0" marL="0">
              <a:buNone/>
            </a:pPr>
            <a:r>
              <a:rPr lang="en-US" sz="3000" b="1" dirty="0">
                <a:solidFill>
                  <a:srgbClr val="F5F5F5"/>
                </a:solidFill>
                <a:latin typeface="Cambria" pitchFamily="34" charset="0"/>
                <a:ea typeface="Cambria" pitchFamily="34" charset="-122"/>
                <a:cs typeface="Cambria" pitchFamily="34" charset="-120"/>
              </a:rPr>
              <a:t>Confusion Matrix — Final Model (Random Forest)</a:t>
            </a:r>
            <a:endParaRPr lang="en-US" sz="3000" dirty="0"/>
          </a:p>
        </p:txBody>
      </p:sp>
      <p:pic>
        <p:nvPicPr>
          <p:cNvPr id="4" name="Image 0" descr="/home/claude/deck2/images/confusion_matrix.png">    </p:cNvPr>
          <p:cNvPicPr>
            <a:picLocks noChangeAspect="1"/>
          </p:cNvPicPr>
          <p:nvPr/>
        </p:nvPicPr>
        <p:blipFill>
          <a:blip r:embed="rId1"/>
          <a:stretch>
            <a:fillRect/>
          </a:stretch>
        </p:blipFill>
        <p:spPr>
          <a:xfrm>
            <a:off x="731520" y="1508760"/>
            <a:ext cx="4663440" cy="3913632"/>
          </a:xfrm>
          <a:prstGeom prst="rect">
            <a:avLst/>
          </a:prstGeom>
        </p:spPr>
      </p:pic>
      <p:sp>
        <p:nvSpPr>
          <p:cNvPr id="5" name="Shape 2"/>
          <p:cNvSpPr/>
          <p:nvPr/>
        </p:nvSpPr>
        <p:spPr>
          <a:xfrm>
            <a:off x="5760720" y="1508760"/>
            <a:ext cx="5806440" cy="4709160"/>
          </a:xfrm>
          <a:prstGeom prst="roundRect">
            <a:avLst>
              <a:gd name="adj" fmla="val 1748"/>
            </a:avLst>
          </a:prstGeom>
          <a:solidFill>
            <a:srgbClr val="141414"/>
          </a:solidFill>
          <a:ln w="12700">
            <a:solidFill>
              <a:srgbClr val="2A2A2A"/>
            </a:solidFill>
            <a:prstDash val="solid"/>
          </a:ln>
        </p:spPr>
      </p:sp>
      <p:sp>
        <p:nvSpPr>
          <p:cNvPr id="6" name="Text 3"/>
          <p:cNvSpPr txBox="1"/>
          <p:nvPr/>
        </p:nvSpPr>
        <p:spPr>
          <a:xfrm>
            <a:off x="6035040" y="1691640"/>
            <a:ext cx="5303520" cy="274320"/>
          </a:xfrm>
          <a:prstGeom prst="rect">
            <a:avLst/>
          </a:prstGeom>
          <a:noFill/>
          <a:ln/>
        </p:spPr>
        <p:txBody>
          <a:bodyPr wrap="square" lIns="0" tIns="0" rIns="0" bIns="0" rtlCol="0" anchor="ctr"/>
          <a:lstStyle/>
          <a:p>
            <a:pPr indent="0" marL="0">
              <a:buNone/>
            </a:pPr>
            <a:r>
              <a:rPr lang="en-US" sz="1050" b="1" spc="100" kern="0" dirty="0">
                <a:solidFill>
                  <a:srgbClr val="6B6B6B"/>
                </a:solidFill>
                <a:latin typeface="Calibri" pitchFamily="34" charset="0"/>
                <a:ea typeface="Calibri" pitchFamily="34" charset="-122"/>
                <a:cs typeface="Calibri" pitchFamily="34" charset="-120"/>
              </a:rPr>
              <a:t>READING THE MATRIX AT thr = 0.6554</a:t>
            </a:r>
            <a:endParaRPr lang="en-US" sz="1050" dirty="0"/>
          </a:p>
        </p:txBody>
      </p:sp>
      <p:sp>
        <p:nvSpPr>
          <p:cNvPr id="7" name="Shape 4"/>
          <p:cNvSpPr/>
          <p:nvPr/>
        </p:nvSpPr>
        <p:spPr>
          <a:xfrm>
            <a:off x="6108192" y="2157984"/>
            <a:ext cx="128016" cy="128016"/>
          </a:xfrm>
          <a:prstGeom prst="ellipse">
            <a:avLst/>
          </a:prstGeom>
          <a:solidFill>
            <a:srgbClr val="3B82F6"/>
          </a:solidFill>
          <a:ln/>
        </p:spPr>
      </p:sp>
      <p:sp>
        <p:nvSpPr>
          <p:cNvPr id="8" name="Text 5"/>
          <p:cNvSpPr txBox="1"/>
          <p:nvPr/>
        </p:nvSpPr>
        <p:spPr>
          <a:xfrm>
            <a:off x="6355080" y="2057400"/>
            <a:ext cx="5029200" cy="274320"/>
          </a:xfrm>
          <a:prstGeom prst="rect">
            <a:avLst/>
          </a:prstGeom>
          <a:noFill/>
          <a:ln/>
        </p:spPr>
        <p:txBody>
          <a:bodyPr wrap="square" lIns="0" tIns="0" rIns="0" bIns="0" rtlCol="0" anchor="ctr"/>
          <a:lstStyle/>
          <a:p>
            <a:pPr indent="0" marL="0">
              <a:buNone/>
            </a:pPr>
            <a:r>
              <a:rPr lang="en-US" sz="1250" b="1" dirty="0">
                <a:solidFill>
                  <a:srgbClr val="F5F5F5"/>
                </a:solidFill>
                <a:latin typeface="Calibri" pitchFamily="34" charset="0"/>
                <a:ea typeface="Calibri" pitchFamily="34" charset="-122"/>
                <a:cs typeface="Calibri" pitchFamily="34" charset="-120"/>
              </a:rPr>
              <a:t>True Negatives — 56,852</a:t>
            </a:r>
            <a:endParaRPr lang="en-US" sz="1250" dirty="0"/>
          </a:p>
        </p:txBody>
      </p:sp>
      <p:sp>
        <p:nvSpPr>
          <p:cNvPr id="9" name="Text 6"/>
          <p:cNvSpPr txBox="1"/>
          <p:nvPr/>
        </p:nvSpPr>
        <p:spPr>
          <a:xfrm>
            <a:off x="6355080" y="2350008"/>
            <a:ext cx="5074920" cy="502920"/>
          </a:xfrm>
          <a:prstGeom prst="rect">
            <a:avLst/>
          </a:prstGeom>
          <a:noFill/>
          <a:ln/>
        </p:spPr>
        <p:txBody>
          <a:bodyPr wrap="square" lIns="0" tIns="0" rIns="0" bIns="0" rtlCol="0" anchor="ctr"/>
          <a:lstStyle/>
          <a:p>
            <a:pPr indent="0" marL="0">
              <a:lnSpc>
                <a:spcPct val="115000"/>
              </a:lnSpc>
              <a:buNone/>
            </a:pPr>
            <a:r>
              <a:rPr lang="en-US" sz="1000" dirty="0">
                <a:solidFill>
                  <a:srgbClr val="9A9A9A"/>
                </a:solidFill>
                <a:latin typeface="Calibri" pitchFamily="34" charset="0"/>
                <a:ea typeface="Calibri" pitchFamily="34" charset="-122"/>
                <a:cs typeface="Calibri" pitchFamily="34" charset="-120"/>
              </a:rPr>
              <a:t>Legitimate transactions correctly cleared</a:t>
            </a:r>
            <a:endParaRPr lang="en-US" sz="1000" dirty="0"/>
          </a:p>
        </p:txBody>
      </p:sp>
      <p:sp>
        <p:nvSpPr>
          <p:cNvPr id="10" name="Shape 7"/>
          <p:cNvSpPr/>
          <p:nvPr/>
        </p:nvSpPr>
        <p:spPr>
          <a:xfrm>
            <a:off x="6108192" y="3054096"/>
            <a:ext cx="128016" cy="128016"/>
          </a:xfrm>
          <a:prstGeom prst="ellipse">
            <a:avLst/>
          </a:prstGeom>
          <a:solidFill>
            <a:srgbClr val="F59E0B"/>
          </a:solidFill>
          <a:ln/>
        </p:spPr>
      </p:sp>
      <p:sp>
        <p:nvSpPr>
          <p:cNvPr id="11" name="Text 8"/>
          <p:cNvSpPr txBox="1"/>
          <p:nvPr/>
        </p:nvSpPr>
        <p:spPr>
          <a:xfrm>
            <a:off x="6355080" y="2953512"/>
            <a:ext cx="5029200" cy="274320"/>
          </a:xfrm>
          <a:prstGeom prst="rect">
            <a:avLst/>
          </a:prstGeom>
          <a:noFill/>
          <a:ln/>
        </p:spPr>
        <p:txBody>
          <a:bodyPr wrap="square" lIns="0" tIns="0" rIns="0" bIns="0" rtlCol="0" anchor="ctr"/>
          <a:lstStyle/>
          <a:p>
            <a:pPr indent="0" marL="0">
              <a:buNone/>
            </a:pPr>
            <a:r>
              <a:rPr lang="en-US" sz="1250" b="1" dirty="0">
                <a:solidFill>
                  <a:srgbClr val="F5F5F5"/>
                </a:solidFill>
                <a:latin typeface="Calibri" pitchFamily="34" charset="0"/>
                <a:ea typeface="Calibri" pitchFamily="34" charset="-122"/>
                <a:cs typeface="Calibri" pitchFamily="34" charset="-120"/>
              </a:rPr>
              <a:t>False Positives — 12</a:t>
            </a:r>
            <a:endParaRPr lang="en-US" sz="1250" dirty="0"/>
          </a:p>
        </p:txBody>
      </p:sp>
      <p:sp>
        <p:nvSpPr>
          <p:cNvPr id="12" name="Text 9"/>
          <p:cNvSpPr txBox="1"/>
          <p:nvPr/>
        </p:nvSpPr>
        <p:spPr>
          <a:xfrm>
            <a:off x="6355080" y="3246120"/>
            <a:ext cx="5074920" cy="502920"/>
          </a:xfrm>
          <a:prstGeom prst="rect">
            <a:avLst/>
          </a:prstGeom>
          <a:noFill/>
          <a:ln/>
        </p:spPr>
        <p:txBody>
          <a:bodyPr wrap="square" lIns="0" tIns="0" rIns="0" bIns="0" rtlCol="0" anchor="ctr"/>
          <a:lstStyle/>
          <a:p>
            <a:pPr indent="0" marL="0">
              <a:lnSpc>
                <a:spcPct val="115000"/>
              </a:lnSpc>
              <a:buNone/>
            </a:pPr>
            <a:r>
              <a:rPr lang="en-US" sz="1000" dirty="0">
                <a:solidFill>
                  <a:srgbClr val="9A9A9A"/>
                </a:solidFill>
                <a:latin typeface="Calibri" pitchFamily="34" charset="0"/>
                <a:ea typeface="Calibri" pitchFamily="34" charset="-122"/>
                <a:cs typeface="Calibri" pitchFamily="34" charset="-120"/>
              </a:rPr>
              <a:t>Genuine transactions incorrectly flagged — the customer-friction cost</a:t>
            </a:r>
            <a:endParaRPr lang="en-US" sz="1000" dirty="0"/>
          </a:p>
        </p:txBody>
      </p:sp>
      <p:sp>
        <p:nvSpPr>
          <p:cNvPr id="13" name="Shape 10"/>
          <p:cNvSpPr/>
          <p:nvPr/>
        </p:nvSpPr>
        <p:spPr>
          <a:xfrm>
            <a:off x="6108192" y="3950208"/>
            <a:ext cx="128016" cy="128016"/>
          </a:xfrm>
          <a:prstGeom prst="ellipse">
            <a:avLst/>
          </a:prstGeom>
          <a:solidFill>
            <a:srgbClr val="EF4444"/>
          </a:solidFill>
          <a:ln/>
        </p:spPr>
      </p:sp>
      <p:sp>
        <p:nvSpPr>
          <p:cNvPr id="14" name="Text 11"/>
          <p:cNvSpPr txBox="1"/>
          <p:nvPr/>
        </p:nvSpPr>
        <p:spPr>
          <a:xfrm>
            <a:off x="6355080" y="3849624"/>
            <a:ext cx="5029200" cy="274320"/>
          </a:xfrm>
          <a:prstGeom prst="rect">
            <a:avLst/>
          </a:prstGeom>
          <a:noFill/>
          <a:ln/>
        </p:spPr>
        <p:txBody>
          <a:bodyPr wrap="square" lIns="0" tIns="0" rIns="0" bIns="0" rtlCol="0" anchor="ctr"/>
          <a:lstStyle/>
          <a:p>
            <a:pPr indent="0" marL="0">
              <a:buNone/>
            </a:pPr>
            <a:r>
              <a:rPr lang="en-US" sz="1250" b="1" dirty="0">
                <a:solidFill>
                  <a:srgbClr val="F5F5F5"/>
                </a:solidFill>
                <a:latin typeface="Calibri" pitchFamily="34" charset="0"/>
                <a:ea typeface="Calibri" pitchFamily="34" charset="-122"/>
                <a:cs typeface="Calibri" pitchFamily="34" charset="-120"/>
              </a:rPr>
              <a:t>False Negatives — 16</a:t>
            </a:r>
            <a:endParaRPr lang="en-US" sz="1250" dirty="0"/>
          </a:p>
        </p:txBody>
      </p:sp>
      <p:sp>
        <p:nvSpPr>
          <p:cNvPr id="15" name="Text 12"/>
          <p:cNvSpPr txBox="1"/>
          <p:nvPr/>
        </p:nvSpPr>
        <p:spPr>
          <a:xfrm>
            <a:off x="6355080" y="4142232"/>
            <a:ext cx="5074920" cy="502920"/>
          </a:xfrm>
          <a:prstGeom prst="rect">
            <a:avLst/>
          </a:prstGeom>
          <a:noFill/>
          <a:ln/>
        </p:spPr>
        <p:txBody>
          <a:bodyPr wrap="square" lIns="0" tIns="0" rIns="0" bIns="0" rtlCol="0" anchor="ctr"/>
          <a:lstStyle/>
          <a:p>
            <a:pPr indent="0" marL="0">
              <a:lnSpc>
                <a:spcPct val="115000"/>
              </a:lnSpc>
              <a:buNone/>
            </a:pPr>
            <a:r>
              <a:rPr lang="en-US" sz="1000" dirty="0">
                <a:solidFill>
                  <a:srgbClr val="9A9A9A"/>
                </a:solidFill>
                <a:latin typeface="Calibri" pitchFamily="34" charset="0"/>
                <a:ea typeface="Calibri" pitchFamily="34" charset="-122"/>
                <a:cs typeface="Calibri" pitchFamily="34" charset="-120"/>
              </a:rPr>
              <a:t>Fraud that slipped through — the direct financial-loss cost, minimized by threshold tuning</a:t>
            </a:r>
            <a:endParaRPr lang="en-US" sz="1000" dirty="0"/>
          </a:p>
        </p:txBody>
      </p:sp>
      <p:sp>
        <p:nvSpPr>
          <p:cNvPr id="16" name="Shape 13"/>
          <p:cNvSpPr/>
          <p:nvPr/>
        </p:nvSpPr>
        <p:spPr>
          <a:xfrm>
            <a:off x="6108192" y="4846320"/>
            <a:ext cx="128016" cy="128016"/>
          </a:xfrm>
          <a:prstGeom prst="ellipse">
            <a:avLst/>
          </a:prstGeom>
          <a:solidFill>
            <a:srgbClr val="10B981"/>
          </a:solidFill>
          <a:ln/>
        </p:spPr>
      </p:sp>
      <p:sp>
        <p:nvSpPr>
          <p:cNvPr id="17" name="Text 14"/>
          <p:cNvSpPr txBox="1"/>
          <p:nvPr/>
        </p:nvSpPr>
        <p:spPr>
          <a:xfrm>
            <a:off x="6355080" y="4745736"/>
            <a:ext cx="5029200" cy="274320"/>
          </a:xfrm>
          <a:prstGeom prst="rect">
            <a:avLst/>
          </a:prstGeom>
          <a:noFill/>
          <a:ln/>
        </p:spPr>
        <p:txBody>
          <a:bodyPr wrap="square" lIns="0" tIns="0" rIns="0" bIns="0" rtlCol="0" anchor="ctr"/>
          <a:lstStyle/>
          <a:p>
            <a:pPr indent="0" marL="0">
              <a:buNone/>
            </a:pPr>
            <a:r>
              <a:rPr lang="en-US" sz="1250" b="1" dirty="0">
                <a:solidFill>
                  <a:srgbClr val="F5F5F5"/>
                </a:solidFill>
                <a:latin typeface="Calibri" pitchFamily="34" charset="0"/>
                <a:ea typeface="Calibri" pitchFamily="34" charset="-122"/>
                <a:cs typeface="Calibri" pitchFamily="34" charset="-120"/>
              </a:rPr>
              <a:t>True Positives — 82</a:t>
            </a:r>
            <a:endParaRPr lang="en-US" sz="1250" dirty="0"/>
          </a:p>
        </p:txBody>
      </p:sp>
      <p:sp>
        <p:nvSpPr>
          <p:cNvPr id="18" name="Text 15"/>
          <p:cNvSpPr txBox="1"/>
          <p:nvPr/>
        </p:nvSpPr>
        <p:spPr>
          <a:xfrm>
            <a:off x="6355080" y="5038344"/>
            <a:ext cx="5074920" cy="502920"/>
          </a:xfrm>
          <a:prstGeom prst="rect">
            <a:avLst/>
          </a:prstGeom>
          <a:noFill/>
          <a:ln/>
        </p:spPr>
        <p:txBody>
          <a:bodyPr wrap="square" lIns="0" tIns="0" rIns="0" bIns="0" rtlCol="0" anchor="ctr"/>
          <a:lstStyle/>
          <a:p>
            <a:pPr indent="0" marL="0">
              <a:lnSpc>
                <a:spcPct val="115000"/>
              </a:lnSpc>
              <a:buNone/>
            </a:pPr>
            <a:r>
              <a:rPr lang="en-US" sz="1000" dirty="0">
                <a:solidFill>
                  <a:srgbClr val="9A9A9A"/>
                </a:solidFill>
                <a:latin typeface="Calibri" pitchFamily="34" charset="0"/>
                <a:ea typeface="Calibri" pitchFamily="34" charset="-122"/>
                <a:cs typeface="Calibri" pitchFamily="34" charset="-120"/>
              </a:rPr>
              <a:t>Fraud correctly caught and stopped</a:t>
            </a:r>
            <a:endParaRPr lang="en-US" sz="1000" dirty="0"/>
          </a:p>
        </p:txBody>
      </p:sp>
      <p:sp>
        <p:nvSpPr>
          <p:cNvPr id="19" name="Shape 16"/>
          <p:cNvSpPr/>
          <p:nvPr/>
        </p:nvSpPr>
        <p:spPr>
          <a:xfrm>
            <a:off x="6035040" y="5687568"/>
            <a:ext cx="5257800" cy="914"/>
          </a:xfrm>
          <a:prstGeom prst="line">
            <a:avLst/>
          </a:prstGeom>
          <a:noFill/>
          <a:ln w="12700">
            <a:solidFill>
              <a:srgbClr val="2A2A2A"/>
            </a:solidFill>
            <a:prstDash val="solid"/>
          </a:ln>
        </p:spPr>
      </p:sp>
      <p:sp>
        <p:nvSpPr>
          <p:cNvPr id="20" name="Text 17"/>
          <p:cNvSpPr txBox="1"/>
          <p:nvPr/>
        </p:nvSpPr>
        <p:spPr>
          <a:xfrm>
            <a:off x="6035040" y="5824728"/>
            <a:ext cx="5303520" cy="457200"/>
          </a:xfrm>
          <a:prstGeom prst="rect">
            <a:avLst/>
          </a:prstGeom>
          <a:noFill/>
          <a:ln/>
        </p:spPr>
        <p:txBody>
          <a:bodyPr wrap="square" lIns="0" tIns="0" rIns="0" bIns="0" rtlCol="0" anchor="ctr"/>
          <a:lstStyle/>
          <a:p>
            <a:pPr indent="0" marL="0">
              <a:lnSpc>
                <a:spcPct val="120000"/>
              </a:lnSpc>
              <a:buNone/>
            </a:pPr>
            <a:r>
              <a:rPr lang="en-US" sz="1050" i="1" dirty="0">
                <a:solidFill>
                  <a:srgbClr val="10B981"/>
                </a:solidFill>
                <a:latin typeface="Calibri" pitchFamily="34" charset="0"/>
                <a:ea typeface="Calibri" pitchFamily="34" charset="-122"/>
                <a:cs typeface="Calibri" pitchFamily="34" charset="-120"/>
              </a:rPr>
              <a:t>Chosen decision threshold: 0.6554 — picked to maximize F1 for Random Forest, not the naive 0.5 default.</a:t>
            </a:r>
            <a:endParaRPr lang="en-US" sz="1050" dirty="0"/>
          </a:p>
        </p:txBody>
      </p:sp>
      <p:sp>
        <p:nvSpPr>
          <p:cNvPr id="21" name="Text 18"/>
          <p:cNvSpPr txBox="1"/>
          <p:nvPr/>
        </p:nvSpPr>
        <p:spPr>
          <a:xfrm>
            <a:off x="457200" y="6528816"/>
            <a:ext cx="5486400" cy="274320"/>
          </a:xfrm>
          <a:prstGeom prst="rect">
            <a:avLst/>
          </a:prstGeom>
          <a:noFill/>
          <a:ln/>
        </p:spPr>
        <p:txBody>
          <a:bodyPr wrap="square" lIns="0" tIns="0" rIns="0" bIns="0" rtlCol="0" anchor="ctr"/>
          <a:lstStyle/>
          <a:p>
            <a:pPr indent="0" marL="0">
              <a:buNone/>
            </a:pPr>
            <a:r>
              <a:rPr lang="en-US" sz="800" spc="200" kern="0" dirty="0">
                <a:solidFill>
                  <a:srgbClr val="6B6B6B"/>
                </a:solidFill>
                <a:latin typeface="Calibri" pitchFamily="34" charset="0"/>
                <a:ea typeface="Calibri" pitchFamily="34" charset="-122"/>
                <a:cs typeface="Calibri" pitchFamily="34" charset="-120"/>
              </a:rPr>
              <a:t>CREDIT CARD FRAUD DETECTION</a:t>
            </a:r>
            <a:endParaRPr lang="en-US" sz="800" dirty="0"/>
          </a:p>
        </p:txBody>
      </p:sp>
      <p:sp>
        <p:nvSpPr>
          <p:cNvPr id="22" name="Text 19"/>
          <p:cNvSpPr txBox="1"/>
          <p:nvPr/>
        </p:nvSpPr>
        <p:spPr>
          <a:xfrm>
            <a:off x="11274552" y="6528816"/>
            <a:ext cx="548640" cy="274320"/>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50" b="1" spc="220" kern="0" dirty="0">
                <a:solidFill>
                  <a:srgbClr val="F59E0B"/>
                </a:solidFill>
                <a:latin typeface="Calibri" pitchFamily="34" charset="0"/>
                <a:ea typeface="Calibri" pitchFamily="34" charset="-122"/>
                <a:cs typeface="Calibri" pitchFamily="34" charset="-120"/>
              </a:rPr>
              <a:t>07 · EVALUATION</a:t>
            </a:r>
            <a:endParaRPr lang="en-US" sz="1250" dirty="0"/>
          </a:p>
        </p:txBody>
      </p:sp>
      <p:sp>
        <p:nvSpPr>
          <p:cNvPr id="3" name="Text 1"/>
          <p:cNvSpPr txBox="1"/>
          <p:nvPr/>
        </p:nvSpPr>
        <p:spPr>
          <a:xfrm>
            <a:off x="640080" y="676656"/>
            <a:ext cx="9875520" cy="685800"/>
          </a:xfrm>
          <a:prstGeom prst="rect">
            <a:avLst/>
          </a:prstGeom>
          <a:noFill/>
          <a:ln/>
        </p:spPr>
        <p:txBody>
          <a:bodyPr wrap="square" lIns="0" tIns="0" rIns="0" bIns="0" rtlCol="0" anchor="ctr"/>
          <a:lstStyle/>
          <a:p>
            <a:pPr indent="0" marL="0">
              <a:buNone/>
            </a:pPr>
            <a:r>
              <a:rPr lang="en-US" sz="3000" b="1" dirty="0">
                <a:solidFill>
                  <a:srgbClr val="F5F5F5"/>
                </a:solidFill>
                <a:latin typeface="Cambria" pitchFamily="34" charset="0"/>
                <a:ea typeface="Cambria" pitchFamily="34" charset="-122"/>
                <a:cs typeface="Cambria" pitchFamily="34" charset="-120"/>
              </a:rPr>
              <a:t>Final Metrics — All Models</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908792" cy="2834640"/>
        </p:xfrm>
        <a:graphic>
          <a:graphicData uri="http://schemas.openxmlformats.org/drawingml/2006/table">
            <a:tbl>
              <a:tblPr/>
              <a:tblGrid>
                <a:gridCol w="3063240"/>
                <a:gridCol w="1563624"/>
                <a:gridCol w="1563624"/>
                <a:gridCol w="1572768"/>
                <a:gridCol w="1572768"/>
                <a:gridCol w="1572768"/>
              </a:tblGrid>
              <a:tr h="566928">
                <a:tc>
                  <a:txBody>
                    <a:bodyPr/>
                    <a:lstStyle/>
                    <a:p>
                      <a:pPr algn="ctr" indent="0" marL="0">
                        <a:buNone/>
                      </a:pPr>
                      <a:r>
                        <a:rPr lang="en-US" sz="1200" b="1" dirty="0">
                          <a:solidFill>
                            <a:srgbClr val="F5F5F5"/>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F1F28"/>
                    </a:solidFill>
                  </a:tcPr>
                </a:tc>
                <a:tc>
                  <a:txBody>
                    <a:bodyPr/>
                    <a:lstStyle/>
                    <a:p>
                      <a:pPr algn="ctr" indent="0" marL="0">
                        <a:buNone/>
                      </a:pPr>
                      <a:r>
                        <a:rPr lang="en-US" sz="1200" b="1" dirty="0">
                          <a:solidFill>
                            <a:srgbClr val="F5F5F5"/>
                          </a:solidFill>
                          <a:latin typeface="Calibri" pitchFamily="34" charset="0"/>
                          <a:ea typeface="Calibri" pitchFamily="34" charset="-122"/>
                          <a:cs typeface="Calibri" pitchFamily="34" charset="-120"/>
                        </a:rPr>
                        <a:t>ROC-AUC</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F1F28"/>
                    </a:solidFill>
                  </a:tcPr>
                </a:tc>
                <a:tc>
                  <a:txBody>
                    <a:bodyPr/>
                    <a:lstStyle/>
                    <a:p>
                      <a:pPr algn="ctr" indent="0" marL="0">
                        <a:buNone/>
                      </a:pPr>
                      <a:r>
                        <a:rPr lang="en-US" sz="1200" b="1" dirty="0">
                          <a:solidFill>
                            <a:srgbClr val="F5F5F5"/>
                          </a:solidFill>
                          <a:latin typeface="Calibri" pitchFamily="34" charset="0"/>
                          <a:ea typeface="Calibri" pitchFamily="34" charset="-122"/>
                          <a:cs typeface="Calibri" pitchFamily="34" charset="-120"/>
                        </a:rPr>
                        <a:t>PR-AUC</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F1F28"/>
                    </a:solidFill>
                  </a:tcPr>
                </a:tc>
                <a:tc>
                  <a:txBody>
                    <a:bodyPr/>
                    <a:lstStyle/>
                    <a:p>
                      <a:pPr algn="ctr" indent="0" marL="0">
                        <a:buNone/>
                      </a:pPr>
                      <a:r>
                        <a:rPr lang="en-US" sz="1200" b="1" dirty="0">
                          <a:solidFill>
                            <a:srgbClr val="F5F5F5"/>
                          </a:solidFill>
                          <a:latin typeface="Calibri" pitchFamily="34" charset="0"/>
                          <a:ea typeface="Calibri" pitchFamily="34" charset="-122"/>
                          <a:cs typeface="Calibri" pitchFamily="34" charset="-120"/>
                        </a:rPr>
                        <a:t>F1 @ 0.5</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F1F28"/>
                    </a:solidFill>
                  </a:tcPr>
                </a:tc>
                <a:tc>
                  <a:txBody>
                    <a:bodyPr/>
                    <a:lstStyle/>
                    <a:p>
                      <a:pPr algn="ctr" indent="0" marL="0">
                        <a:buNone/>
                      </a:pPr>
                      <a:r>
                        <a:rPr lang="en-US" sz="1200" b="1" dirty="0">
                          <a:solidFill>
                            <a:srgbClr val="F5F5F5"/>
                          </a:solidFill>
                          <a:latin typeface="Calibri" pitchFamily="34" charset="0"/>
                          <a:ea typeface="Calibri" pitchFamily="34" charset="-122"/>
                          <a:cs typeface="Calibri" pitchFamily="34" charset="-120"/>
                        </a:rPr>
                        <a:t>F1 @ Best Thr</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F1F28"/>
                    </a:solidFill>
                  </a:tcPr>
                </a:tc>
                <a:tc>
                  <a:txBody>
                    <a:bodyPr/>
                    <a:lstStyle/>
                    <a:p>
                      <a:pPr algn="ctr" indent="0" marL="0">
                        <a:buNone/>
                      </a:pPr>
                      <a:r>
                        <a:rPr lang="en-US" sz="1200" b="1" dirty="0">
                          <a:solidFill>
                            <a:srgbClr val="F5F5F5"/>
                          </a:solidFill>
                          <a:latin typeface="Calibri" pitchFamily="34" charset="0"/>
                          <a:ea typeface="Calibri" pitchFamily="34" charset="-122"/>
                          <a:cs typeface="Calibri" pitchFamily="34" charset="-120"/>
                        </a:rPr>
                        <a:t>Best Thr</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F1F28"/>
                    </a:solidFill>
                  </a:tcPr>
                </a:tc>
              </a:tr>
              <a:tr h="566928">
                <a:tc>
                  <a:txBody>
                    <a:bodyPr/>
                    <a:lstStyle/>
                    <a:p>
                      <a:pPr algn="l" indent="0" marL="0">
                        <a:buNone/>
                      </a:pPr>
                      <a:r>
                        <a:rPr lang="en-US" sz="1200" b="1" dirty="0">
                          <a:solidFill>
                            <a:srgbClr val="D0D0D0"/>
                          </a:solidFill>
                          <a:latin typeface="Calibri" pitchFamily="34" charset="0"/>
                          <a:ea typeface="Calibri" pitchFamily="34" charset="-122"/>
                          <a:cs typeface="Calibri" pitchFamily="34" charset="-120"/>
                        </a:rPr>
                        <a:t>Logistic Regression</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41414"/>
                    </a:solidFill>
                  </a:tcPr>
                </a:tc>
                <a:tc>
                  <a:txBody>
                    <a:bodyPr/>
                    <a:lstStyle/>
                    <a:p>
                      <a:pPr algn="ctr" indent="0" marL="0">
                        <a:buNone/>
                      </a:pPr>
                      <a:r>
                        <a:rPr lang="en-US" sz="1200" dirty="0">
                          <a:solidFill>
                            <a:srgbClr val="D0D0D0"/>
                          </a:solidFill>
                          <a:latin typeface="Calibri" pitchFamily="34" charset="0"/>
                          <a:ea typeface="Calibri" pitchFamily="34" charset="-122"/>
                          <a:cs typeface="Calibri" pitchFamily="34" charset="-120"/>
                        </a:rPr>
                        <a:t>0.9704</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41414"/>
                    </a:solidFill>
                  </a:tcPr>
                </a:tc>
                <a:tc>
                  <a:txBody>
                    <a:bodyPr/>
                    <a:lstStyle/>
                    <a:p>
                      <a:pPr algn="ctr" indent="0" marL="0">
                        <a:buNone/>
                      </a:pPr>
                      <a:r>
                        <a:rPr lang="en-US" sz="1200" dirty="0">
                          <a:solidFill>
                            <a:srgbClr val="D0D0D0"/>
                          </a:solidFill>
                          <a:latin typeface="Calibri" pitchFamily="34" charset="0"/>
                          <a:ea typeface="Calibri" pitchFamily="34" charset="-122"/>
                          <a:cs typeface="Calibri" pitchFamily="34" charset="-120"/>
                        </a:rPr>
                        <a:t>0.7212</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41414"/>
                    </a:solidFill>
                  </a:tcPr>
                </a:tc>
                <a:tc>
                  <a:txBody>
                    <a:bodyPr/>
                    <a:lstStyle/>
                    <a:p>
                      <a:pPr algn="ctr" indent="0" marL="0">
                        <a:buNone/>
                      </a:pPr>
                      <a:r>
                        <a:rPr lang="en-US" sz="1200" dirty="0">
                          <a:solidFill>
                            <a:srgbClr val="D0D0D0"/>
                          </a:solidFill>
                          <a:latin typeface="Calibri" pitchFamily="34" charset="0"/>
                          <a:ea typeface="Calibri" pitchFamily="34" charset="-122"/>
                          <a:cs typeface="Calibri" pitchFamily="34" charset="-120"/>
                        </a:rPr>
                        <a:t>0.1119</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41414"/>
                    </a:solidFill>
                  </a:tcPr>
                </a:tc>
                <a:tc>
                  <a:txBody>
                    <a:bodyPr/>
                    <a:lstStyle/>
                    <a:p>
                      <a:pPr algn="ctr" indent="0" marL="0">
                        <a:buNone/>
                      </a:pPr>
                      <a:r>
                        <a:rPr lang="en-US" sz="1200" dirty="0">
                          <a:solidFill>
                            <a:srgbClr val="D0D0D0"/>
                          </a:solidFill>
                          <a:latin typeface="Calibri" pitchFamily="34" charset="0"/>
                          <a:ea typeface="Calibri" pitchFamily="34" charset="-122"/>
                          <a:cs typeface="Calibri" pitchFamily="34" charset="-120"/>
                        </a:rPr>
                        <a:t>0.7558</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41414"/>
                    </a:solidFill>
                  </a:tcPr>
                </a:tc>
                <a:tc>
                  <a:txBody>
                    <a:bodyPr/>
                    <a:lstStyle/>
                    <a:p>
                      <a:pPr algn="ctr" indent="0" marL="0">
                        <a:buNone/>
                      </a:pPr>
                      <a:r>
                        <a:rPr lang="en-US" sz="1200" dirty="0">
                          <a:solidFill>
                            <a:srgbClr val="D0D0D0"/>
                          </a:solidFill>
                          <a:latin typeface="Calibri" pitchFamily="34" charset="0"/>
                          <a:ea typeface="Calibri" pitchFamily="34" charset="-122"/>
                          <a:cs typeface="Calibri" pitchFamily="34" charset="-120"/>
                        </a:rPr>
                        <a:t>0.9999</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41414"/>
                    </a:solidFill>
                  </a:tcPr>
                </a:tc>
              </a:tr>
              <a:tr h="566928">
                <a:tc>
                  <a:txBody>
                    <a:bodyPr/>
                    <a:lstStyle/>
                    <a:p>
                      <a:pPr algn="l" indent="0" marL="0">
                        <a:buNone/>
                      </a:pPr>
                      <a:r>
                        <a:rPr lang="en-US" sz="1200" b="1" dirty="0">
                          <a:solidFill>
                            <a:srgbClr val="F5F5F5"/>
                          </a:solidFill>
                          <a:latin typeface="Calibri" pitchFamily="34" charset="0"/>
                          <a:ea typeface="Calibri" pitchFamily="34" charset="-122"/>
                          <a:cs typeface="Calibri" pitchFamily="34" charset="-120"/>
                        </a:rPr>
                        <a:t>Random Forest ★</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0F241A"/>
                    </a:solidFill>
                  </a:tcPr>
                </a:tc>
                <a:tc>
                  <a:txBody>
                    <a:bodyPr/>
                    <a:lstStyle/>
                    <a:p>
                      <a:pPr algn="ctr" indent="0" marL="0">
                        <a:buNone/>
                      </a:pPr>
                      <a:r>
                        <a:rPr lang="en-US" sz="1200" dirty="0">
                          <a:solidFill>
                            <a:srgbClr val="F5F5F5"/>
                          </a:solidFill>
                          <a:latin typeface="Calibri" pitchFamily="34" charset="0"/>
                          <a:ea typeface="Calibri" pitchFamily="34" charset="-122"/>
                          <a:cs typeface="Calibri" pitchFamily="34" charset="-120"/>
                        </a:rPr>
                        <a:t>0.9808</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0F241A"/>
                    </a:solidFill>
                  </a:tcPr>
                </a:tc>
                <a:tc>
                  <a:txBody>
                    <a:bodyPr/>
                    <a:lstStyle/>
                    <a:p>
                      <a:pPr algn="ctr" indent="0" marL="0">
                        <a:buNone/>
                      </a:pPr>
                      <a:r>
                        <a:rPr lang="en-US" sz="1200" dirty="0">
                          <a:solidFill>
                            <a:srgbClr val="F5F5F5"/>
                          </a:solidFill>
                          <a:latin typeface="Calibri" pitchFamily="34" charset="0"/>
                          <a:ea typeface="Calibri" pitchFamily="34" charset="-122"/>
                          <a:cs typeface="Calibri" pitchFamily="34" charset="-120"/>
                        </a:rPr>
                        <a:t>0.8680</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0F241A"/>
                    </a:solidFill>
                  </a:tcPr>
                </a:tc>
                <a:tc>
                  <a:txBody>
                    <a:bodyPr/>
                    <a:lstStyle/>
                    <a:p>
                      <a:pPr algn="ctr" indent="0" marL="0">
                        <a:buNone/>
                      </a:pPr>
                      <a:r>
                        <a:rPr lang="en-US" sz="1200" dirty="0">
                          <a:solidFill>
                            <a:srgbClr val="F5F5F5"/>
                          </a:solidFill>
                          <a:latin typeface="Calibri" pitchFamily="34" charset="0"/>
                          <a:ea typeface="Calibri" pitchFamily="34" charset="-122"/>
                          <a:cs typeface="Calibri" pitchFamily="34" charset="-120"/>
                        </a:rPr>
                        <a:t>0.8155</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0F241A"/>
                    </a:solidFill>
                  </a:tcPr>
                </a:tc>
                <a:tc>
                  <a:txBody>
                    <a:bodyPr/>
                    <a:lstStyle/>
                    <a:p>
                      <a:pPr algn="ctr" indent="0" marL="0">
                        <a:buNone/>
                      </a:pPr>
                      <a:r>
                        <a:rPr lang="en-US" sz="1200" dirty="0">
                          <a:solidFill>
                            <a:srgbClr val="F5F5F5"/>
                          </a:solidFill>
                          <a:latin typeface="Calibri" pitchFamily="34" charset="0"/>
                          <a:ea typeface="Calibri" pitchFamily="34" charset="-122"/>
                          <a:cs typeface="Calibri" pitchFamily="34" charset="-120"/>
                        </a:rPr>
                        <a:t>0.8542</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0F241A"/>
                    </a:solidFill>
                  </a:tcPr>
                </a:tc>
                <a:tc>
                  <a:txBody>
                    <a:bodyPr/>
                    <a:lstStyle/>
                    <a:p>
                      <a:pPr algn="ctr" indent="0" marL="0">
                        <a:buNone/>
                      </a:pPr>
                      <a:r>
                        <a:rPr lang="en-US" sz="1200" dirty="0">
                          <a:solidFill>
                            <a:srgbClr val="F5F5F5"/>
                          </a:solidFill>
                          <a:latin typeface="Calibri" pitchFamily="34" charset="0"/>
                          <a:ea typeface="Calibri" pitchFamily="34" charset="-122"/>
                          <a:cs typeface="Calibri" pitchFamily="34" charset="-120"/>
                        </a:rPr>
                        <a:t>0.6554</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0F241A"/>
                    </a:solidFill>
                  </a:tcPr>
                </a:tc>
              </a:tr>
              <a:tr h="566928">
                <a:tc>
                  <a:txBody>
                    <a:bodyPr/>
                    <a:lstStyle/>
                    <a:p>
                      <a:pPr algn="l" indent="0" marL="0">
                        <a:buNone/>
                      </a:pPr>
                      <a:r>
                        <a:rPr lang="en-US" sz="1200" b="1" dirty="0">
                          <a:solidFill>
                            <a:srgbClr val="D0D0D0"/>
                          </a:solidFill>
                          <a:latin typeface="Calibri" pitchFamily="34" charset="0"/>
                          <a:ea typeface="Calibri" pitchFamily="34" charset="-122"/>
                          <a:cs typeface="Calibri" pitchFamily="34" charset="-120"/>
                        </a:rPr>
                        <a:t>XGBoost (Optuna)</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41414"/>
                    </a:solidFill>
                  </a:tcPr>
                </a:tc>
                <a:tc>
                  <a:txBody>
                    <a:bodyPr/>
                    <a:lstStyle/>
                    <a:p>
                      <a:pPr algn="ctr" indent="0" marL="0">
                        <a:buNone/>
                      </a:pPr>
                      <a:r>
                        <a:rPr lang="en-US" sz="1200" dirty="0">
                          <a:solidFill>
                            <a:srgbClr val="D0D0D0"/>
                          </a:solidFill>
                          <a:latin typeface="Calibri" pitchFamily="34" charset="0"/>
                          <a:ea typeface="Calibri" pitchFamily="34" charset="-122"/>
                          <a:cs typeface="Calibri" pitchFamily="34" charset="-120"/>
                        </a:rPr>
                        <a:t>0.9777</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41414"/>
                    </a:solidFill>
                  </a:tcPr>
                </a:tc>
                <a:tc>
                  <a:txBody>
                    <a:bodyPr/>
                    <a:lstStyle/>
                    <a:p>
                      <a:pPr algn="ctr" indent="0" marL="0">
                        <a:buNone/>
                      </a:pPr>
                      <a:r>
                        <a:rPr lang="en-US" sz="1200" dirty="0">
                          <a:solidFill>
                            <a:srgbClr val="D0D0D0"/>
                          </a:solidFill>
                          <a:latin typeface="Calibri" pitchFamily="34" charset="0"/>
                          <a:ea typeface="Calibri" pitchFamily="34" charset="-122"/>
                          <a:cs typeface="Calibri" pitchFamily="34" charset="-120"/>
                        </a:rPr>
                        <a:t>0.8766</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41414"/>
                    </a:solidFill>
                  </a:tcPr>
                </a:tc>
                <a:tc>
                  <a:txBody>
                    <a:bodyPr/>
                    <a:lstStyle/>
                    <a:p>
                      <a:pPr algn="ctr" indent="0" marL="0">
                        <a:buNone/>
                      </a:pPr>
                      <a:r>
                        <a:rPr lang="en-US" sz="1200" dirty="0">
                          <a:solidFill>
                            <a:srgbClr val="D0D0D0"/>
                          </a:solidFill>
                          <a:latin typeface="Calibri" pitchFamily="34" charset="0"/>
                          <a:ea typeface="Calibri" pitchFamily="34" charset="-122"/>
                          <a:cs typeface="Calibri" pitchFamily="34" charset="-120"/>
                        </a:rPr>
                        <a:t>0.7644</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41414"/>
                    </a:solidFill>
                  </a:tcPr>
                </a:tc>
                <a:tc>
                  <a:txBody>
                    <a:bodyPr/>
                    <a:lstStyle/>
                    <a:p>
                      <a:pPr algn="ctr" indent="0" marL="0">
                        <a:buNone/>
                      </a:pPr>
                      <a:r>
                        <a:rPr lang="en-US" sz="1200" dirty="0">
                          <a:solidFill>
                            <a:srgbClr val="D0D0D0"/>
                          </a:solidFill>
                          <a:latin typeface="Calibri" pitchFamily="34" charset="0"/>
                          <a:ea typeface="Calibri" pitchFamily="34" charset="-122"/>
                          <a:cs typeface="Calibri" pitchFamily="34" charset="-120"/>
                        </a:rPr>
                        <a:t>0.8743</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41414"/>
                    </a:solidFill>
                  </a:tcPr>
                </a:tc>
                <a:tc>
                  <a:txBody>
                    <a:bodyPr/>
                    <a:lstStyle/>
                    <a:p>
                      <a:pPr algn="ctr" indent="0" marL="0">
                        <a:buNone/>
                      </a:pPr>
                      <a:r>
                        <a:rPr lang="en-US" sz="1200" dirty="0">
                          <a:solidFill>
                            <a:srgbClr val="D0D0D0"/>
                          </a:solidFill>
                          <a:latin typeface="Calibri" pitchFamily="34" charset="0"/>
                          <a:ea typeface="Calibri" pitchFamily="34" charset="-122"/>
                          <a:cs typeface="Calibri" pitchFamily="34" charset="-120"/>
                        </a:rPr>
                        <a:t>0.9928</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41414"/>
                    </a:solidFill>
                  </a:tcPr>
                </a:tc>
              </a:tr>
              <a:tr h="566928">
                <a:tc>
                  <a:txBody>
                    <a:bodyPr/>
                    <a:lstStyle/>
                    <a:p>
                      <a:pPr algn="l" indent="0" marL="0">
                        <a:buNone/>
                      </a:pPr>
                      <a:r>
                        <a:rPr lang="en-US" sz="1200" b="1" dirty="0">
                          <a:solidFill>
                            <a:srgbClr val="D0D0D0"/>
                          </a:solidFill>
                          <a:latin typeface="Calibri" pitchFamily="34" charset="0"/>
                          <a:ea typeface="Calibri" pitchFamily="34" charset="-122"/>
                          <a:cs typeface="Calibri" pitchFamily="34" charset="-120"/>
                        </a:rPr>
                        <a:t>Isolation Forest</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ctr" indent="0" marL="0">
                        <a:buNone/>
                      </a:pPr>
                      <a:r>
                        <a:rPr lang="en-US" sz="1200" dirty="0">
                          <a:solidFill>
                            <a:srgbClr val="D0D0D0"/>
                          </a:solidFill>
                          <a:latin typeface="Calibri" pitchFamily="34" charset="0"/>
                          <a:ea typeface="Calibri" pitchFamily="34" charset="-122"/>
                          <a:cs typeface="Calibri" pitchFamily="34" charset="-120"/>
                        </a:rPr>
                        <a:t>0.9552</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ctr" indent="0" marL="0">
                        <a:buNone/>
                      </a:pPr>
                      <a:r>
                        <a:rPr lang="en-US" sz="1200" dirty="0">
                          <a:solidFill>
                            <a:srgbClr val="D0D0D0"/>
                          </a:solidFill>
                          <a:latin typeface="Calibri" pitchFamily="34" charset="0"/>
                          <a:ea typeface="Calibri" pitchFamily="34" charset="-122"/>
                          <a:cs typeface="Calibri" pitchFamily="34" charset="-120"/>
                        </a:rPr>
                        <a:t>0.1725</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ctr" indent="0" marL="0">
                        <a:buNone/>
                      </a:pPr>
                      <a:r>
                        <a:rPr lang="en-US" sz="1200" dirty="0">
                          <a:solidFill>
                            <a:srgbClr val="D0D0D0"/>
                          </a:solidFill>
                          <a:latin typeface="Calibri" pitchFamily="34" charset="0"/>
                          <a:ea typeface="Calibri" pitchFamily="34" charset="-122"/>
                          <a:cs typeface="Calibri" pitchFamily="34" charset="-120"/>
                        </a:rPr>
                        <a:t>0.1304</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ctr" indent="0" marL="0">
                        <a:buNone/>
                      </a:pPr>
                      <a:r>
                        <a:rPr lang="en-US" sz="1200" dirty="0">
                          <a:solidFill>
                            <a:srgbClr val="D0D0D0"/>
                          </a:solidFill>
                          <a:latin typeface="Calibri" pitchFamily="34" charset="0"/>
                          <a:ea typeface="Calibri" pitchFamily="34" charset="-122"/>
                          <a:cs typeface="Calibri" pitchFamily="34" charset="-120"/>
                        </a:rPr>
                        <a:t>0.2944</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ctr" indent="0" marL="0">
                        <a:buNone/>
                      </a:pPr>
                      <a:r>
                        <a:rPr lang="en-US" sz="1200" dirty="0">
                          <a:solidFill>
                            <a:srgbClr val="D0D0D0"/>
                          </a:solidFill>
                          <a:latin typeface="Calibri" pitchFamily="34" charset="0"/>
                          <a:ea typeface="Calibri" pitchFamily="34" charset="-122"/>
                          <a:cs typeface="Calibri" pitchFamily="34" charset="-120"/>
                        </a:rPr>
                        <a:t>0.7666</a:t>
                      </a:r>
                      <a:endParaRPr lang="en-US" sz="1200" dirty="0">
                        <a:latin typeface="Calibri" charset="0"/>
                        <a:ea typeface="Calibri" charset="0"/>
                        <a:cs typeface="Calibri" charset="0"/>
                      </a:endParaRPr>
                    </a:p>
                  </a:txBody>
                  <a:tcPr marL="91440" marR="91440" marT="45720" marB="4572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r>
            </a:tbl>
          </a:graphicData>
        </a:graphic>
      </p:graphicFrame>
      <p:sp>
        <p:nvSpPr>
          <p:cNvPr id="5" name="Text 2"/>
          <p:cNvSpPr txBox="1"/>
          <p:nvPr/>
        </p:nvSpPr>
        <p:spPr>
          <a:xfrm>
            <a:off x="640080" y="4709160"/>
            <a:ext cx="10908792" cy="411480"/>
          </a:xfrm>
          <a:prstGeom prst="rect">
            <a:avLst/>
          </a:prstGeom>
          <a:noFill/>
          <a:ln/>
        </p:spPr>
        <p:txBody>
          <a:bodyPr wrap="square" lIns="0" tIns="0" rIns="0" bIns="0" rtlCol="0" anchor="ctr"/>
          <a:lstStyle/>
          <a:p>
            <a:pPr indent="0" marL="0">
              <a:buNone/>
            </a:pPr>
            <a:r>
              <a:rPr lang="en-US" sz="1150" i="1" dirty="0">
                <a:solidFill>
                  <a:srgbClr val="10B981"/>
                </a:solidFill>
                <a:latin typeface="Calibri" pitchFamily="34" charset="0"/>
                <a:ea typeface="Calibri" pitchFamily="34" charset="-122"/>
                <a:cs typeface="Calibri" pitchFamily="34" charset="-120"/>
              </a:rPr>
              <a:t>★  Random Forest selected as the production model — best overall ROC-AUC, near-identical F1 to XGBoost at a much safer threshold, and it powers both the FastAPI backend and the Streamlit dashboard (model.pkl).</a:t>
            </a:r>
            <a:endParaRPr lang="en-US" sz="1150" dirty="0"/>
          </a:p>
        </p:txBody>
      </p:sp>
      <p:sp>
        <p:nvSpPr>
          <p:cNvPr id="6" name="Shape 3"/>
          <p:cNvSpPr/>
          <p:nvPr/>
        </p:nvSpPr>
        <p:spPr>
          <a:xfrm>
            <a:off x="640080" y="5257800"/>
            <a:ext cx="10908792" cy="1051560"/>
          </a:xfrm>
          <a:prstGeom prst="roundRect">
            <a:avLst>
              <a:gd name="adj" fmla="val 6957"/>
            </a:avLst>
          </a:prstGeom>
          <a:solidFill>
            <a:srgbClr val="141414"/>
          </a:solidFill>
          <a:ln w="12700">
            <a:solidFill>
              <a:srgbClr val="2A2A2A"/>
            </a:solidFill>
            <a:prstDash val="solid"/>
          </a:ln>
        </p:spPr>
      </p:sp>
      <p:sp>
        <p:nvSpPr>
          <p:cNvPr id="7" name="Text 4"/>
          <p:cNvSpPr txBox="1"/>
          <p:nvPr/>
        </p:nvSpPr>
        <p:spPr>
          <a:xfrm>
            <a:off x="914400" y="5376672"/>
            <a:ext cx="10332720" cy="822960"/>
          </a:xfrm>
          <a:prstGeom prst="rect">
            <a:avLst/>
          </a:prstGeom>
          <a:noFill/>
          <a:ln/>
        </p:spPr>
        <p:txBody>
          <a:bodyPr wrap="square" lIns="0" tIns="0" rIns="0" bIns="0" rtlCol="0" anchor="ctr"/>
          <a:lstStyle/>
          <a:p>
            <a:pPr indent="0" marL="0">
              <a:lnSpc>
                <a:spcPct val="120000"/>
              </a:lnSpc>
              <a:buNone/>
            </a:pPr>
            <a:r>
              <a:rPr lang="en-US" sz="1100" dirty="0">
                <a:solidFill>
                  <a:srgbClr val="D0D0D0"/>
                </a:solidFill>
                <a:latin typeface="Calibri" pitchFamily="34" charset="0"/>
                <a:ea typeface="Calibri" pitchFamily="34" charset="-122"/>
                <a:cs typeface="Calibri" pitchFamily="34" charset="-120"/>
              </a:rPr>
              <a:t>Accuracy is deliberately excluded — with 99.83% legitimate transactions, a model that predicts "not fraud" every single time would score 99.83% accuracy while catching zero fraud. PR-AUC and F1 are the metrics that matter here.</a:t>
            </a:r>
            <a:endParaRPr lang="en-US" sz="1100" dirty="0"/>
          </a:p>
        </p:txBody>
      </p:sp>
      <p:sp>
        <p:nvSpPr>
          <p:cNvPr id="8" name="Text 5"/>
          <p:cNvSpPr txBox="1"/>
          <p:nvPr/>
        </p:nvSpPr>
        <p:spPr>
          <a:xfrm>
            <a:off x="457200" y="6528816"/>
            <a:ext cx="5486400" cy="274320"/>
          </a:xfrm>
          <a:prstGeom prst="rect">
            <a:avLst/>
          </a:prstGeom>
          <a:noFill/>
          <a:ln/>
        </p:spPr>
        <p:txBody>
          <a:bodyPr wrap="square" lIns="0" tIns="0" rIns="0" bIns="0" rtlCol="0" anchor="ctr"/>
          <a:lstStyle/>
          <a:p>
            <a:pPr indent="0" marL="0">
              <a:buNone/>
            </a:pPr>
            <a:r>
              <a:rPr lang="en-US" sz="800" spc="200" kern="0" dirty="0">
                <a:solidFill>
                  <a:srgbClr val="6B6B6B"/>
                </a:solidFill>
                <a:latin typeface="Calibri" pitchFamily="34" charset="0"/>
                <a:ea typeface="Calibri" pitchFamily="34" charset="-122"/>
                <a:cs typeface="Calibri" pitchFamily="34" charset="-120"/>
              </a:rPr>
              <a:t>CREDIT CARD FRAUD DETECTION</a:t>
            </a:r>
            <a:endParaRPr lang="en-US" sz="800" dirty="0"/>
          </a:p>
        </p:txBody>
      </p:sp>
      <p:sp>
        <p:nvSpPr>
          <p:cNvPr id="9" name="Text 6"/>
          <p:cNvSpPr txBox="1"/>
          <p:nvPr/>
        </p:nvSpPr>
        <p:spPr>
          <a:xfrm>
            <a:off x="11274552" y="6528816"/>
            <a:ext cx="548640" cy="274320"/>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50" b="1" spc="220" kern="0" dirty="0">
                <a:solidFill>
                  <a:srgbClr val="7C3AED"/>
                </a:solidFill>
                <a:latin typeface="Calibri" pitchFamily="34" charset="0"/>
                <a:ea typeface="Calibri" pitchFamily="34" charset="-122"/>
                <a:cs typeface="Calibri" pitchFamily="34" charset="-120"/>
              </a:rPr>
              <a:t>08 · EXPLAINABILITY</a:t>
            </a:r>
            <a:endParaRPr lang="en-US" sz="1250" dirty="0"/>
          </a:p>
        </p:txBody>
      </p:sp>
      <p:sp>
        <p:nvSpPr>
          <p:cNvPr id="3" name="Text 1"/>
          <p:cNvSpPr txBox="1"/>
          <p:nvPr/>
        </p:nvSpPr>
        <p:spPr>
          <a:xfrm>
            <a:off x="640080" y="676656"/>
            <a:ext cx="9875520" cy="685800"/>
          </a:xfrm>
          <a:prstGeom prst="rect">
            <a:avLst/>
          </a:prstGeom>
          <a:noFill/>
          <a:ln/>
        </p:spPr>
        <p:txBody>
          <a:bodyPr wrap="square" lIns="0" tIns="0" rIns="0" bIns="0" rtlCol="0" anchor="ctr"/>
          <a:lstStyle/>
          <a:p>
            <a:pPr indent="0" marL="0">
              <a:buNone/>
            </a:pPr>
            <a:r>
              <a:rPr lang="en-US" sz="3000" b="1" dirty="0">
                <a:solidFill>
                  <a:srgbClr val="F5F5F5"/>
                </a:solidFill>
                <a:latin typeface="Cambria" pitchFamily="34" charset="0"/>
                <a:ea typeface="Cambria" pitchFamily="34" charset="-122"/>
                <a:cs typeface="Cambria" pitchFamily="34" charset="-120"/>
              </a:rPr>
              <a:t>Feature Importance &amp; SHAP Reasoning</a:t>
            </a:r>
            <a:endParaRPr lang="en-US" sz="3000" dirty="0"/>
          </a:p>
        </p:txBody>
      </p:sp>
      <p:pic>
        <p:nvPicPr>
          <p:cNvPr id="4" name="Image 0" descr="/home/claude/deck2/images/feature_importance.png">    </p:cNvPr>
          <p:cNvPicPr>
            <a:picLocks noChangeAspect="1"/>
          </p:cNvPicPr>
          <p:nvPr/>
        </p:nvPicPr>
        <p:blipFill>
          <a:blip r:embed="rId1"/>
          <a:stretch>
            <a:fillRect/>
          </a:stretch>
        </p:blipFill>
        <p:spPr>
          <a:xfrm>
            <a:off x="640080" y="1463040"/>
            <a:ext cx="5623560" cy="4901184"/>
          </a:xfrm>
          <a:prstGeom prst="rect">
            <a:avLst/>
          </a:prstGeom>
        </p:spPr>
      </p:pic>
      <p:sp>
        <p:nvSpPr>
          <p:cNvPr id="5" name="Shape 2"/>
          <p:cNvSpPr/>
          <p:nvPr/>
        </p:nvSpPr>
        <p:spPr>
          <a:xfrm>
            <a:off x="6537960" y="1463040"/>
            <a:ext cx="5010912" cy="2286000"/>
          </a:xfrm>
          <a:prstGeom prst="roundRect">
            <a:avLst>
              <a:gd name="adj" fmla="val 3600"/>
            </a:avLst>
          </a:prstGeom>
          <a:solidFill>
            <a:srgbClr val="141414"/>
          </a:solidFill>
          <a:ln w="12700">
            <a:solidFill>
              <a:srgbClr val="2A2A2A"/>
            </a:solidFill>
            <a:prstDash val="solid"/>
          </a:ln>
        </p:spPr>
      </p:sp>
      <p:sp>
        <p:nvSpPr>
          <p:cNvPr id="6" name="Text 3"/>
          <p:cNvSpPr txBox="1"/>
          <p:nvPr/>
        </p:nvSpPr>
        <p:spPr>
          <a:xfrm>
            <a:off x="6812280" y="1627632"/>
            <a:ext cx="4572000" cy="274320"/>
          </a:xfrm>
          <a:prstGeom prst="rect">
            <a:avLst/>
          </a:prstGeom>
          <a:noFill/>
          <a:ln/>
        </p:spPr>
        <p:txBody>
          <a:bodyPr wrap="square" lIns="0" tIns="0" rIns="0" bIns="0" rtlCol="0" anchor="ctr"/>
          <a:lstStyle/>
          <a:p>
            <a:pPr indent="0" marL="0">
              <a:buNone/>
            </a:pPr>
            <a:r>
              <a:rPr lang="en-US" sz="1100" b="1" dirty="0">
                <a:solidFill>
                  <a:srgbClr val="F5F5F5"/>
                </a:solidFill>
                <a:latin typeface="Calibri" pitchFamily="34" charset="0"/>
                <a:ea typeface="Calibri" pitchFamily="34" charset="-122"/>
                <a:cs typeface="Calibri" pitchFamily="34" charset="-120"/>
              </a:rPr>
              <a:t>predict.py — FraudPredictor</a:t>
            </a:r>
            <a:endParaRPr lang="en-US" sz="1100" dirty="0"/>
          </a:p>
        </p:txBody>
      </p:sp>
      <p:sp>
        <p:nvSpPr>
          <p:cNvPr id="7" name="Text 4"/>
          <p:cNvSpPr txBox="1"/>
          <p:nvPr/>
        </p:nvSpPr>
        <p:spPr>
          <a:xfrm>
            <a:off x="6812280" y="1965960"/>
            <a:ext cx="4572000" cy="1691640"/>
          </a:xfrm>
          <a:prstGeom prst="rect">
            <a:avLst/>
          </a:prstGeom>
          <a:noFill/>
          <a:ln/>
        </p:spPr>
        <p:txBody>
          <a:bodyPr wrap="square" lIns="0" tIns="0" rIns="0" bIns="0" rtlCol="0" anchor="ctr"/>
          <a:lstStyle/>
          <a:p>
            <a:pPr indent="0" marL="0">
              <a:lnSpc>
                <a:spcPct val="125000"/>
              </a:lnSpc>
              <a:buNone/>
            </a:pPr>
            <a:r>
              <a:rPr lang="en-US" sz="1050" dirty="0">
                <a:solidFill>
                  <a:srgbClr val="9A9A9A"/>
                </a:solidFill>
                <a:latin typeface="Calibri" pitchFamily="34" charset="0"/>
                <a:ea typeface="Calibri" pitchFamily="34" charset="-122"/>
                <a:cs typeface="Calibri" pitchFamily="34" charset="-120"/>
              </a:rPr>
              <a:t>Every prediction runs through a shap.TreeExplainer on the deployed Random Forest classifier. The top-3 features by |SHAP value| are returned with their raw value and direction (↑ fraud / ↓ fraud) — giving analysts a reason, not just a score. The same predictor class backs both the FastAPI endpoint and the Streamlit app.</a:t>
            </a:r>
            <a:endParaRPr lang="en-US" sz="1050" dirty="0"/>
          </a:p>
        </p:txBody>
      </p:sp>
      <p:sp>
        <p:nvSpPr>
          <p:cNvPr id="8" name="Shape 5"/>
          <p:cNvSpPr/>
          <p:nvPr/>
        </p:nvSpPr>
        <p:spPr>
          <a:xfrm>
            <a:off x="6537960" y="3886200"/>
            <a:ext cx="5010912" cy="2468880"/>
          </a:xfrm>
          <a:prstGeom prst="roundRect">
            <a:avLst>
              <a:gd name="adj" fmla="val 3333"/>
            </a:avLst>
          </a:prstGeom>
          <a:solidFill>
            <a:srgbClr val="0D0D12"/>
          </a:solidFill>
          <a:ln w="12700">
            <a:solidFill>
              <a:srgbClr val="2A2A2A"/>
            </a:solidFill>
            <a:prstDash val="solid"/>
          </a:ln>
        </p:spPr>
      </p:sp>
      <p:sp>
        <p:nvSpPr>
          <p:cNvPr id="9" name="Text 6"/>
          <p:cNvSpPr txBox="1"/>
          <p:nvPr/>
        </p:nvSpPr>
        <p:spPr>
          <a:xfrm>
            <a:off x="6812280" y="4041648"/>
            <a:ext cx="45720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Sample response</a:t>
            </a:r>
            <a:endParaRPr lang="en-US" sz="1000" dirty="0"/>
          </a:p>
        </p:txBody>
      </p:sp>
      <p:sp>
        <p:nvSpPr>
          <p:cNvPr id="10" name="Text 7"/>
          <p:cNvSpPr txBox="1"/>
          <p:nvPr/>
        </p:nvSpPr>
        <p:spPr>
          <a:xfrm>
            <a:off x="6812280" y="4343400"/>
            <a:ext cx="4617720" cy="1920240"/>
          </a:xfrm>
          <a:prstGeom prst="rect">
            <a:avLst/>
          </a:prstGeom>
          <a:noFill/>
          <a:ln/>
        </p:spPr>
        <p:txBody>
          <a:bodyPr wrap="square" lIns="0" tIns="0" rIns="0" bIns="0" rtlCol="0" anchor="ctr"/>
          <a:lstStyle/>
          <a:p>
            <a:pPr indent="0" marL="0">
              <a:lnSpc>
                <a:spcPct val="122000"/>
              </a:lnSpc>
              <a:buNone/>
            </a:pPr>
            <a:r>
              <a:rPr lang="en-US" sz="930" dirty="0">
                <a:solidFill>
                  <a:srgbClr val="C9D1E0"/>
                </a:solidFill>
                <a:latin typeface="Courier New" pitchFamily="34" charset="0"/>
                <a:ea typeface="Courier New" pitchFamily="34" charset="-122"/>
                <a:cs typeface="Courier New" pitchFamily="34" charset="-120"/>
              </a:rPr>
              <a:t>{</a:t>
            </a:r>
            <a:endParaRPr lang="en-US" sz="930" dirty="0"/>
          </a:p>
          <a:p>
            <a:pPr indent="0" marL="0">
              <a:lnSpc>
                <a:spcPct val="122000"/>
              </a:lnSpc>
              <a:buNone/>
            </a:pPr>
            <a:r>
              <a:rPr lang="en-US" sz="930" dirty="0">
                <a:solidFill>
                  <a:srgbClr val="C9D1E0"/>
                </a:solidFill>
                <a:latin typeface="Courier New" pitchFamily="34" charset="0"/>
                <a:ea typeface="Courier New" pitchFamily="34" charset="-122"/>
                <a:cs typeface="Courier New" pitchFamily="34" charset="-120"/>
              </a:rPr>
              <a:t>  "probability": 0.923,</a:t>
            </a:r>
            <a:endParaRPr lang="en-US" sz="930" dirty="0"/>
          </a:p>
          <a:p>
            <a:pPr indent="0" marL="0">
              <a:lnSpc>
                <a:spcPct val="122000"/>
              </a:lnSpc>
              <a:buNone/>
            </a:pPr>
            <a:r>
              <a:rPr lang="en-US" sz="930" dirty="0">
                <a:solidFill>
                  <a:srgbClr val="C9D1E0"/>
                </a:solidFill>
                <a:latin typeface="Courier New" pitchFamily="34" charset="0"/>
                <a:ea typeface="Courier New" pitchFamily="34" charset="-122"/>
                <a:cs typeface="Courier New" pitchFamily="34" charset="-120"/>
              </a:rPr>
              <a:t>  "verdict": "FRAUD",</a:t>
            </a:r>
            <a:endParaRPr lang="en-US" sz="930" dirty="0"/>
          </a:p>
          <a:p>
            <a:pPr indent="0" marL="0">
              <a:lnSpc>
                <a:spcPct val="122000"/>
              </a:lnSpc>
              <a:buNone/>
            </a:pPr>
            <a:r>
              <a:rPr lang="en-US" sz="930" dirty="0">
                <a:solidFill>
                  <a:srgbClr val="C9D1E0"/>
                </a:solidFill>
                <a:latin typeface="Courier New" pitchFamily="34" charset="0"/>
                <a:ea typeface="Courier New" pitchFamily="34" charset="-122"/>
                <a:cs typeface="Courier New" pitchFamily="34" charset="-120"/>
              </a:rPr>
              <a:t>  "threshold": 0.6554,</a:t>
            </a:r>
            <a:endParaRPr lang="en-US" sz="930" dirty="0"/>
          </a:p>
          <a:p>
            <a:pPr indent="0" marL="0">
              <a:lnSpc>
                <a:spcPct val="122000"/>
              </a:lnSpc>
              <a:buNone/>
            </a:pPr>
            <a:r>
              <a:rPr lang="en-US" sz="930" dirty="0">
                <a:solidFill>
                  <a:srgbClr val="C9D1E0"/>
                </a:solidFill>
                <a:latin typeface="Courier New" pitchFamily="34" charset="0"/>
                <a:ea typeface="Courier New" pitchFamily="34" charset="-122"/>
                <a:cs typeface="Courier New" pitchFamily="34" charset="-120"/>
              </a:rPr>
              <a:t>  "shap_top3": [</a:t>
            </a:r>
            <a:endParaRPr lang="en-US" sz="930" dirty="0"/>
          </a:p>
          <a:p>
            <a:pPr indent="0" marL="0">
              <a:lnSpc>
                <a:spcPct val="122000"/>
              </a:lnSpc>
              <a:buNone/>
            </a:pPr>
            <a:r>
              <a:rPr lang="en-US" sz="930" dirty="0">
                <a:solidFill>
                  <a:srgbClr val="C9D1E0"/>
                </a:solidFill>
                <a:latin typeface="Courier New" pitchFamily="34" charset="0"/>
                <a:ea typeface="Courier New" pitchFamily="34" charset="-122"/>
                <a:cs typeface="Courier New" pitchFamily="34" charset="-120"/>
              </a:rPr>
              <a:t>    {"feature": "V14", "shap_value": -0.812,</a:t>
            </a:r>
            <a:endParaRPr lang="en-US" sz="930" dirty="0"/>
          </a:p>
          <a:p>
            <a:pPr indent="0" marL="0">
              <a:lnSpc>
                <a:spcPct val="122000"/>
              </a:lnSpc>
              <a:buNone/>
            </a:pPr>
            <a:r>
              <a:rPr lang="en-US" sz="930" dirty="0">
                <a:solidFill>
                  <a:srgbClr val="C9D1E0"/>
                </a:solidFill>
                <a:latin typeface="Courier New" pitchFamily="34" charset="0"/>
                <a:ea typeface="Courier New" pitchFamily="34" charset="-122"/>
                <a:cs typeface="Courier New" pitchFamily="34" charset="-120"/>
              </a:rPr>
              <a:t>     "direction": "↑ fraud"},</a:t>
            </a:r>
            <a:endParaRPr lang="en-US" sz="930" dirty="0"/>
          </a:p>
          <a:p>
            <a:pPr indent="0" marL="0">
              <a:lnSpc>
                <a:spcPct val="122000"/>
              </a:lnSpc>
              <a:buNone/>
            </a:pPr>
            <a:r>
              <a:rPr lang="en-US" sz="930" dirty="0">
                <a:solidFill>
                  <a:srgbClr val="C9D1E0"/>
                </a:solidFill>
                <a:latin typeface="Courier New" pitchFamily="34" charset="0"/>
                <a:ea typeface="Courier New" pitchFamily="34" charset="-122"/>
                <a:cs typeface="Courier New" pitchFamily="34" charset="-120"/>
              </a:rPr>
              <a:t>    {"feature": "V10", "shap_value":  0.531,</a:t>
            </a:r>
            <a:endParaRPr lang="en-US" sz="930" dirty="0"/>
          </a:p>
          <a:p>
            <a:pPr indent="0" marL="0">
              <a:lnSpc>
                <a:spcPct val="122000"/>
              </a:lnSpc>
              <a:buNone/>
            </a:pPr>
            <a:r>
              <a:rPr lang="en-US" sz="930" dirty="0">
                <a:solidFill>
                  <a:srgbClr val="C9D1E0"/>
                </a:solidFill>
                <a:latin typeface="Courier New" pitchFamily="34" charset="0"/>
                <a:ea typeface="Courier New" pitchFamily="34" charset="-122"/>
                <a:cs typeface="Courier New" pitchFamily="34" charset="-120"/>
              </a:rPr>
              <a:t>     "direction": "↓ fraud"},</a:t>
            </a:r>
            <a:endParaRPr lang="en-US" sz="930" dirty="0"/>
          </a:p>
          <a:p>
            <a:pPr indent="0" marL="0">
              <a:lnSpc>
                <a:spcPct val="122000"/>
              </a:lnSpc>
              <a:buNone/>
            </a:pPr>
            <a:r>
              <a:rPr lang="en-US" sz="930" dirty="0">
                <a:solidFill>
                  <a:srgbClr val="C9D1E0"/>
                </a:solidFill>
                <a:latin typeface="Courier New" pitchFamily="34" charset="0"/>
                <a:ea typeface="Courier New" pitchFamily="34" charset="-122"/>
                <a:cs typeface="Courier New" pitchFamily="34" charset="-120"/>
              </a:rPr>
              <a:t>    {"feature": "V17", "shap_value": -0.487,</a:t>
            </a:r>
            <a:endParaRPr lang="en-US" sz="930" dirty="0"/>
          </a:p>
          <a:p>
            <a:pPr indent="0" marL="0">
              <a:lnSpc>
                <a:spcPct val="122000"/>
              </a:lnSpc>
              <a:buNone/>
            </a:pPr>
            <a:r>
              <a:rPr lang="en-US" sz="930" dirty="0">
                <a:solidFill>
                  <a:srgbClr val="C9D1E0"/>
                </a:solidFill>
                <a:latin typeface="Courier New" pitchFamily="34" charset="0"/>
                <a:ea typeface="Courier New" pitchFamily="34" charset="-122"/>
                <a:cs typeface="Courier New" pitchFamily="34" charset="-120"/>
              </a:rPr>
              <a:t>     "direction": "↑ fraud"}</a:t>
            </a:r>
            <a:endParaRPr lang="en-US" sz="930" dirty="0"/>
          </a:p>
          <a:p>
            <a:pPr indent="0" marL="0">
              <a:lnSpc>
                <a:spcPct val="122000"/>
              </a:lnSpc>
              <a:buNone/>
            </a:pPr>
            <a:r>
              <a:rPr lang="en-US" sz="930" dirty="0">
                <a:solidFill>
                  <a:srgbClr val="C9D1E0"/>
                </a:solidFill>
                <a:latin typeface="Courier New" pitchFamily="34" charset="0"/>
                <a:ea typeface="Courier New" pitchFamily="34" charset="-122"/>
                <a:cs typeface="Courier New" pitchFamily="34" charset="-120"/>
              </a:rPr>
              <a:t>  ]</a:t>
            </a:r>
            <a:endParaRPr lang="en-US" sz="930" dirty="0"/>
          </a:p>
          <a:p>
            <a:pPr indent="0" marL="0">
              <a:lnSpc>
                <a:spcPct val="122000"/>
              </a:lnSpc>
              <a:buNone/>
            </a:pPr>
            <a:r>
              <a:rPr lang="en-US" sz="930" dirty="0">
                <a:solidFill>
                  <a:srgbClr val="C9D1E0"/>
                </a:solidFill>
                <a:latin typeface="Courier New" pitchFamily="34" charset="0"/>
                <a:ea typeface="Courier New" pitchFamily="34" charset="-122"/>
                <a:cs typeface="Courier New" pitchFamily="34" charset="-120"/>
              </a:rPr>
              <a:t>}</a:t>
            </a:r>
            <a:endParaRPr lang="en-US" sz="930" dirty="0"/>
          </a:p>
        </p:txBody>
      </p:sp>
      <p:sp>
        <p:nvSpPr>
          <p:cNvPr id="11" name="Text 8"/>
          <p:cNvSpPr txBox="1"/>
          <p:nvPr/>
        </p:nvSpPr>
        <p:spPr>
          <a:xfrm>
            <a:off x="457200" y="6528816"/>
            <a:ext cx="5486400" cy="274320"/>
          </a:xfrm>
          <a:prstGeom prst="rect">
            <a:avLst/>
          </a:prstGeom>
          <a:noFill/>
          <a:ln/>
        </p:spPr>
        <p:txBody>
          <a:bodyPr wrap="square" lIns="0" tIns="0" rIns="0" bIns="0" rtlCol="0" anchor="ctr"/>
          <a:lstStyle/>
          <a:p>
            <a:pPr indent="0" marL="0">
              <a:buNone/>
            </a:pPr>
            <a:r>
              <a:rPr lang="en-US" sz="800" spc="200" kern="0" dirty="0">
                <a:solidFill>
                  <a:srgbClr val="6B6B6B"/>
                </a:solidFill>
                <a:latin typeface="Calibri" pitchFamily="34" charset="0"/>
                <a:ea typeface="Calibri" pitchFamily="34" charset="-122"/>
                <a:cs typeface="Calibri" pitchFamily="34" charset="-120"/>
              </a:rPr>
              <a:t>CREDIT CARD FRAUD DETECTION</a:t>
            </a:r>
            <a:endParaRPr lang="en-US" sz="800" dirty="0"/>
          </a:p>
        </p:txBody>
      </p:sp>
      <p:sp>
        <p:nvSpPr>
          <p:cNvPr id="12" name="Text 9"/>
          <p:cNvSpPr txBox="1"/>
          <p:nvPr/>
        </p:nvSpPr>
        <p:spPr>
          <a:xfrm>
            <a:off x="11274552" y="6528816"/>
            <a:ext cx="548640" cy="274320"/>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50" b="1" spc="220" kern="0" dirty="0">
                <a:solidFill>
                  <a:srgbClr val="EF4444"/>
                </a:solidFill>
                <a:latin typeface="Calibri" pitchFamily="34" charset="0"/>
                <a:ea typeface="Calibri" pitchFamily="34" charset="-122"/>
                <a:cs typeface="Calibri" pitchFamily="34" charset="-120"/>
              </a:rPr>
              <a:t>09 · BACKEND</a:t>
            </a:r>
            <a:endParaRPr lang="en-US" sz="1250" dirty="0"/>
          </a:p>
        </p:txBody>
      </p:sp>
      <p:sp>
        <p:nvSpPr>
          <p:cNvPr id="3" name="Text 1"/>
          <p:cNvSpPr txBox="1"/>
          <p:nvPr/>
        </p:nvSpPr>
        <p:spPr>
          <a:xfrm>
            <a:off x="640080" y="676656"/>
            <a:ext cx="9875520" cy="685800"/>
          </a:xfrm>
          <a:prstGeom prst="rect">
            <a:avLst/>
          </a:prstGeom>
          <a:noFill/>
          <a:ln/>
        </p:spPr>
        <p:txBody>
          <a:bodyPr wrap="square" lIns="0" tIns="0" rIns="0" bIns="0" rtlCol="0" anchor="ctr"/>
          <a:lstStyle/>
          <a:p>
            <a:pPr indent="0" marL="0">
              <a:buNone/>
            </a:pPr>
            <a:r>
              <a:rPr lang="en-US" sz="3000" b="1" dirty="0">
                <a:solidFill>
                  <a:srgbClr val="F5F5F5"/>
                </a:solidFill>
                <a:latin typeface="Cambria" pitchFamily="34" charset="0"/>
                <a:ea typeface="Cambria" pitchFamily="34" charset="-122"/>
                <a:cs typeface="Cambria" pitchFamily="34" charset="-120"/>
              </a:rPr>
              <a:t>Backend — FastAPI REST API</a:t>
            </a:r>
            <a:endParaRPr lang="en-US" sz="3000" dirty="0"/>
          </a:p>
        </p:txBody>
      </p:sp>
      <p:sp>
        <p:nvSpPr>
          <p:cNvPr id="4" name="Shape 2"/>
          <p:cNvSpPr/>
          <p:nvPr/>
        </p:nvSpPr>
        <p:spPr>
          <a:xfrm>
            <a:off x="640080" y="1463040"/>
            <a:ext cx="5806440" cy="4754880"/>
          </a:xfrm>
          <a:prstGeom prst="roundRect">
            <a:avLst>
              <a:gd name="adj" fmla="val 1731"/>
            </a:avLst>
          </a:prstGeom>
          <a:solidFill>
            <a:srgbClr val="141414"/>
          </a:solidFill>
          <a:ln w="12700">
            <a:solidFill>
              <a:srgbClr val="2A2A2A"/>
            </a:solidFill>
            <a:prstDash val="solid"/>
          </a:ln>
        </p:spPr>
      </p:sp>
      <p:sp>
        <p:nvSpPr>
          <p:cNvPr id="5" name="Text 3"/>
          <p:cNvSpPr txBox="1"/>
          <p:nvPr/>
        </p:nvSpPr>
        <p:spPr>
          <a:xfrm>
            <a:off x="914400" y="1627632"/>
            <a:ext cx="5303520" cy="274320"/>
          </a:xfrm>
          <a:prstGeom prst="rect">
            <a:avLst/>
          </a:prstGeom>
          <a:noFill/>
          <a:ln/>
        </p:spPr>
        <p:txBody>
          <a:bodyPr wrap="square" lIns="0" tIns="0" rIns="0" bIns="0" rtlCol="0" anchor="ctr"/>
          <a:lstStyle/>
          <a:p>
            <a:pPr indent="0" marL="0">
              <a:buNone/>
            </a:pPr>
            <a:r>
              <a:rPr lang="en-US" sz="1100" dirty="0">
                <a:solidFill>
                  <a:srgbClr val="6B6B6B"/>
                </a:solidFill>
                <a:latin typeface="Courier New" pitchFamily="34" charset="0"/>
                <a:ea typeface="Courier New" pitchFamily="34" charset="-122"/>
                <a:cs typeface="Courier New" pitchFamily="34" charset="-120"/>
              </a:rPr>
              <a:t>app/api.py</a:t>
            </a:r>
            <a:endParaRPr lang="en-US" sz="1100" dirty="0"/>
          </a:p>
        </p:txBody>
      </p:sp>
      <p:sp>
        <p:nvSpPr>
          <p:cNvPr id="6" name="Shape 4"/>
          <p:cNvSpPr/>
          <p:nvPr/>
        </p:nvSpPr>
        <p:spPr>
          <a:xfrm>
            <a:off x="914400" y="1965960"/>
            <a:ext cx="777240" cy="310896"/>
          </a:xfrm>
          <a:prstGeom prst="roundRect">
            <a:avLst>
              <a:gd name="adj" fmla="val 14706"/>
            </a:avLst>
          </a:prstGeom>
          <a:solidFill>
            <a:srgbClr val="0A0A0A"/>
          </a:solidFill>
          <a:ln w="12700">
            <a:solidFill>
              <a:srgbClr val="10B981"/>
            </a:solidFill>
            <a:prstDash val="solid"/>
          </a:ln>
        </p:spPr>
      </p:sp>
      <p:sp>
        <p:nvSpPr>
          <p:cNvPr id="7" name="Text 5"/>
          <p:cNvSpPr txBox="1"/>
          <p:nvPr/>
        </p:nvSpPr>
        <p:spPr>
          <a:xfrm>
            <a:off x="914400" y="1965960"/>
            <a:ext cx="777240" cy="310896"/>
          </a:xfrm>
          <a:prstGeom prst="rect">
            <a:avLst/>
          </a:prstGeom>
          <a:noFill/>
          <a:ln/>
        </p:spPr>
        <p:txBody>
          <a:bodyPr wrap="square" lIns="0" tIns="0" rIns="0" bIns="0" rtlCol="0" anchor="ctr"/>
          <a:lstStyle/>
          <a:p>
            <a:pPr algn="ctr" indent="0" marL="0">
              <a:buNone/>
            </a:pPr>
            <a:r>
              <a:rPr lang="en-US" sz="900" b="1" dirty="0">
                <a:solidFill>
                  <a:srgbClr val="10B981"/>
                </a:solidFill>
                <a:latin typeface="Courier New" pitchFamily="34" charset="0"/>
                <a:ea typeface="Courier New" pitchFamily="34" charset="-122"/>
                <a:cs typeface="Courier New" pitchFamily="34" charset="-120"/>
              </a:rPr>
              <a:t>GET</a:t>
            </a:r>
            <a:endParaRPr lang="en-US" sz="900" dirty="0"/>
          </a:p>
        </p:txBody>
      </p:sp>
      <p:sp>
        <p:nvSpPr>
          <p:cNvPr id="8" name="Text 6"/>
          <p:cNvSpPr txBox="1"/>
          <p:nvPr/>
        </p:nvSpPr>
        <p:spPr>
          <a:xfrm>
            <a:off x="1783080" y="1965960"/>
            <a:ext cx="1691640" cy="310896"/>
          </a:xfrm>
          <a:prstGeom prst="rect">
            <a:avLst/>
          </a:prstGeom>
          <a:noFill/>
          <a:ln/>
        </p:spPr>
        <p:txBody>
          <a:bodyPr wrap="square" lIns="0" tIns="0" rIns="0" bIns="0" rtlCol="0" anchor="ctr"/>
          <a:lstStyle/>
          <a:p>
            <a:pPr indent="0" marL="0">
              <a:buNone/>
            </a:pPr>
            <a:r>
              <a:rPr lang="en-US" sz="1050" b="1" dirty="0">
                <a:solidFill>
                  <a:srgbClr val="F5F5F5"/>
                </a:solidFill>
                <a:latin typeface="Courier New" pitchFamily="34" charset="0"/>
                <a:ea typeface="Courier New" pitchFamily="34" charset="-122"/>
                <a:cs typeface="Courier New" pitchFamily="34" charset="-120"/>
              </a:rPr>
              <a:t>/health</a:t>
            </a:r>
            <a:endParaRPr lang="en-US" sz="1050" dirty="0"/>
          </a:p>
        </p:txBody>
      </p:sp>
      <p:sp>
        <p:nvSpPr>
          <p:cNvPr id="9" name="Text 7"/>
          <p:cNvSpPr txBox="1"/>
          <p:nvPr/>
        </p:nvSpPr>
        <p:spPr>
          <a:xfrm>
            <a:off x="3520440" y="1965960"/>
            <a:ext cx="2788920" cy="457200"/>
          </a:xfrm>
          <a:prstGeom prst="rect">
            <a:avLst/>
          </a:prstGeom>
          <a:noFill/>
          <a:ln/>
        </p:spPr>
        <p:txBody>
          <a:bodyPr wrap="square" lIns="0" tIns="0" rIns="0" bIns="0" rtlCol="0" anchor="ctr"/>
          <a:lstStyle/>
          <a:p>
            <a:pPr indent="0" marL="0">
              <a:lnSpc>
                <a:spcPct val="110000"/>
              </a:lnSpc>
              <a:buNone/>
            </a:pPr>
            <a:r>
              <a:rPr lang="en-US" sz="880" dirty="0">
                <a:solidFill>
                  <a:srgbClr val="9A9A9A"/>
                </a:solidFill>
                <a:latin typeface="Calibri" pitchFamily="34" charset="0"/>
                <a:ea typeface="Calibri" pitchFamily="34" charset="-122"/>
                <a:cs typeface="Calibri" pitchFamily="34" charset="-120"/>
              </a:rPr>
              <a:t>Model-loaded check + live threshold + feature count</a:t>
            </a:r>
            <a:endParaRPr lang="en-US" sz="880" dirty="0"/>
          </a:p>
        </p:txBody>
      </p:sp>
      <p:sp>
        <p:nvSpPr>
          <p:cNvPr id="10" name="Shape 8"/>
          <p:cNvSpPr/>
          <p:nvPr/>
        </p:nvSpPr>
        <p:spPr>
          <a:xfrm>
            <a:off x="914400" y="2496312"/>
            <a:ext cx="777240" cy="310896"/>
          </a:xfrm>
          <a:prstGeom prst="roundRect">
            <a:avLst>
              <a:gd name="adj" fmla="val 14706"/>
            </a:avLst>
          </a:prstGeom>
          <a:solidFill>
            <a:srgbClr val="0A0A0A"/>
          </a:solidFill>
          <a:ln w="12700">
            <a:solidFill>
              <a:srgbClr val="3B82F6"/>
            </a:solidFill>
            <a:prstDash val="solid"/>
          </a:ln>
        </p:spPr>
      </p:sp>
      <p:sp>
        <p:nvSpPr>
          <p:cNvPr id="11" name="Text 9"/>
          <p:cNvSpPr txBox="1"/>
          <p:nvPr/>
        </p:nvSpPr>
        <p:spPr>
          <a:xfrm>
            <a:off x="914400" y="2496312"/>
            <a:ext cx="777240" cy="310896"/>
          </a:xfrm>
          <a:prstGeom prst="rect">
            <a:avLst/>
          </a:prstGeom>
          <a:noFill/>
          <a:ln/>
        </p:spPr>
        <p:txBody>
          <a:bodyPr wrap="square" lIns="0" tIns="0" rIns="0" bIns="0" rtlCol="0" anchor="ctr"/>
          <a:lstStyle/>
          <a:p>
            <a:pPr algn="ctr" indent="0" marL="0">
              <a:buNone/>
            </a:pPr>
            <a:r>
              <a:rPr lang="en-US" sz="900" b="1" dirty="0">
                <a:solidFill>
                  <a:srgbClr val="3B82F6"/>
                </a:solidFill>
                <a:latin typeface="Courier New" pitchFamily="34" charset="0"/>
                <a:ea typeface="Courier New" pitchFamily="34" charset="-122"/>
                <a:cs typeface="Courier New" pitchFamily="34" charset="-120"/>
              </a:rPr>
              <a:t>GET</a:t>
            </a:r>
            <a:endParaRPr lang="en-US" sz="900" dirty="0"/>
          </a:p>
        </p:txBody>
      </p:sp>
      <p:sp>
        <p:nvSpPr>
          <p:cNvPr id="12" name="Text 10"/>
          <p:cNvSpPr txBox="1"/>
          <p:nvPr/>
        </p:nvSpPr>
        <p:spPr>
          <a:xfrm>
            <a:off x="1783080" y="2496312"/>
            <a:ext cx="1691640" cy="310896"/>
          </a:xfrm>
          <a:prstGeom prst="rect">
            <a:avLst/>
          </a:prstGeom>
          <a:noFill/>
          <a:ln/>
        </p:spPr>
        <p:txBody>
          <a:bodyPr wrap="square" lIns="0" tIns="0" rIns="0" bIns="0" rtlCol="0" anchor="ctr"/>
          <a:lstStyle/>
          <a:p>
            <a:pPr indent="0" marL="0">
              <a:buNone/>
            </a:pPr>
            <a:r>
              <a:rPr lang="en-US" sz="1050" b="1" dirty="0">
                <a:solidFill>
                  <a:srgbClr val="F5F5F5"/>
                </a:solidFill>
                <a:latin typeface="Courier New" pitchFamily="34" charset="0"/>
                <a:ea typeface="Courier New" pitchFamily="34" charset="-122"/>
                <a:cs typeface="Courier New" pitchFamily="34" charset="-120"/>
              </a:rPr>
              <a:t>/metrics</a:t>
            </a:r>
            <a:endParaRPr lang="en-US" sz="1050" dirty="0"/>
          </a:p>
        </p:txBody>
      </p:sp>
      <p:sp>
        <p:nvSpPr>
          <p:cNvPr id="13" name="Text 11"/>
          <p:cNvSpPr txBox="1"/>
          <p:nvPr/>
        </p:nvSpPr>
        <p:spPr>
          <a:xfrm>
            <a:off x="3520440" y="2496312"/>
            <a:ext cx="2788920" cy="457200"/>
          </a:xfrm>
          <a:prstGeom prst="rect">
            <a:avLst/>
          </a:prstGeom>
          <a:noFill/>
          <a:ln/>
        </p:spPr>
        <p:txBody>
          <a:bodyPr wrap="square" lIns="0" tIns="0" rIns="0" bIns="0" rtlCol="0" anchor="ctr"/>
          <a:lstStyle/>
          <a:p>
            <a:pPr indent="0" marL="0">
              <a:lnSpc>
                <a:spcPct val="110000"/>
              </a:lnSpc>
              <a:buNone/>
            </a:pPr>
            <a:r>
              <a:rPr lang="en-US" sz="880" dirty="0">
                <a:solidFill>
                  <a:srgbClr val="9A9A9A"/>
                </a:solidFill>
                <a:latin typeface="Calibri" pitchFamily="34" charset="0"/>
                <a:ea typeface="Calibri" pitchFamily="34" charset="-122"/>
                <a:cs typeface="Calibri" pitchFamily="34" charset="-120"/>
              </a:rPr>
              <a:t>Full config.json — all 4 models' metrics, params, threshold</a:t>
            </a:r>
            <a:endParaRPr lang="en-US" sz="880" dirty="0"/>
          </a:p>
        </p:txBody>
      </p:sp>
      <p:sp>
        <p:nvSpPr>
          <p:cNvPr id="14" name="Shape 12"/>
          <p:cNvSpPr/>
          <p:nvPr/>
        </p:nvSpPr>
        <p:spPr>
          <a:xfrm>
            <a:off x="914400" y="3026664"/>
            <a:ext cx="777240" cy="310896"/>
          </a:xfrm>
          <a:prstGeom prst="roundRect">
            <a:avLst>
              <a:gd name="adj" fmla="val 14706"/>
            </a:avLst>
          </a:prstGeom>
          <a:solidFill>
            <a:srgbClr val="0A0A0A"/>
          </a:solidFill>
          <a:ln w="12700">
            <a:solidFill>
              <a:srgbClr val="EF4444"/>
            </a:solidFill>
            <a:prstDash val="solid"/>
          </a:ln>
        </p:spPr>
      </p:sp>
      <p:sp>
        <p:nvSpPr>
          <p:cNvPr id="15" name="Text 13"/>
          <p:cNvSpPr txBox="1"/>
          <p:nvPr/>
        </p:nvSpPr>
        <p:spPr>
          <a:xfrm>
            <a:off x="914400" y="3026664"/>
            <a:ext cx="777240" cy="310896"/>
          </a:xfrm>
          <a:prstGeom prst="rect">
            <a:avLst/>
          </a:prstGeom>
          <a:noFill/>
          <a:ln/>
        </p:spPr>
        <p:txBody>
          <a:bodyPr wrap="square" lIns="0" tIns="0" rIns="0" bIns="0" rtlCol="0" anchor="ctr"/>
          <a:lstStyle/>
          <a:p>
            <a:pPr algn="ctr" indent="0" marL="0">
              <a:buNone/>
            </a:pPr>
            <a:r>
              <a:rPr lang="en-US" sz="900" b="1" dirty="0">
                <a:solidFill>
                  <a:srgbClr val="EF4444"/>
                </a:solidFill>
                <a:latin typeface="Courier New" pitchFamily="34" charset="0"/>
                <a:ea typeface="Courier New" pitchFamily="34" charset="-122"/>
                <a:cs typeface="Courier New" pitchFamily="34" charset="-120"/>
              </a:rPr>
              <a:t>POST</a:t>
            </a:r>
            <a:endParaRPr lang="en-US" sz="900" dirty="0"/>
          </a:p>
        </p:txBody>
      </p:sp>
      <p:sp>
        <p:nvSpPr>
          <p:cNvPr id="16" name="Text 14"/>
          <p:cNvSpPr txBox="1"/>
          <p:nvPr/>
        </p:nvSpPr>
        <p:spPr>
          <a:xfrm>
            <a:off x="1783080" y="3026664"/>
            <a:ext cx="1691640" cy="310896"/>
          </a:xfrm>
          <a:prstGeom prst="rect">
            <a:avLst/>
          </a:prstGeom>
          <a:noFill/>
          <a:ln/>
        </p:spPr>
        <p:txBody>
          <a:bodyPr wrap="square" lIns="0" tIns="0" rIns="0" bIns="0" rtlCol="0" anchor="ctr"/>
          <a:lstStyle/>
          <a:p>
            <a:pPr indent="0" marL="0">
              <a:buNone/>
            </a:pPr>
            <a:r>
              <a:rPr lang="en-US" sz="1050" b="1" dirty="0">
                <a:solidFill>
                  <a:srgbClr val="F5F5F5"/>
                </a:solidFill>
                <a:latin typeface="Courier New" pitchFamily="34" charset="0"/>
                <a:ea typeface="Courier New" pitchFamily="34" charset="-122"/>
                <a:cs typeface="Courier New" pitchFamily="34" charset="-120"/>
              </a:rPr>
              <a:t>/predict</a:t>
            </a:r>
            <a:endParaRPr lang="en-US" sz="1050" dirty="0"/>
          </a:p>
        </p:txBody>
      </p:sp>
      <p:sp>
        <p:nvSpPr>
          <p:cNvPr id="17" name="Text 15"/>
          <p:cNvSpPr txBox="1"/>
          <p:nvPr/>
        </p:nvSpPr>
        <p:spPr>
          <a:xfrm>
            <a:off x="3520440" y="3026664"/>
            <a:ext cx="2788920" cy="457200"/>
          </a:xfrm>
          <a:prstGeom prst="rect">
            <a:avLst/>
          </a:prstGeom>
          <a:noFill/>
          <a:ln/>
        </p:spPr>
        <p:txBody>
          <a:bodyPr wrap="square" lIns="0" tIns="0" rIns="0" bIns="0" rtlCol="0" anchor="ctr"/>
          <a:lstStyle/>
          <a:p>
            <a:pPr indent="0" marL="0">
              <a:lnSpc>
                <a:spcPct val="110000"/>
              </a:lnSpc>
              <a:buNone/>
            </a:pPr>
            <a:r>
              <a:rPr lang="en-US" sz="880" dirty="0">
                <a:solidFill>
                  <a:srgbClr val="9A9A9A"/>
                </a:solidFill>
                <a:latin typeface="Calibri" pitchFamily="34" charset="0"/>
                <a:ea typeface="Calibri" pitchFamily="34" charset="-122"/>
                <a:cs typeface="Calibri" pitchFamily="34" charset="-120"/>
              </a:rPr>
              <a:t>Score one transaction — probability, verdict, confidence, SHAP top-3</a:t>
            </a:r>
            <a:endParaRPr lang="en-US" sz="880" dirty="0"/>
          </a:p>
        </p:txBody>
      </p:sp>
      <p:sp>
        <p:nvSpPr>
          <p:cNvPr id="18" name="Shape 16"/>
          <p:cNvSpPr/>
          <p:nvPr/>
        </p:nvSpPr>
        <p:spPr>
          <a:xfrm>
            <a:off x="914400" y="3557016"/>
            <a:ext cx="777240" cy="310896"/>
          </a:xfrm>
          <a:prstGeom prst="roundRect">
            <a:avLst>
              <a:gd name="adj" fmla="val 14706"/>
            </a:avLst>
          </a:prstGeom>
          <a:solidFill>
            <a:srgbClr val="0A0A0A"/>
          </a:solidFill>
          <a:ln w="12700">
            <a:solidFill>
              <a:srgbClr val="F59E0B"/>
            </a:solidFill>
            <a:prstDash val="solid"/>
          </a:ln>
        </p:spPr>
      </p:sp>
      <p:sp>
        <p:nvSpPr>
          <p:cNvPr id="19" name="Text 17"/>
          <p:cNvSpPr txBox="1"/>
          <p:nvPr/>
        </p:nvSpPr>
        <p:spPr>
          <a:xfrm>
            <a:off x="914400" y="3557016"/>
            <a:ext cx="777240" cy="310896"/>
          </a:xfrm>
          <a:prstGeom prst="rect">
            <a:avLst/>
          </a:prstGeom>
          <a:noFill/>
          <a:ln/>
        </p:spPr>
        <p:txBody>
          <a:bodyPr wrap="square" lIns="0" tIns="0" rIns="0" bIns="0" rtlCol="0" anchor="ctr"/>
          <a:lstStyle/>
          <a:p>
            <a:pPr algn="ctr" indent="0" marL="0">
              <a:buNone/>
            </a:pPr>
            <a:r>
              <a:rPr lang="en-US" sz="900" b="1" dirty="0">
                <a:solidFill>
                  <a:srgbClr val="F59E0B"/>
                </a:solidFill>
                <a:latin typeface="Courier New" pitchFamily="34" charset="0"/>
                <a:ea typeface="Courier New" pitchFamily="34" charset="-122"/>
                <a:cs typeface="Courier New" pitchFamily="34" charset="-120"/>
              </a:rPr>
              <a:t>GET</a:t>
            </a:r>
            <a:endParaRPr lang="en-US" sz="900" dirty="0"/>
          </a:p>
        </p:txBody>
      </p:sp>
      <p:sp>
        <p:nvSpPr>
          <p:cNvPr id="20" name="Text 18"/>
          <p:cNvSpPr txBox="1"/>
          <p:nvPr/>
        </p:nvSpPr>
        <p:spPr>
          <a:xfrm>
            <a:off x="1783080" y="3557016"/>
            <a:ext cx="1691640" cy="310896"/>
          </a:xfrm>
          <a:prstGeom prst="rect">
            <a:avLst/>
          </a:prstGeom>
          <a:noFill/>
          <a:ln/>
        </p:spPr>
        <p:txBody>
          <a:bodyPr wrap="square" lIns="0" tIns="0" rIns="0" bIns="0" rtlCol="0" anchor="ctr"/>
          <a:lstStyle/>
          <a:p>
            <a:pPr indent="0" marL="0">
              <a:buNone/>
            </a:pPr>
            <a:r>
              <a:rPr lang="en-US" sz="1050" b="1" dirty="0">
                <a:solidFill>
                  <a:srgbClr val="F5F5F5"/>
                </a:solidFill>
                <a:latin typeface="Courier New" pitchFamily="34" charset="0"/>
                <a:ea typeface="Courier New" pitchFamily="34" charset="-122"/>
                <a:cs typeface="Courier New" pitchFamily="34" charset="-120"/>
              </a:rPr>
              <a:t>/random</a:t>
            </a:r>
            <a:endParaRPr lang="en-US" sz="1050" dirty="0"/>
          </a:p>
        </p:txBody>
      </p:sp>
      <p:sp>
        <p:nvSpPr>
          <p:cNvPr id="21" name="Text 19"/>
          <p:cNvSpPr txBox="1"/>
          <p:nvPr/>
        </p:nvSpPr>
        <p:spPr>
          <a:xfrm>
            <a:off x="3520440" y="3557016"/>
            <a:ext cx="2788920" cy="457200"/>
          </a:xfrm>
          <a:prstGeom prst="rect">
            <a:avLst/>
          </a:prstGeom>
          <a:noFill/>
          <a:ln/>
        </p:spPr>
        <p:txBody>
          <a:bodyPr wrap="square" lIns="0" tIns="0" rIns="0" bIns="0" rtlCol="0" anchor="ctr"/>
          <a:lstStyle/>
          <a:p>
            <a:pPr indent="0" marL="0">
              <a:lnSpc>
                <a:spcPct val="110000"/>
              </a:lnSpc>
              <a:buNone/>
            </a:pPr>
            <a:r>
              <a:rPr lang="en-US" sz="880" dirty="0">
                <a:solidFill>
                  <a:srgbClr val="9A9A9A"/>
                </a:solidFill>
                <a:latin typeface="Calibri" pitchFamily="34" charset="0"/>
                <a:ea typeface="Calibri" pitchFamily="34" charset="-122"/>
                <a:cs typeface="Calibri" pitchFamily="34" charset="-120"/>
              </a:rPr>
              <a:t>Pull a real fraud or legit row from test_sample.csv for demos</a:t>
            </a:r>
            <a:endParaRPr lang="en-US" sz="880" dirty="0"/>
          </a:p>
        </p:txBody>
      </p:sp>
      <p:sp>
        <p:nvSpPr>
          <p:cNvPr id="22" name="Shape 20"/>
          <p:cNvSpPr/>
          <p:nvPr/>
        </p:nvSpPr>
        <p:spPr>
          <a:xfrm>
            <a:off x="914400" y="4087368"/>
            <a:ext cx="777240" cy="310896"/>
          </a:xfrm>
          <a:prstGeom prst="roundRect">
            <a:avLst>
              <a:gd name="adj" fmla="val 14706"/>
            </a:avLst>
          </a:prstGeom>
          <a:solidFill>
            <a:srgbClr val="0A0A0A"/>
          </a:solidFill>
          <a:ln w="12700">
            <a:solidFill>
              <a:srgbClr val="3B82F6"/>
            </a:solidFill>
            <a:prstDash val="solid"/>
          </a:ln>
        </p:spPr>
      </p:sp>
      <p:sp>
        <p:nvSpPr>
          <p:cNvPr id="23" name="Text 21"/>
          <p:cNvSpPr txBox="1"/>
          <p:nvPr/>
        </p:nvSpPr>
        <p:spPr>
          <a:xfrm>
            <a:off x="914400" y="4087368"/>
            <a:ext cx="777240" cy="310896"/>
          </a:xfrm>
          <a:prstGeom prst="rect">
            <a:avLst/>
          </a:prstGeom>
          <a:noFill/>
          <a:ln/>
        </p:spPr>
        <p:txBody>
          <a:bodyPr wrap="square" lIns="0" tIns="0" rIns="0" bIns="0" rtlCol="0" anchor="ctr"/>
          <a:lstStyle/>
          <a:p>
            <a:pPr algn="ctr" indent="0" marL="0">
              <a:buNone/>
            </a:pPr>
            <a:r>
              <a:rPr lang="en-US" sz="900" b="1" dirty="0">
                <a:solidFill>
                  <a:srgbClr val="3B82F6"/>
                </a:solidFill>
                <a:latin typeface="Courier New" pitchFamily="34" charset="0"/>
                <a:ea typeface="Courier New" pitchFamily="34" charset="-122"/>
                <a:cs typeface="Courier New" pitchFamily="34" charset="-120"/>
              </a:rPr>
              <a:t>GET</a:t>
            </a:r>
            <a:endParaRPr lang="en-US" sz="900" dirty="0"/>
          </a:p>
        </p:txBody>
      </p:sp>
      <p:sp>
        <p:nvSpPr>
          <p:cNvPr id="24" name="Text 22"/>
          <p:cNvSpPr txBox="1"/>
          <p:nvPr/>
        </p:nvSpPr>
        <p:spPr>
          <a:xfrm>
            <a:off x="1783080" y="4087368"/>
            <a:ext cx="1691640" cy="310896"/>
          </a:xfrm>
          <a:prstGeom prst="rect">
            <a:avLst/>
          </a:prstGeom>
          <a:noFill/>
          <a:ln/>
        </p:spPr>
        <p:txBody>
          <a:bodyPr wrap="square" lIns="0" tIns="0" rIns="0" bIns="0" rtlCol="0" anchor="ctr"/>
          <a:lstStyle/>
          <a:p>
            <a:pPr indent="0" marL="0">
              <a:buNone/>
            </a:pPr>
            <a:r>
              <a:rPr lang="en-US" sz="1050" b="1" dirty="0">
                <a:solidFill>
                  <a:srgbClr val="F5F5F5"/>
                </a:solidFill>
                <a:latin typeface="Courier New" pitchFamily="34" charset="0"/>
                <a:ea typeface="Courier New" pitchFamily="34" charset="-122"/>
                <a:cs typeface="Courier New" pitchFamily="34" charset="-120"/>
              </a:rPr>
              <a:t>/</a:t>
            </a:r>
            <a:endParaRPr lang="en-US" sz="1050" dirty="0"/>
          </a:p>
        </p:txBody>
      </p:sp>
      <p:sp>
        <p:nvSpPr>
          <p:cNvPr id="25" name="Text 23"/>
          <p:cNvSpPr txBox="1"/>
          <p:nvPr/>
        </p:nvSpPr>
        <p:spPr>
          <a:xfrm>
            <a:off x="3520440" y="4087368"/>
            <a:ext cx="2788920" cy="457200"/>
          </a:xfrm>
          <a:prstGeom prst="rect">
            <a:avLst/>
          </a:prstGeom>
          <a:noFill/>
          <a:ln/>
        </p:spPr>
        <p:txBody>
          <a:bodyPr wrap="square" lIns="0" tIns="0" rIns="0" bIns="0" rtlCol="0" anchor="ctr"/>
          <a:lstStyle/>
          <a:p>
            <a:pPr indent="0" marL="0">
              <a:lnSpc>
                <a:spcPct val="110000"/>
              </a:lnSpc>
              <a:buNone/>
            </a:pPr>
            <a:r>
              <a:rPr lang="en-US" sz="880" dirty="0">
                <a:solidFill>
                  <a:srgbClr val="9A9A9A"/>
                </a:solidFill>
                <a:latin typeface="Calibri" pitchFamily="34" charset="0"/>
                <a:ea typeface="Calibri" pitchFamily="34" charset="-122"/>
                <a:cs typeface="Calibri" pitchFamily="34" charset="-120"/>
              </a:rPr>
              <a:t>Built-in HTML/JS dashboard — same UI, zero separate frontend needed</a:t>
            </a:r>
            <a:endParaRPr lang="en-US" sz="880" dirty="0"/>
          </a:p>
        </p:txBody>
      </p:sp>
      <p:sp>
        <p:nvSpPr>
          <p:cNvPr id="26" name="Shape 24"/>
          <p:cNvSpPr/>
          <p:nvPr/>
        </p:nvSpPr>
        <p:spPr>
          <a:xfrm>
            <a:off x="914400" y="4617720"/>
            <a:ext cx="777240" cy="310896"/>
          </a:xfrm>
          <a:prstGeom prst="roundRect">
            <a:avLst>
              <a:gd name="adj" fmla="val 14706"/>
            </a:avLst>
          </a:prstGeom>
          <a:solidFill>
            <a:srgbClr val="0A0A0A"/>
          </a:solidFill>
          <a:ln w="12700">
            <a:solidFill>
              <a:srgbClr val="9A9A9A"/>
            </a:solidFill>
            <a:prstDash val="solid"/>
          </a:ln>
        </p:spPr>
      </p:sp>
      <p:sp>
        <p:nvSpPr>
          <p:cNvPr id="27" name="Text 25"/>
          <p:cNvSpPr txBox="1"/>
          <p:nvPr/>
        </p:nvSpPr>
        <p:spPr>
          <a:xfrm>
            <a:off x="914400" y="4617720"/>
            <a:ext cx="777240" cy="310896"/>
          </a:xfrm>
          <a:prstGeom prst="rect">
            <a:avLst/>
          </a:prstGeom>
          <a:noFill/>
          <a:ln/>
        </p:spPr>
        <p:txBody>
          <a:bodyPr wrap="square" lIns="0" tIns="0" rIns="0" bIns="0" rtlCol="0" anchor="ctr"/>
          <a:lstStyle/>
          <a:p>
            <a:pPr algn="ctr" indent="0" marL="0">
              <a:buNone/>
            </a:pPr>
            <a:r>
              <a:rPr lang="en-US" sz="900" b="1" dirty="0">
                <a:solidFill>
                  <a:srgbClr val="9A9A9A"/>
                </a:solidFill>
                <a:latin typeface="Courier New" pitchFamily="34" charset="0"/>
                <a:ea typeface="Courier New" pitchFamily="34" charset="-122"/>
                <a:cs typeface="Courier New" pitchFamily="34" charset="-120"/>
              </a:rPr>
              <a:t>GET</a:t>
            </a:r>
            <a:endParaRPr lang="en-US" sz="900" dirty="0"/>
          </a:p>
        </p:txBody>
      </p:sp>
      <p:sp>
        <p:nvSpPr>
          <p:cNvPr id="28" name="Text 26"/>
          <p:cNvSpPr txBox="1"/>
          <p:nvPr/>
        </p:nvSpPr>
        <p:spPr>
          <a:xfrm>
            <a:off x="1783080" y="4617720"/>
            <a:ext cx="1691640" cy="310896"/>
          </a:xfrm>
          <a:prstGeom prst="rect">
            <a:avLst/>
          </a:prstGeom>
          <a:noFill/>
          <a:ln/>
        </p:spPr>
        <p:txBody>
          <a:bodyPr wrap="square" lIns="0" tIns="0" rIns="0" bIns="0" rtlCol="0" anchor="ctr"/>
          <a:lstStyle/>
          <a:p>
            <a:pPr indent="0" marL="0">
              <a:buNone/>
            </a:pPr>
            <a:r>
              <a:rPr lang="en-US" sz="1050" b="1" dirty="0">
                <a:solidFill>
                  <a:srgbClr val="F5F5F5"/>
                </a:solidFill>
                <a:latin typeface="Courier New" pitchFamily="34" charset="0"/>
                <a:ea typeface="Courier New" pitchFamily="34" charset="-122"/>
                <a:cs typeface="Courier New" pitchFamily="34" charset="-120"/>
              </a:rPr>
              <a:t>/docs</a:t>
            </a:r>
            <a:endParaRPr lang="en-US" sz="1050" dirty="0"/>
          </a:p>
        </p:txBody>
      </p:sp>
      <p:sp>
        <p:nvSpPr>
          <p:cNvPr id="29" name="Text 27"/>
          <p:cNvSpPr txBox="1"/>
          <p:nvPr/>
        </p:nvSpPr>
        <p:spPr>
          <a:xfrm>
            <a:off x="3520440" y="4617720"/>
            <a:ext cx="2788920" cy="457200"/>
          </a:xfrm>
          <a:prstGeom prst="rect">
            <a:avLst/>
          </a:prstGeom>
          <a:noFill/>
          <a:ln/>
        </p:spPr>
        <p:txBody>
          <a:bodyPr wrap="square" lIns="0" tIns="0" rIns="0" bIns="0" rtlCol="0" anchor="ctr"/>
          <a:lstStyle/>
          <a:p>
            <a:pPr indent="0" marL="0">
              <a:lnSpc>
                <a:spcPct val="110000"/>
              </a:lnSpc>
              <a:buNone/>
            </a:pPr>
            <a:r>
              <a:rPr lang="en-US" sz="880" dirty="0">
                <a:solidFill>
                  <a:srgbClr val="9A9A9A"/>
                </a:solidFill>
                <a:latin typeface="Calibri" pitchFamily="34" charset="0"/>
                <a:ea typeface="Calibri" pitchFamily="34" charset="-122"/>
                <a:cs typeface="Calibri" pitchFamily="34" charset="-120"/>
              </a:rPr>
              <a:t>Auto-generated Swagger UI — try every endpoint from the browser</a:t>
            </a:r>
            <a:endParaRPr lang="en-US" sz="880" dirty="0"/>
          </a:p>
        </p:txBody>
      </p:sp>
      <p:sp>
        <p:nvSpPr>
          <p:cNvPr id="30" name="Shape 28"/>
          <p:cNvSpPr/>
          <p:nvPr/>
        </p:nvSpPr>
        <p:spPr>
          <a:xfrm>
            <a:off x="914400" y="5193792"/>
            <a:ext cx="5257800" cy="914"/>
          </a:xfrm>
          <a:prstGeom prst="line">
            <a:avLst/>
          </a:prstGeom>
          <a:noFill/>
          <a:ln w="12700">
            <a:solidFill>
              <a:srgbClr val="2A2A2A"/>
            </a:solidFill>
            <a:prstDash val="solid"/>
          </a:ln>
        </p:spPr>
      </p:sp>
      <p:sp>
        <p:nvSpPr>
          <p:cNvPr id="31" name="Text 29"/>
          <p:cNvSpPr txBox="1"/>
          <p:nvPr/>
        </p:nvSpPr>
        <p:spPr>
          <a:xfrm>
            <a:off x="914400" y="5330952"/>
            <a:ext cx="5303520" cy="914400"/>
          </a:xfrm>
          <a:prstGeom prst="rect">
            <a:avLst/>
          </a:prstGeom>
          <a:noFill/>
          <a:ln/>
        </p:spPr>
        <p:txBody>
          <a:bodyPr wrap="square" lIns="0" tIns="0" rIns="0" bIns="0" rtlCol="0" anchor="ctr"/>
          <a:lstStyle/>
          <a:p>
            <a:pPr indent="0" marL="0">
              <a:lnSpc>
                <a:spcPct val="120000"/>
              </a:lnSpc>
              <a:buNone/>
            </a:pPr>
            <a:r>
              <a:rPr lang="en-US" sz="980" i="1" dirty="0">
                <a:solidFill>
                  <a:srgbClr val="99AABB"/>
                </a:solidFill>
                <a:latin typeface="Calibri" pitchFamily="34" charset="0"/>
                <a:ea typeface="Calibri" pitchFamily="34" charset="-122"/>
                <a:cs typeface="Calibri" pitchFamily="34" charset="-120"/>
              </a:rPr>
              <a:t>CORS enabled (allow_origins="*") · Pydantic-validated request body (TransactionInput) · same FraudPredictor singleton as the Streamlit app — one source of truth, zero logic drift between frontend and backend.</a:t>
            </a:r>
            <a:endParaRPr lang="en-US" sz="980" dirty="0"/>
          </a:p>
        </p:txBody>
      </p:sp>
      <p:sp>
        <p:nvSpPr>
          <p:cNvPr id="32" name="Shape 30"/>
          <p:cNvSpPr/>
          <p:nvPr/>
        </p:nvSpPr>
        <p:spPr>
          <a:xfrm>
            <a:off x="6675120" y="1463040"/>
            <a:ext cx="4873752" cy="2240280"/>
          </a:xfrm>
          <a:prstGeom prst="roundRect">
            <a:avLst>
              <a:gd name="adj" fmla="val 3673"/>
            </a:avLst>
          </a:prstGeom>
          <a:solidFill>
            <a:srgbClr val="141414"/>
          </a:solidFill>
          <a:ln w="12700">
            <a:solidFill>
              <a:srgbClr val="2A2A2A"/>
            </a:solidFill>
            <a:prstDash val="solid"/>
          </a:ln>
        </p:spPr>
      </p:sp>
      <p:sp>
        <p:nvSpPr>
          <p:cNvPr id="33" name="Text 31"/>
          <p:cNvSpPr txBox="1"/>
          <p:nvPr/>
        </p:nvSpPr>
        <p:spPr>
          <a:xfrm>
            <a:off x="6949440" y="1627632"/>
            <a:ext cx="4389120" cy="274320"/>
          </a:xfrm>
          <a:prstGeom prst="rect">
            <a:avLst/>
          </a:prstGeom>
          <a:noFill/>
          <a:ln/>
        </p:spPr>
        <p:txBody>
          <a:bodyPr wrap="square" lIns="0" tIns="0" rIns="0" bIns="0" rtlCol="0" anchor="ctr"/>
          <a:lstStyle/>
          <a:p>
            <a:pPr indent="0" marL="0">
              <a:buNone/>
            </a:pPr>
            <a:r>
              <a:rPr lang="en-US" sz="1000" b="1" spc="100" kern="0" dirty="0">
                <a:solidFill>
                  <a:srgbClr val="EF4444"/>
                </a:solidFill>
                <a:latin typeface="Calibri" pitchFamily="34" charset="0"/>
                <a:ea typeface="Calibri" pitchFamily="34" charset="-122"/>
                <a:cs typeface="Calibri" pitchFamily="34" charset="-120"/>
              </a:rPr>
              <a:t>CONTAINERIZED DEPLOYMENT</a:t>
            </a:r>
            <a:endParaRPr lang="en-US" sz="1000" dirty="0"/>
          </a:p>
        </p:txBody>
      </p:sp>
      <p:sp>
        <p:nvSpPr>
          <p:cNvPr id="34" name="Text 32"/>
          <p:cNvSpPr txBox="1"/>
          <p:nvPr/>
        </p:nvSpPr>
        <p:spPr>
          <a:xfrm>
            <a:off x="6949440" y="1938528"/>
            <a:ext cx="4389120" cy="256032"/>
          </a:xfrm>
          <a:prstGeom prst="rect">
            <a:avLst/>
          </a:prstGeom>
          <a:noFill/>
          <a:ln/>
        </p:spPr>
        <p:txBody>
          <a:bodyPr wrap="square" lIns="0" tIns="0" rIns="0" bIns="0" rtlCol="0" anchor="ctr"/>
          <a:lstStyle/>
          <a:p>
            <a:pPr indent="0" marL="0">
              <a:buNone/>
            </a:pPr>
            <a:r>
              <a:rPr lang="en-US" sz="1100" b="1" dirty="0">
                <a:solidFill>
                  <a:srgbClr val="F5F5F5"/>
                </a:solidFill>
                <a:latin typeface="Courier New" pitchFamily="34" charset="0"/>
                <a:ea typeface="Courier New" pitchFamily="34" charset="-122"/>
                <a:cs typeface="Courier New" pitchFamily="34" charset="-120"/>
              </a:rPr>
              <a:t>Dockerfile</a:t>
            </a:r>
            <a:endParaRPr lang="en-US" sz="1100" dirty="0"/>
          </a:p>
        </p:txBody>
      </p:sp>
      <p:sp>
        <p:nvSpPr>
          <p:cNvPr id="35" name="Text 33"/>
          <p:cNvSpPr txBox="1"/>
          <p:nvPr/>
        </p:nvSpPr>
        <p:spPr>
          <a:xfrm>
            <a:off x="6949440" y="2194560"/>
            <a:ext cx="4389120" cy="502920"/>
          </a:xfrm>
          <a:prstGeom prst="rect">
            <a:avLst/>
          </a:prstGeom>
          <a:noFill/>
          <a:ln/>
        </p:spPr>
        <p:txBody>
          <a:bodyPr wrap="square" lIns="0" tIns="0" rIns="0" bIns="0" rtlCol="0" anchor="ctr"/>
          <a:lstStyle/>
          <a:p>
            <a:pPr indent="0" marL="0">
              <a:lnSpc>
                <a:spcPct val="115000"/>
              </a:lnSpc>
              <a:buNone/>
            </a:pPr>
            <a:r>
              <a:rPr lang="en-US" sz="950" dirty="0">
                <a:solidFill>
                  <a:srgbClr val="9A9A9A"/>
                </a:solidFill>
                <a:latin typeface="Calibri" pitchFamily="34" charset="0"/>
                <a:ea typeface="Calibri" pitchFamily="34" charset="-122"/>
                <a:cs typeface="Calibri" pitchFamily="34" charset="-120"/>
              </a:rPr>
              <a:t>python:3.11-slim base → pip install -r requirements.txt → uvicorn app.api:app --host 0.0.0.0 --port 8000</a:t>
            </a:r>
            <a:endParaRPr lang="en-US" sz="950" dirty="0"/>
          </a:p>
        </p:txBody>
      </p:sp>
      <p:sp>
        <p:nvSpPr>
          <p:cNvPr id="36" name="Text 34"/>
          <p:cNvSpPr txBox="1"/>
          <p:nvPr/>
        </p:nvSpPr>
        <p:spPr>
          <a:xfrm>
            <a:off x="6949440" y="2761488"/>
            <a:ext cx="4389120" cy="256032"/>
          </a:xfrm>
          <a:prstGeom prst="rect">
            <a:avLst/>
          </a:prstGeom>
          <a:noFill/>
          <a:ln/>
        </p:spPr>
        <p:txBody>
          <a:bodyPr wrap="square" lIns="0" tIns="0" rIns="0" bIns="0" rtlCol="0" anchor="ctr"/>
          <a:lstStyle/>
          <a:p>
            <a:pPr indent="0" marL="0">
              <a:buNone/>
            </a:pPr>
            <a:r>
              <a:rPr lang="en-US" sz="1100" b="1" dirty="0">
                <a:solidFill>
                  <a:srgbClr val="F5F5F5"/>
                </a:solidFill>
                <a:latin typeface="Courier New" pitchFamily="34" charset="0"/>
                <a:ea typeface="Courier New" pitchFamily="34" charset="-122"/>
                <a:cs typeface="Courier New" pitchFamily="34" charset="-120"/>
              </a:rPr>
              <a:t>render.yaml</a:t>
            </a:r>
            <a:endParaRPr lang="en-US" sz="1100" dirty="0"/>
          </a:p>
        </p:txBody>
      </p:sp>
      <p:sp>
        <p:nvSpPr>
          <p:cNvPr id="37" name="Text 35"/>
          <p:cNvSpPr txBox="1"/>
          <p:nvPr/>
        </p:nvSpPr>
        <p:spPr>
          <a:xfrm>
            <a:off x="6949440" y="3017520"/>
            <a:ext cx="4389120" cy="548640"/>
          </a:xfrm>
          <a:prstGeom prst="rect">
            <a:avLst/>
          </a:prstGeom>
          <a:noFill/>
          <a:ln/>
        </p:spPr>
        <p:txBody>
          <a:bodyPr wrap="square" lIns="0" tIns="0" rIns="0" bIns="0" rtlCol="0" anchor="ctr"/>
          <a:lstStyle/>
          <a:p>
            <a:pPr indent="0" marL="0">
              <a:lnSpc>
                <a:spcPct val="115000"/>
              </a:lnSpc>
              <a:buNone/>
            </a:pPr>
            <a:r>
              <a:rPr lang="en-US" sz="950" dirty="0">
                <a:solidFill>
                  <a:srgbClr val="9A9A9A"/>
                </a:solidFill>
                <a:latin typeface="Calibri" pitchFamily="34" charset="0"/>
                <a:ea typeface="Calibri" pitchFamily="34" charset="-122"/>
                <a:cs typeface="Calibri" pitchFamily="34" charset="-120"/>
              </a:rPr>
              <a:t>Render web service · PYTHON_VERSION pinned to 3.11.9 · startCommand runs uvicorn directly on Render's $PORT</a:t>
            </a:r>
            <a:endParaRPr lang="en-US" sz="950" dirty="0"/>
          </a:p>
        </p:txBody>
      </p:sp>
      <p:sp>
        <p:nvSpPr>
          <p:cNvPr id="38" name="Shape 36"/>
          <p:cNvSpPr/>
          <p:nvPr/>
        </p:nvSpPr>
        <p:spPr>
          <a:xfrm>
            <a:off x="6675120" y="3886200"/>
            <a:ext cx="4873752" cy="2286000"/>
          </a:xfrm>
          <a:prstGeom prst="roundRect">
            <a:avLst>
              <a:gd name="adj" fmla="val 3600"/>
            </a:avLst>
          </a:prstGeom>
          <a:solidFill>
            <a:srgbClr val="0A140F"/>
          </a:solidFill>
          <a:ln w="12700">
            <a:solidFill>
              <a:srgbClr val="1E4A2E"/>
            </a:solidFill>
            <a:prstDash val="solid"/>
          </a:ln>
        </p:spPr>
      </p:sp>
      <p:sp>
        <p:nvSpPr>
          <p:cNvPr id="39" name="Text 37"/>
          <p:cNvSpPr txBox="1"/>
          <p:nvPr/>
        </p:nvSpPr>
        <p:spPr>
          <a:xfrm>
            <a:off x="6949440" y="4050792"/>
            <a:ext cx="4389120" cy="274320"/>
          </a:xfrm>
          <a:prstGeom prst="rect">
            <a:avLst/>
          </a:prstGeom>
          <a:noFill/>
          <a:ln/>
        </p:spPr>
        <p:txBody>
          <a:bodyPr wrap="square" lIns="0" tIns="0" rIns="0" bIns="0" rtlCol="0" anchor="ctr"/>
          <a:lstStyle/>
          <a:p>
            <a:pPr indent="0" marL="0">
              <a:buNone/>
            </a:pPr>
            <a:r>
              <a:rPr lang="en-US" sz="1000" b="1" spc="100" kern="0" dirty="0">
                <a:solidFill>
                  <a:srgbClr val="10B981"/>
                </a:solidFill>
                <a:latin typeface="Calibri" pitchFamily="34" charset="0"/>
                <a:ea typeface="Calibri" pitchFamily="34" charset="-122"/>
                <a:cs typeface="Calibri" pitchFamily="34" charset="-120"/>
              </a:rPr>
              <a:t>LIVE DEPLOYMENT</a:t>
            </a:r>
            <a:endParaRPr lang="en-US" sz="1000" dirty="0"/>
          </a:p>
        </p:txBody>
      </p:sp>
      <p:sp>
        <p:nvSpPr>
          <p:cNvPr id="40" name="Text 38"/>
          <p:cNvSpPr txBox="1"/>
          <p:nvPr/>
        </p:nvSpPr>
        <p:spPr>
          <a:xfrm>
            <a:off x="6949440" y="4343400"/>
            <a:ext cx="4389120" cy="320040"/>
          </a:xfrm>
          <a:prstGeom prst="rect">
            <a:avLst/>
          </a:prstGeom>
          <a:noFill/>
          <a:ln/>
        </p:spPr>
        <p:txBody>
          <a:bodyPr wrap="square" lIns="0" tIns="0" rIns="0" bIns="0" rtlCol="0" anchor="ctr"/>
          <a:lstStyle/>
          <a:p>
            <a:pPr indent="0" marL="0">
              <a:buNone/>
            </a:pPr>
            <a:r>
              <a:rPr lang="en-US" sz="1300" b="1" dirty="0">
                <a:solidFill>
                  <a:srgbClr val="10B981"/>
                </a:solidFill>
                <a:latin typeface="Courier New" pitchFamily="34" charset="0"/>
                <a:ea typeface="Courier New" pitchFamily="34" charset="-122"/>
                <a:cs typeface="Courier New" pitchFamily="34" charset="-120"/>
              </a:rPr>
              <a:t>creditcard-qro9.onrender.com</a:t>
            </a:r>
            <a:endParaRPr lang="en-US" sz="1300" dirty="0"/>
          </a:p>
        </p:txBody>
      </p:sp>
      <p:sp>
        <p:nvSpPr>
          <p:cNvPr id="41" name="Text 39"/>
          <p:cNvSpPr txBox="1"/>
          <p:nvPr/>
        </p:nvSpPr>
        <p:spPr>
          <a:xfrm>
            <a:off x="6949440" y="4709160"/>
            <a:ext cx="4389120" cy="1371600"/>
          </a:xfrm>
          <a:prstGeom prst="rect">
            <a:avLst/>
          </a:prstGeom>
          <a:noFill/>
          <a:ln/>
        </p:spPr>
        <p:txBody>
          <a:bodyPr wrap="square" lIns="0" tIns="0" rIns="0" bIns="0" rtlCol="0" anchor="ctr"/>
          <a:lstStyle/>
          <a:p>
            <a:pPr indent="0" marL="0">
              <a:lnSpc>
                <a:spcPct val="125000"/>
              </a:lnSpc>
              <a:buNone/>
            </a:pPr>
            <a:r>
              <a:rPr lang="en-US" sz="1050" dirty="0">
                <a:solidFill>
                  <a:srgbClr val="D0D0D0"/>
                </a:solidFill>
                <a:latin typeface="Calibri" pitchFamily="34" charset="0"/>
                <a:ea typeface="Calibri" pitchFamily="34" charset="-122"/>
                <a:cs typeface="Calibri" pitchFamily="34" charset="-120"/>
              </a:rPr>
              <a:t>A real, working REST API — not a mock. Hit /docs to try /predict live with a Swagger form, or /random to pull an actual test-set transaction and see the model score it in real time.</a:t>
            </a:r>
            <a:endParaRPr lang="en-US" sz="1050" dirty="0"/>
          </a:p>
        </p:txBody>
      </p:sp>
      <p:sp>
        <p:nvSpPr>
          <p:cNvPr id="42" name="Text 40"/>
          <p:cNvSpPr txBox="1"/>
          <p:nvPr/>
        </p:nvSpPr>
        <p:spPr>
          <a:xfrm>
            <a:off x="457200" y="6528816"/>
            <a:ext cx="5486400" cy="274320"/>
          </a:xfrm>
          <a:prstGeom prst="rect">
            <a:avLst/>
          </a:prstGeom>
          <a:noFill/>
          <a:ln/>
        </p:spPr>
        <p:txBody>
          <a:bodyPr wrap="square" lIns="0" tIns="0" rIns="0" bIns="0" rtlCol="0" anchor="ctr"/>
          <a:lstStyle/>
          <a:p>
            <a:pPr indent="0" marL="0">
              <a:buNone/>
            </a:pPr>
            <a:r>
              <a:rPr lang="en-US" sz="800" spc="200" kern="0" dirty="0">
                <a:solidFill>
                  <a:srgbClr val="6B6B6B"/>
                </a:solidFill>
                <a:latin typeface="Calibri" pitchFamily="34" charset="0"/>
                <a:ea typeface="Calibri" pitchFamily="34" charset="-122"/>
                <a:cs typeface="Calibri" pitchFamily="34" charset="-120"/>
              </a:rPr>
              <a:t>CREDIT CARD FRAUD DETECTION</a:t>
            </a:r>
            <a:endParaRPr lang="en-US" sz="800" dirty="0"/>
          </a:p>
        </p:txBody>
      </p:sp>
      <p:sp>
        <p:nvSpPr>
          <p:cNvPr id="43" name="Text 41"/>
          <p:cNvSpPr txBox="1"/>
          <p:nvPr/>
        </p:nvSpPr>
        <p:spPr>
          <a:xfrm>
            <a:off x="11274552" y="6528816"/>
            <a:ext cx="548640" cy="274320"/>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50" b="1" spc="220" kern="0" dirty="0">
                <a:solidFill>
                  <a:srgbClr val="3B82F6"/>
                </a:solidFill>
                <a:latin typeface="Calibri" pitchFamily="34" charset="0"/>
                <a:ea typeface="Calibri" pitchFamily="34" charset="-122"/>
                <a:cs typeface="Calibri" pitchFamily="34" charset="-120"/>
              </a:rPr>
              <a:t>10 · FRONTEND</a:t>
            </a:r>
            <a:endParaRPr lang="en-US" sz="1250" dirty="0"/>
          </a:p>
        </p:txBody>
      </p:sp>
      <p:sp>
        <p:nvSpPr>
          <p:cNvPr id="3" name="Text 1"/>
          <p:cNvSpPr txBox="1"/>
          <p:nvPr/>
        </p:nvSpPr>
        <p:spPr>
          <a:xfrm>
            <a:off x="640080" y="676656"/>
            <a:ext cx="9875520" cy="685800"/>
          </a:xfrm>
          <a:prstGeom prst="rect">
            <a:avLst/>
          </a:prstGeom>
          <a:noFill/>
          <a:ln/>
        </p:spPr>
        <p:txBody>
          <a:bodyPr wrap="square" lIns="0" tIns="0" rIns="0" bIns="0" rtlCol="0" anchor="ctr"/>
          <a:lstStyle/>
          <a:p>
            <a:pPr indent="0" marL="0">
              <a:buNone/>
            </a:pPr>
            <a:r>
              <a:rPr lang="en-US" sz="3000" b="1" dirty="0">
                <a:solidFill>
                  <a:srgbClr val="F5F5F5"/>
                </a:solidFill>
                <a:latin typeface="Cambria" pitchFamily="34" charset="0"/>
                <a:ea typeface="Cambria" pitchFamily="34" charset="-122"/>
                <a:cs typeface="Cambria" pitchFamily="34" charset="-120"/>
              </a:rPr>
              <a:t>Frontend — Two Dashboards, One Design Language</a:t>
            </a:r>
            <a:endParaRPr lang="en-US" sz="3000" dirty="0"/>
          </a:p>
        </p:txBody>
      </p:sp>
      <p:sp>
        <p:nvSpPr>
          <p:cNvPr id="4" name="Shape 2"/>
          <p:cNvSpPr/>
          <p:nvPr/>
        </p:nvSpPr>
        <p:spPr>
          <a:xfrm>
            <a:off x="640080" y="1463040"/>
            <a:ext cx="5349240" cy="4754880"/>
          </a:xfrm>
          <a:prstGeom prst="roundRect">
            <a:avLst>
              <a:gd name="adj" fmla="val 1731"/>
            </a:avLst>
          </a:prstGeom>
          <a:solidFill>
            <a:srgbClr val="141414"/>
          </a:solidFill>
          <a:ln w="15875">
            <a:solidFill>
              <a:srgbClr val="3B82F6"/>
            </a:solidFill>
            <a:prstDash val="solid"/>
          </a:ln>
        </p:spPr>
      </p:sp>
      <p:sp>
        <p:nvSpPr>
          <p:cNvPr id="5" name="Text 3"/>
          <p:cNvSpPr txBox="1"/>
          <p:nvPr/>
        </p:nvSpPr>
        <p:spPr>
          <a:xfrm>
            <a:off x="914400" y="1645920"/>
            <a:ext cx="4846320" cy="274320"/>
          </a:xfrm>
          <a:prstGeom prst="rect">
            <a:avLst/>
          </a:prstGeom>
          <a:noFill/>
          <a:ln/>
        </p:spPr>
        <p:txBody>
          <a:bodyPr wrap="square" lIns="0" tIns="0" rIns="0" bIns="0" rtlCol="0" anchor="ctr"/>
          <a:lstStyle/>
          <a:p>
            <a:pPr indent="0" marL="0">
              <a:buNone/>
            </a:pPr>
            <a:r>
              <a:rPr lang="en-US" sz="1100" b="1" spc="100" kern="0" dirty="0">
                <a:solidFill>
                  <a:srgbClr val="3B82F6"/>
                </a:solidFill>
                <a:latin typeface="Calibri" pitchFamily="34" charset="0"/>
                <a:ea typeface="Calibri" pitchFamily="34" charset="-122"/>
                <a:cs typeface="Calibri" pitchFamily="34" charset="-120"/>
              </a:rPr>
              <a:t>STREAMLIT APP</a:t>
            </a:r>
            <a:endParaRPr lang="en-US" sz="1100" dirty="0"/>
          </a:p>
        </p:txBody>
      </p:sp>
      <p:sp>
        <p:nvSpPr>
          <p:cNvPr id="6" name="Text 4"/>
          <p:cNvSpPr txBox="1"/>
          <p:nvPr/>
        </p:nvSpPr>
        <p:spPr>
          <a:xfrm>
            <a:off x="914400" y="1920240"/>
            <a:ext cx="4846320" cy="256032"/>
          </a:xfrm>
          <a:prstGeom prst="rect">
            <a:avLst/>
          </a:prstGeom>
          <a:noFill/>
          <a:ln/>
        </p:spPr>
        <p:txBody>
          <a:bodyPr wrap="square" lIns="0" tIns="0" rIns="0" bIns="0" rtlCol="0" anchor="ctr"/>
          <a:lstStyle/>
          <a:p>
            <a:pPr indent="0" marL="0">
              <a:buNone/>
            </a:pPr>
            <a:r>
              <a:rPr lang="en-US" sz="1000" dirty="0">
                <a:solidFill>
                  <a:srgbClr val="6B6B6B"/>
                </a:solidFill>
                <a:latin typeface="Courier New" pitchFamily="34" charset="0"/>
                <a:ea typeface="Courier New" pitchFamily="34" charset="-122"/>
                <a:cs typeface="Courier New" pitchFamily="34" charset="-120"/>
              </a:rPr>
              <a:t>app/streamlit_app.py</a:t>
            </a:r>
            <a:endParaRPr lang="en-US" sz="1000" dirty="0"/>
          </a:p>
        </p:txBody>
      </p:sp>
      <p:sp>
        <p:nvSpPr>
          <p:cNvPr id="7" name="Text 5"/>
          <p:cNvSpPr txBox="1"/>
          <p:nvPr/>
        </p:nvSpPr>
        <p:spPr>
          <a:xfrm>
            <a:off x="914400" y="2331720"/>
            <a:ext cx="4846320" cy="777240"/>
          </a:xfrm>
          <a:prstGeom prst="rect">
            <a:avLst/>
          </a:prstGeom>
          <a:noFill/>
          <a:ln/>
        </p:spPr>
        <p:txBody>
          <a:bodyPr wrap="square" lIns="0" tIns="0" rIns="0" bIns="0" rtlCol="0" anchor="ctr"/>
          <a:lstStyle/>
          <a:p>
            <a:pPr indent="0" marL="0">
              <a:lnSpc>
                <a:spcPct val="122000"/>
              </a:lnSpc>
              <a:buNone/>
            </a:pPr>
            <a:r>
              <a:rPr lang="en-US" sz="1030" dirty="0">
                <a:solidFill>
                  <a:srgbClr val="9A9A9A"/>
                </a:solidFill>
                <a:latin typeface="Calibri" pitchFamily="34" charset="0"/>
                <a:ea typeface="Calibri" pitchFamily="34" charset="-122"/>
                <a:cs typeface="Calibri" pitchFamily="34" charset="-120"/>
              </a:rPr>
              <a:t>🔍 Transaction Check tab — pick a random real/fraud/legit row or type your own, get verdict + SHAP reasoning instantly.</a:t>
            </a:r>
            <a:endParaRPr lang="en-US" sz="1030" dirty="0"/>
          </a:p>
        </p:txBody>
      </p:sp>
      <p:sp>
        <p:nvSpPr>
          <p:cNvPr id="8" name="Text 6"/>
          <p:cNvSpPr txBox="1"/>
          <p:nvPr/>
        </p:nvSpPr>
        <p:spPr>
          <a:xfrm>
            <a:off x="914400" y="3200400"/>
            <a:ext cx="4846320" cy="777240"/>
          </a:xfrm>
          <a:prstGeom prst="rect">
            <a:avLst/>
          </a:prstGeom>
          <a:noFill/>
          <a:ln/>
        </p:spPr>
        <p:txBody>
          <a:bodyPr wrap="square" lIns="0" tIns="0" rIns="0" bIns="0" rtlCol="0" anchor="ctr"/>
          <a:lstStyle/>
          <a:p>
            <a:pPr indent="0" marL="0">
              <a:lnSpc>
                <a:spcPct val="122000"/>
              </a:lnSpc>
              <a:buNone/>
            </a:pPr>
            <a:r>
              <a:rPr lang="en-US" sz="1030" dirty="0">
                <a:solidFill>
                  <a:srgbClr val="9A9A9A"/>
                </a:solidFill>
                <a:latin typeface="Calibri" pitchFamily="34" charset="0"/>
                <a:ea typeface="Calibri" pitchFamily="34" charset="-122"/>
                <a:cs typeface="Calibri" pitchFamily="34" charset="-120"/>
              </a:rPr>
              <a:t>📊 Model Dashboard tab — ROC/PR curves, confusion matrix and per-model KPIs, all rendered with Plotly.</a:t>
            </a:r>
            <a:endParaRPr lang="en-US" sz="1030" dirty="0"/>
          </a:p>
        </p:txBody>
      </p:sp>
      <p:sp>
        <p:nvSpPr>
          <p:cNvPr id="9" name="Text 7"/>
          <p:cNvSpPr txBox="1"/>
          <p:nvPr/>
        </p:nvSpPr>
        <p:spPr>
          <a:xfrm>
            <a:off x="914400" y="4069080"/>
            <a:ext cx="4846320" cy="777240"/>
          </a:xfrm>
          <a:prstGeom prst="rect">
            <a:avLst/>
          </a:prstGeom>
          <a:noFill/>
          <a:ln/>
        </p:spPr>
        <p:txBody>
          <a:bodyPr wrap="square" lIns="0" tIns="0" rIns="0" bIns="0" rtlCol="0" anchor="ctr"/>
          <a:lstStyle/>
          <a:p>
            <a:pPr indent="0" marL="0">
              <a:lnSpc>
                <a:spcPct val="122000"/>
              </a:lnSpc>
              <a:buNone/>
            </a:pPr>
            <a:r>
              <a:rPr lang="en-US" sz="1030" dirty="0">
                <a:solidFill>
                  <a:srgbClr val="9A9A9A"/>
                </a:solidFill>
                <a:latin typeface="Calibri" pitchFamily="34" charset="0"/>
                <a:ea typeface="Calibri" pitchFamily="34" charset="-122"/>
                <a:cs typeface="Calibri" pitchFamily="34" charset="-120"/>
              </a:rPr>
              <a:t>Hand-built CSS: black background, red = fraud, green = legit, blue = accent — cached model loading via @st.cache_resource.</a:t>
            </a:r>
            <a:endParaRPr lang="en-US" sz="1030" dirty="0"/>
          </a:p>
        </p:txBody>
      </p:sp>
      <p:sp>
        <p:nvSpPr>
          <p:cNvPr id="10" name="Shape 8"/>
          <p:cNvSpPr/>
          <p:nvPr/>
        </p:nvSpPr>
        <p:spPr>
          <a:xfrm>
            <a:off x="914400" y="5074920"/>
            <a:ext cx="4846320" cy="914"/>
          </a:xfrm>
          <a:prstGeom prst="line">
            <a:avLst/>
          </a:prstGeom>
          <a:noFill/>
          <a:ln w="12700">
            <a:solidFill>
              <a:srgbClr val="2A2A2A"/>
            </a:solidFill>
            <a:prstDash val="solid"/>
          </a:ln>
        </p:spPr>
      </p:sp>
      <p:sp>
        <p:nvSpPr>
          <p:cNvPr id="11" name="Text 9"/>
          <p:cNvSpPr txBox="1"/>
          <p:nvPr/>
        </p:nvSpPr>
        <p:spPr>
          <a:xfrm>
            <a:off x="914400" y="5212080"/>
            <a:ext cx="4937760" cy="457200"/>
          </a:xfrm>
          <a:prstGeom prst="rect">
            <a:avLst/>
          </a:prstGeom>
          <a:noFill/>
          <a:ln/>
        </p:spPr>
        <p:txBody>
          <a:bodyPr wrap="square" lIns="0" tIns="0" rIns="0" bIns="0" rtlCol="0" anchor="ctr"/>
          <a:lstStyle/>
          <a:p>
            <a:pPr indent="0" marL="0">
              <a:lnSpc>
                <a:spcPct val="120000"/>
              </a:lnSpc>
              <a:buNone/>
            </a:pPr>
            <a:r>
              <a:rPr lang="en-US" sz="1000" b="1" dirty="0">
                <a:solidFill>
                  <a:srgbClr val="3B82F6"/>
                </a:solidFill>
                <a:latin typeface="Courier New" pitchFamily="34" charset="0"/>
                <a:ea typeface="Courier New" pitchFamily="34" charset="-122"/>
                <a:cs typeface="Courier New" pitchFamily="34" charset="-120"/>
              </a:rPr>
              <a:t>Live: credit-card-fraudd-detection.streamlit.app</a:t>
            </a:r>
            <a:endParaRPr lang="en-US" sz="1000" dirty="0"/>
          </a:p>
        </p:txBody>
      </p:sp>
      <p:sp>
        <p:nvSpPr>
          <p:cNvPr id="12" name="Shape 10"/>
          <p:cNvSpPr/>
          <p:nvPr/>
        </p:nvSpPr>
        <p:spPr>
          <a:xfrm>
            <a:off x="6199632" y="1463040"/>
            <a:ext cx="5349240" cy="4754880"/>
          </a:xfrm>
          <a:prstGeom prst="roundRect">
            <a:avLst>
              <a:gd name="adj" fmla="val 1731"/>
            </a:avLst>
          </a:prstGeom>
          <a:solidFill>
            <a:srgbClr val="141414"/>
          </a:solidFill>
          <a:ln w="15875">
            <a:solidFill>
              <a:srgbClr val="10B981"/>
            </a:solidFill>
            <a:prstDash val="solid"/>
          </a:ln>
        </p:spPr>
      </p:sp>
      <p:sp>
        <p:nvSpPr>
          <p:cNvPr id="13" name="Text 11"/>
          <p:cNvSpPr txBox="1"/>
          <p:nvPr/>
        </p:nvSpPr>
        <p:spPr>
          <a:xfrm>
            <a:off x="6473952" y="1645920"/>
            <a:ext cx="4846320" cy="274320"/>
          </a:xfrm>
          <a:prstGeom prst="rect">
            <a:avLst/>
          </a:prstGeom>
          <a:noFill/>
          <a:ln/>
        </p:spPr>
        <p:txBody>
          <a:bodyPr wrap="square" lIns="0" tIns="0" rIns="0" bIns="0" rtlCol="0" anchor="ctr"/>
          <a:lstStyle/>
          <a:p>
            <a:pPr indent="0" marL="0">
              <a:buNone/>
            </a:pPr>
            <a:r>
              <a:rPr lang="en-US" sz="1100" b="1" spc="100" kern="0" dirty="0">
                <a:solidFill>
                  <a:srgbClr val="10B981"/>
                </a:solidFill>
                <a:latin typeface="Calibri" pitchFamily="34" charset="0"/>
                <a:ea typeface="Calibri" pitchFamily="34" charset="-122"/>
                <a:cs typeface="Calibri" pitchFamily="34" charset="-120"/>
              </a:rPr>
              <a:t>FASTAPI'S BUILT-IN DASHBOARD</a:t>
            </a:r>
            <a:endParaRPr lang="en-US" sz="1100" dirty="0"/>
          </a:p>
        </p:txBody>
      </p:sp>
      <p:sp>
        <p:nvSpPr>
          <p:cNvPr id="14" name="Text 12"/>
          <p:cNvSpPr txBox="1"/>
          <p:nvPr/>
        </p:nvSpPr>
        <p:spPr>
          <a:xfrm>
            <a:off x="6473952" y="1920240"/>
            <a:ext cx="4846320" cy="256032"/>
          </a:xfrm>
          <a:prstGeom prst="rect">
            <a:avLst/>
          </a:prstGeom>
          <a:noFill/>
          <a:ln/>
        </p:spPr>
        <p:txBody>
          <a:bodyPr wrap="square" lIns="0" tIns="0" rIns="0" bIns="0" rtlCol="0" anchor="ctr"/>
          <a:lstStyle/>
          <a:p>
            <a:pPr indent="0" marL="0">
              <a:buNone/>
            </a:pPr>
            <a:r>
              <a:rPr lang="en-US" sz="1000" dirty="0">
                <a:solidFill>
                  <a:srgbClr val="6B6B6B"/>
                </a:solidFill>
                <a:latin typeface="Courier New" pitchFamily="34" charset="0"/>
                <a:ea typeface="Courier New" pitchFamily="34" charset="-122"/>
                <a:cs typeface="Courier New" pitchFamily="34" charset="-120"/>
              </a:rPr>
              <a:t>app/api.py — served at GET /</a:t>
            </a:r>
            <a:endParaRPr lang="en-US" sz="1000" dirty="0"/>
          </a:p>
        </p:txBody>
      </p:sp>
      <p:sp>
        <p:nvSpPr>
          <p:cNvPr id="15" name="Text 13"/>
          <p:cNvSpPr txBox="1"/>
          <p:nvPr/>
        </p:nvSpPr>
        <p:spPr>
          <a:xfrm>
            <a:off x="6473952" y="2331720"/>
            <a:ext cx="4846320" cy="822960"/>
          </a:xfrm>
          <a:prstGeom prst="rect">
            <a:avLst/>
          </a:prstGeom>
          <a:noFill/>
          <a:ln/>
        </p:spPr>
        <p:txBody>
          <a:bodyPr wrap="square" lIns="0" tIns="0" rIns="0" bIns="0" rtlCol="0" anchor="ctr"/>
          <a:lstStyle/>
          <a:p>
            <a:pPr indent="0" marL="0">
              <a:lnSpc>
                <a:spcPct val="122000"/>
              </a:lnSpc>
              <a:buNone/>
            </a:pPr>
            <a:r>
              <a:rPr lang="en-US" sz="1030" dirty="0">
                <a:solidFill>
                  <a:srgbClr val="9A9A9A"/>
                </a:solidFill>
                <a:latin typeface="Calibri" pitchFamily="34" charset="0"/>
                <a:ea typeface="Calibri" pitchFamily="34" charset="-122"/>
                <a:cs typeface="Calibri" pitchFamily="34" charset="-120"/>
              </a:rPr>
              <a:t>Same two-tab layout, same colors, same SHAP cards — rebuilt from scratch in vanilla HTML/CSS/JS + Plotly.js, no React or Streamlit runtime needed.</a:t>
            </a:r>
            <a:endParaRPr lang="en-US" sz="1030" dirty="0"/>
          </a:p>
        </p:txBody>
      </p:sp>
      <p:sp>
        <p:nvSpPr>
          <p:cNvPr id="16" name="Text 14"/>
          <p:cNvSpPr txBox="1"/>
          <p:nvPr/>
        </p:nvSpPr>
        <p:spPr>
          <a:xfrm>
            <a:off x="6473952" y="3227832"/>
            <a:ext cx="4846320" cy="822960"/>
          </a:xfrm>
          <a:prstGeom prst="rect">
            <a:avLst/>
          </a:prstGeom>
          <a:noFill/>
          <a:ln/>
        </p:spPr>
        <p:txBody>
          <a:bodyPr wrap="square" lIns="0" tIns="0" rIns="0" bIns="0" rtlCol="0" anchor="ctr"/>
          <a:lstStyle/>
          <a:p>
            <a:pPr indent="0" marL="0">
              <a:lnSpc>
                <a:spcPct val="122000"/>
              </a:lnSpc>
              <a:buNone/>
            </a:pPr>
            <a:r>
              <a:rPr lang="en-US" sz="1030" dirty="0">
                <a:solidFill>
                  <a:srgbClr val="9A9A9A"/>
                </a:solidFill>
                <a:latin typeface="Calibri" pitchFamily="34" charset="0"/>
                <a:ea typeface="Calibri" pitchFamily="34" charset="-122"/>
                <a:cs typeface="Calibri" pitchFamily="34" charset="-120"/>
              </a:rPr>
              <a:t>🎲 Random transaction / 🚨 Random fraud / ✅ Random legit buttons call /random and /predict live via fetch() — a full working demo from one static page.</a:t>
            </a:r>
            <a:endParaRPr lang="en-US" sz="1030" dirty="0"/>
          </a:p>
        </p:txBody>
      </p:sp>
      <p:sp>
        <p:nvSpPr>
          <p:cNvPr id="17" name="Text 15"/>
          <p:cNvSpPr txBox="1"/>
          <p:nvPr/>
        </p:nvSpPr>
        <p:spPr>
          <a:xfrm>
            <a:off x="6473952" y="4123944"/>
            <a:ext cx="4846320" cy="822960"/>
          </a:xfrm>
          <a:prstGeom prst="rect">
            <a:avLst/>
          </a:prstGeom>
          <a:noFill/>
          <a:ln/>
        </p:spPr>
        <p:txBody>
          <a:bodyPr wrap="square" lIns="0" tIns="0" rIns="0" bIns="0" rtlCol="0" anchor="ctr"/>
          <a:lstStyle/>
          <a:p>
            <a:pPr indent="0" marL="0">
              <a:lnSpc>
                <a:spcPct val="122000"/>
              </a:lnSpc>
              <a:buNone/>
            </a:pPr>
            <a:r>
              <a:rPr lang="en-US" sz="1030" dirty="0">
                <a:solidFill>
                  <a:srgbClr val="9A9A9A"/>
                </a:solidFill>
                <a:latin typeface="Calibri" pitchFamily="34" charset="0"/>
                <a:ea typeface="Calibri" pitchFamily="34" charset="-122"/>
                <a:cs typeface="Calibri" pitchFamily="34" charset="-120"/>
              </a:rPr>
              <a:t>Proves the model works even for someone who only has the raw API URL — no separate frontend deploy required.</a:t>
            </a:r>
            <a:endParaRPr lang="en-US" sz="1030" dirty="0"/>
          </a:p>
        </p:txBody>
      </p:sp>
      <p:sp>
        <p:nvSpPr>
          <p:cNvPr id="18" name="Shape 16"/>
          <p:cNvSpPr/>
          <p:nvPr/>
        </p:nvSpPr>
        <p:spPr>
          <a:xfrm>
            <a:off x="6473952" y="5074920"/>
            <a:ext cx="4846320" cy="914"/>
          </a:xfrm>
          <a:prstGeom prst="line">
            <a:avLst/>
          </a:prstGeom>
          <a:noFill/>
          <a:ln w="12700">
            <a:solidFill>
              <a:srgbClr val="2A2A2A"/>
            </a:solidFill>
            <a:prstDash val="solid"/>
          </a:ln>
        </p:spPr>
      </p:sp>
      <p:sp>
        <p:nvSpPr>
          <p:cNvPr id="19" name="Text 17"/>
          <p:cNvSpPr txBox="1"/>
          <p:nvPr/>
        </p:nvSpPr>
        <p:spPr>
          <a:xfrm>
            <a:off x="6473952" y="5212080"/>
            <a:ext cx="4937760" cy="457200"/>
          </a:xfrm>
          <a:prstGeom prst="rect">
            <a:avLst/>
          </a:prstGeom>
          <a:noFill/>
          <a:ln/>
        </p:spPr>
        <p:txBody>
          <a:bodyPr wrap="square" lIns="0" tIns="0" rIns="0" bIns="0" rtlCol="0" anchor="ctr"/>
          <a:lstStyle/>
          <a:p>
            <a:pPr indent="0" marL="0">
              <a:lnSpc>
                <a:spcPct val="120000"/>
              </a:lnSpc>
              <a:buNone/>
            </a:pPr>
            <a:r>
              <a:rPr lang="en-US" sz="1000" b="1" dirty="0">
                <a:solidFill>
                  <a:srgbClr val="10B981"/>
                </a:solidFill>
                <a:latin typeface="Courier New" pitchFamily="34" charset="0"/>
                <a:ea typeface="Courier New" pitchFamily="34" charset="-122"/>
                <a:cs typeface="Courier New" pitchFamily="34" charset="-120"/>
              </a:rPr>
              <a:t>Live: creditcard-qro9.onrender.com</a:t>
            </a:r>
            <a:endParaRPr lang="en-US" sz="1000" dirty="0"/>
          </a:p>
        </p:txBody>
      </p:sp>
      <p:sp>
        <p:nvSpPr>
          <p:cNvPr id="20" name="Text 18"/>
          <p:cNvSpPr txBox="1"/>
          <p:nvPr/>
        </p:nvSpPr>
        <p:spPr>
          <a:xfrm>
            <a:off x="457200" y="6528816"/>
            <a:ext cx="5486400" cy="274320"/>
          </a:xfrm>
          <a:prstGeom prst="rect">
            <a:avLst/>
          </a:prstGeom>
          <a:noFill/>
          <a:ln/>
        </p:spPr>
        <p:txBody>
          <a:bodyPr wrap="square" lIns="0" tIns="0" rIns="0" bIns="0" rtlCol="0" anchor="ctr"/>
          <a:lstStyle/>
          <a:p>
            <a:pPr indent="0" marL="0">
              <a:buNone/>
            </a:pPr>
            <a:r>
              <a:rPr lang="en-US" sz="800" spc="200" kern="0" dirty="0">
                <a:solidFill>
                  <a:srgbClr val="6B6B6B"/>
                </a:solidFill>
                <a:latin typeface="Calibri" pitchFamily="34" charset="0"/>
                <a:ea typeface="Calibri" pitchFamily="34" charset="-122"/>
                <a:cs typeface="Calibri" pitchFamily="34" charset="-120"/>
              </a:rPr>
              <a:t>CREDIT CARD FRAUD DETECTION</a:t>
            </a:r>
            <a:endParaRPr lang="en-US" sz="800" dirty="0"/>
          </a:p>
        </p:txBody>
      </p:sp>
      <p:sp>
        <p:nvSpPr>
          <p:cNvPr id="21" name="Text 19"/>
          <p:cNvSpPr txBox="1"/>
          <p:nvPr/>
        </p:nvSpPr>
        <p:spPr>
          <a:xfrm>
            <a:off x="11274552" y="6528816"/>
            <a:ext cx="548640" cy="274320"/>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50" b="1" spc="220" kern="0" dirty="0">
                <a:solidFill>
                  <a:srgbClr val="F59E0B"/>
                </a:solidFill>
                <a:latin typeface="Calibri" pitchFamily="34" charset="0"/>
                <a:ea typeface="Calibri" pitchFamily="34" charset="-122"/>
                <a:cs typeface="Calibri" pitchFamily="34" charset="-120"/>
              </a:rPr>
              <a:t>11 · RELIABILITY</a:t>
            </a:r>
            <a:endParaRPr lang="en-US" sz="1250" dirty="0"/>
          </a:p>
        </p:txBody>
      </p:sp>
      <p:sp>
        <p:nvSpPr>
          <p:cNvPr id="3" name="Text 1"/>
          <p:cNvSpPr txBox="1"/>
          <p:nvPr/>
        </p:nvSpPr>
        <p:spPr>
          <a:xfrm>
            <a:off x="640080" y="676656"/>
            <a:ext cx="9875520" cy="685800"/>
          </a:xfrm>
          <a:prstGeom prst="rect">
            <a:avLst/>
          </a:prstGeom>
          <a:noFill/>
          <a:ln/>
        </p:spPr>
        <p:txBody>
          <a:bodyPr wrap="square" lIns="0" tIns="0" rIns="0" bIns="0" rtlCol="0" anchor="ctr"/>
          <a:lstStyle/>
          <a:p>
            <a:pPr indent="0" marL="0">
              <a:buNone/>
            </a:pPr>
            <a:r>
              <a:rPr lang="en-US" sz="3000" b="1" dirty="0">
                <a:solidFill>
                  <a:srgbClr val="F5F5F5"/>
                </a:solidFill>
                <a:latin typeface="Cambria" pitchFamily="34" charset="0"/>
                <a:ea typeface="Cambria" pitchFamily="34" charset="-122"/>
                <a:cs typeface="Cambria" pitchFamily="34" charset="-120"/>
              </a:rPr>
              <a:t>Testing &amp; Deployment Reliability</a:t>
            </a:r>
            <a:endParaRPr lang="en-US" sz="3000" dirty="0"/>
          </a:p>
        </p:txBody>
      </p:sp>
      <p:sp>
        <p:nvSpPr>
          <p:cNvPr id="4" name="Shape 2"/>
          <p:cNvSpPr/>
          <p:nvPr/>
        </p:nvSpPr>
        <p:spPr>
          <a:xfrm>
            <a:off x="640080" y="1463040"/>
            <a:ext cx="5349240" cy="4754880"/>
          </a:xfrm>
          <a:prstGeom prst="roundRect">
            <a:avLst>
              <a:gd name="adj" fmla="val 1731"/>
            </a:avLst>
          </a:prstGeom>
          <a:solidFill>
            <a:srgbClr val="0D0D12"/>
          </a:solidFill>
          <a:ln w="12700">
            <a:solidFill>
              <a:srgbClr val="2A2A2A"/>
            </a:solidFill>
            <a:prstDash val="solid"/>
          </a:ln>
        </p:spPr>
      </p:sp>
      <p:sp>
        <p:nvSpPr>
          <p:cNvPr id="5" name="Text 3"/>
          <p:cNvSpPr txBox="1"/>
          <p:nvPr/>
        </p:nvSpPr>
        <p:spPr>
          <a:xfrm>
            <a:off x="914400" y="1627632"/>
            <a:ext cx="4846320" cy="274320"/>
          </a:xfrm>
          <a:prstGeom prst="rect">
            <a:avLst/>
          </a:prstGeom>
          <a:noFill/>
          <a:ln/>
        </p:spPr>
        <p:txBody>
          <a:bodyPr wrap="square" lIns="0" tIns="0" rIns="0" bIns="0" rtlCol="0" anchor="ctr"/>
          <a:lstStyle/>
          <a:p>
            <a:pPr indent="0" marL="0">
              <a:buNone/>
            </a:pPr>
            <a:r>
              <a:rPr lang="en-US" sz="1100" b="1" dirty="0">
                <a:solidFill>
                  <a:srgbClr val="F5F5F5"/>
                </a:solidFill>
                <a:latin typeface="Calibri" pitchFamily="34" charset="0"/>
                <a:ea typeface="Calibri" pitchFamily="34" charset="-122"/>
                <a:cs typeface="Calibri" pitchFamily="34" charset="-120"/>
              </a:rPr>
              <a:t>src/smoke_test.py — end-to-end check</a:t>
            </a:r>
            <a:endParaRPr lang="en-US" sz="1100" dirty="0"/>
          </a:p>
        </p:txBody>
      </p:sp>
      <p:sp>
        <p:nvSpPr>
          <p:cNvPr id="6" name="Shape 4"/>
          <p:cNvSpPr/>
          <p:nvPr/>
        </p:nvSpPr>
        <p:spPr>
          <a:xfrm>
            <a:off x="1051560" y="2093976"/>
            <a:ext cx="91440" cy="91440"/>
          </a:xfrm>
          <a:prstGeom prst="ellipse">
            <a:avLst/>
          </a:prstGeom>
          <a:solidFill>
            <a:srgbClr val="F59E0B"/>
          </a:solidFill>
          <a:ln/>
        </p:spPr>
      </p:sp>
      <p:sp>
        <p:nvSpPr>
          <p:cNvPr id="7" name="Text 5"/>
          <p:cNvSpPr txBox="1"/>
          <p:nvPr/>
        </p:nvSpPr>
        <p:spPr>
          <a:xfrm>
            <a:off x="1280160" y="2011680"/>
            <a:ext cx="4526280" cy="713232"/>
          </a:xfrm>
          <a:prstGeom prst="rect">
            <a:avLst/>
          </a:prstGeom>
          <a:noFill/>
          <a:ln/>
        </p:spPr>
        <p:txBody>
          <a:bodyPr wrap="square" lIns="0" tIns="0" rIns="0" bIns="0" rtlCol="0" anchor="ctr"/>
          <a:lstStyle/>
          <a:p>
            <a:pPr indent="0" marL="0">
              <a:lnSpc>
                <a:spcPct val="120000"/>
              </a:lnSpc>
              <a:buNone/>
            </a:pPr>
            <a:r>
              <a:rPr lang="en-US" sz="1000" dirty="0">
                <a:solidFill>
                  <a:srgbClr val="9A9A9A"/>
                </a:solidFill>
                <a:latin typeface="Calibri" pitchFamily="34" charset="0"/>
                <a:ea typeface="Calibri" pitchFamily="34" charset="-122"/>
                <a:cs typeface="Calibri" pitchFamily="34" charset="-120"/>
              </a:rPr>
              <a:t>Threshold sanity — asserts 0 &lt; config threshold &lt; 1 (a threshold ≥ 1.0 would silently classify nothing as fraud, ever).</a:t>
            </a:r>
            <a:endParaRPr lang="en-US" sz="1000" dirty="0"/>
          </a:p>
        </p:txBody>
      </p:sp>
      <p:sp>
        <p:nvSpPr>
          <p:cNvPr id="8" name="Shape 6"/>
          <p:cNvSpPr/>
          <p:nvPr/>
        </p:nvSpPr>
        <p:spPr>
          <a:xfrm>
            <a:off x="1051560" y="2871216"/>
            <a:ext cx="91440" cy="91440"/>
          </a:xfrm>
          <a:prstGeom prst="ellipse">
            <a:avLst/>
          </a:prstGeom>
          <a:solidFill>
            <a:srgbClr val="F59E0B"/>
          </a:solidFill>
          <a:ln/>
        </p:spPr>
      </p:sp>
      <p:sp>
        <p:nvSpPr>
          <p:cNvPr id="9" name="Text 7"/>
          <p:cNvSpPr txBox="1"/>
          <p:nvPr/>
        </p:nvSpPr>
        <p:spPr>
          <a:xfrm>
            <a:off x="1280160" y="2788920"/>
            <a:ext cx="4526280" cy="713232"/>
          </a:xfrm>
          <a:prstGeom prst="rect">
            <a:avLst/>
          </a:prstGeom>
          <a:noFill/>
          <a:ln/>
        </p:spPr>
        <p:txBody>
          <a:bodyPr wrap="square" lIns="0" tIns="0" rIns="0" bIns="0" rtlCol="0" anchor="ctr"/>
          <a:lstStyle/>
          <a:p>
            <a:pPr indent="0" marL="0">
              <a:lnSpc>
                <a:spcPct val="120000"/>
              </a:lnSpc>
              <a:buNone/>
            </a:pPr>
            <a:r>
              <a:rPr lang="en-US" sz="1000" dirty="0">
                <a:solidFill>
                  <a:srgbClr val="9A9A9A"/>
                </a:solidFill>
                <a:latin typeface="Calibri" pitchFamily="34" charset="0"/>
                <a:ea typeface="Calibri" pitchFamily="34" charset="-122"/>
                <a:cs typeface="Calibri" pitchFamily="34" charset="-120"/>
              </a:rPr>
              <a:t>Reproduces the exact train/test split (same random_state) to pull real, known fraud and legit rows.</a:t>
            </a:r>
            <a:endParaRPr lang="en-US" sz="1000" dirty="0"/>
          </a:p>
        </p:txBody>
      </p:sp>
      <p:sp>
        <p:nvSpPr>
          <p:cNvPr id="10" name="Shape 8"/>
          <p:cNvSpPr/>
          <p:nvPr/>
        </p:nvSpPr>
        <p:spPr>
          <a:xfrm>
            <a:off x="1051560" y="3648456"/>
            <a:ext cx="91440" cy="91440"/>
          </a:xfrm>
          <a:prstGeom prst="ellipse">
            <a:avLst/>
          </a:prstGeom>
          <a:solidFill>
            <a:srgbClr val="F59E0B"/>
          </a:solidFill>
          <a:ln/>
        </p:spPr>
      </p:sp>
      <p:sp>
        <p:nvSpPr>
          <p:cNvPr id="11" name="Text 9"/>
          <p:cNvSpPr txBox="1"/>
          <p:nvPr/>
        </p:nvSpPr>
        <p:spPr>
          <a:xfrm>
            <a:off x="1280160" y="3566160"/>
            <a:ext cx="4526280" cy="713232"/>
          </a:xfrm>
          <a:prstGeom prst="rect">
            <a:avLst/>
          </a:prstGeom>
          <a:noFill/>
          <a:ln/>
        </p:spPr>
        <p:txBody>
          <a:bodyPr wrap="square" lIns="0" tIns="0" rIns="0" bIns="0" rtlCol="0" anchor="ctr"/>
          <a:lstStyle/>
          <a:p>
            <a:pPr indent="0" marL="0">
              <a:lnSpc>
                <a:spcPct val="120000"/>
              </a:lnSpc>
              <a:buNone/>
            </a:pPr>
            <a:r>
              <a:rPr lang="en-US" sz="1000" dirty="0">
                <a:solidFill>
                  <a:srgbClr val="9A9A9A"/>
                </a:solidFill>
                <a:latin typeface="Calibri" pitchFamily="34" charset="0"/>
                <a:ea typeface="Calibri" pitchFamily="34" charset="-122"/>
                <a:cs typeface="Calibri" pitchFamily="34" charset="-120"/>
              </a:rPr>
              <a:t>Scores 5 known-fraud + 3 known-legit rows through the full predictor and checks at least one fraud is actually flagged.</a:t>
            </a:r>
            <a:endParaRPr lang="en-US" sz="1000" dirty="0"/>
          </a:p>
        </p:txBody>
      </p:sp>
      <p:sp>
        <p:nvSpPr>
          <p:cNvPr id="12" name="Shape 10"/>
          <p:cNvSpPr/>
          <p:nvPr/>
        </p:nvSpPr>
        <p:spPr>
          <a:xfrm>
            <a:off x="1051560" y="4425696"/>
            <a:ext cx="91440" cy="91440"/>
          </a:xfrm>
          <a:prstGeom prst="ellipse">
            <a:avLst/>
          </a:prstGeom>
          <a:solidFill>
            <a:srgbClr val="F59E0B"/>
          </a:solidFill>
          <a:ln/>
        </p:spPr>
      </p:sp>
      <p:sp>
        <p:nvSpPr>
          <p:cNvPr id="13" name="Text 11"/>
          <p:cNvSpPr txBox="1"/>
          <p:nvPr/>
        </p:nvSpPr>
        <p:spPr>
          <a:xfrm>
            <a:off x="1280160" y="4343400"/>
            <a:ext cx="4526280" cy="713232"/>
          </a:xfrm>
          <a:prstGeom prst="rect">
            <a:avLst/>
          </a:prstGeom>
          <a:noFill/>
          <a:ln/>
        </p:spPr>
        <p:txBody>
          <a:bodyPr wrap="square" lIns="0" tIns="0" rIns="0" bIns="0" rtlCol="0" anchor="ctr"/>
          <a:lstStyle/>
          <a:p>
            <a:pPr indent="0" marL="0">
              <a:lnSpc>
                <a:spcPct val="120000"/>
              </a:lnSpc>
              <a:buNone/>
            </a:pPr>
            <a:r>
              <a:rPr lang="en-US" sz="1000" dirty="0">
                <a:solidFill>
                  <a:srgbClr val="9A9A9A"/>
                </a:solidFill>
                <a:latin typeface="Calibri" pitchFamily="34" charset="0"/>
                <a:ea typeface="Calibri" pitchFamily="34" charset="-122"/>
                <a:cs typeface="Calibri" pitchFamily="34" charset="-120"/>
              </a:rPr>
              <a:t>Validates every SHAP top-3 entry has a real feature name and a valid ↑/↓ direction.</a:t>
            </a:r>
            <a:endParaRPr lang="en-US" sz="1000" dirty="0"/>
          </a:p>
        </p:txBody>
      </p:sp>
      <p:sp>
        <p:nvSpPr>
          <p:cNvPr id="14" name="Shape 12"/>
          <p:cNvSpPr/>
          <p:nvPr/>
        </p:nvSpPr>
        <p:spPr>
          <a:xfrm>
            <a:off x="1051560" y="5202936"/>
            <a:ext cx="91440" cy="91440"/>
          </a:xfrm>
          <a:prstGeom prst="ellipse">
            <a:avLst/>
          </a:prstGeom>
          <a:solidFill>
            <a:srgbClr val="F59E0B"/>
          </a:solidFill>
          <a:ln/>
        </p:spPr>
      </p:sp>
      <p:sp>
        <p:nvSpPr>
          <p:cNvPr id="15" name="Text 13"/>
          <p:cNvSpPr txBox="1"/>
          <p:nvPr/>
        </p:nvSpPr>
        <p:spPr>
          <a:xfrm>
            <a:off x="1280160" y="5120640"/>
            <a:ext cx="4526280" cy="713232"/>
          </a:xfrm>
          <a:prstGeom prst="rect">
            <a:avLst/>
          </a:prstGeom>
          <a:noFill/>
          <a:ln/>
        </p:spPr>
        <p:txBody>
          <a:bodyPr wrap="square" lIns="0" tIns="0" rIns="0" bIns="0" rtlCol="0" anchor="ctr"/>
          <a:lstStyle/>
          <a:p>
            <a:pPr indent="0" marL="0">
              <a:lnSpc>
                <a:spcPct val="120000"/>
              </a:lnSpc>
              <a:buNone/>
            </a:pPr>
            <a:r>
              <a:rPr lang="en-US" sz="1000" dirty="0">
                <a:solidFill>
                  <a:srgbClr val="9A9A9A"/>
                </a:solidFill>
                <a:latin typeface="Calibri" pitchFamily="34" charset="0"/>
                <a:ea typeface="Calibri" pitchFamily="34" charset="-122"/>
                <a:cs typeface="Calibri" pitchFamily="34" charset="-120"/>
              </a:rPr>
              <a:t>Confirms predictor.threshold exactly matches config.json — catches the kind of silent mismatch a dashboard-vs-inference threshold bug could cause.</a:t>
            </a:r>
            <a:endParaRPr lang="en-US" sz="1000" dirty="0"/>
          </a:p>
        </p:txBody>
      </p:sp>
      <p:sp>
        <p:nvSpPr>
          <p:cNvPr id="16" name="Shape 14"/>
          <p:cNvSpPr/>
          <p:nvPr/>
        </p:nvSpPr>
        <p:spPr>
          <a:xfrm>
            <a:off x="6199632" y="1463040"/>
            <a:ext cx="5349240" cy="2148840"/>
          </a:xfrm>
          <a:prstGeom prst="roundRect">
            <a:avLst>
              <a:gd name="adj" fmla="val 3830"/>
            </a:avLst>
          </a:prstGeom>
          <a:solidFill>
            <a:srgbClr val="141414"/>
          </a:solidFill>
          <a:ln w="12700">
            <a:solidFill>
              <a:srgbClr val="2A2A2A"/>
            </a:solidFill>
            <a:prstDash val="solid"/>
          </a:ln>
        </p:spPr>
      </p:sp>
      <p:sp>
        <p:nvSpPr>
          <p:cNvPr id="17" name="Text 15"/>
          <p:cNvSpPr txBox="1"/>
          <p:nvPr/>
        </p:nvSpPr>
        <p:spPr>
          <a:xfrm>
            <a:off x="6473952" y="1627632"/>
            <a:ext cx="4846320" cy="274320"/>
          </a:xfrm>
          <a:prstGeom prst="rect">
            <a:avLst/>
          </a:prstGeom>
          <a:noFill/>
          <a:ln/>
        </p:spPr>
        <p:txBody>
          <a:bodyPr wrap="square" lIns="0" tIns="0" rIns="0" bIns="0" rtlCol="0" anchor="ctr"/>
          <a:lstStyle/>
          <a:p>
            <a:pPr indent="0" marL="0">
              <a:buNone/>
            </a:pPr>
            <a:r>
              <a:rPr lang="en-US" sz="1100" b="1" dirty="0">
                <a:solidFill>
                  <a:srgbClr val="F5F5F5"/>
                </a:solidFill>
                <a:latin typeface="Calibri" pitchFamily="34" charset="0"/>
                <a:ea typeface="Calibri" pitchFamily="34" charset="-122"/>
                <a:cs typeface="Calibri" pitchFamily="34" charset="-120"/>
              </a:rPr>
              <a:t>src/export_sample.py</a:t>
            </a:r>
            <a:endParaRPr lang="en-US" sz="1100" dirty="0"/>
          </a:p>
        </p:txBody>
      </p:sp>
      <p:sp>
        <p:nvSpPr>
          <p:cNvPr id="18" name="Text 16"/>
          <p:cNvSpPr txBox="1"/>
          <p:nvPr/>
        </p:nvSpPr>
        <p:spPr>
          <a:xfrm>
            <a:off x="6473952" y="1938528"/>
            <a:ext cx="4937760" cy="1554480"/>
          </a:xfrm>
          <a:prstGeom prst="rect">
            <a:avLst/>
          </a:prstGeom>
          <a:noFill/>
          <a:ln/>
        </p:spPr>
        <p:txBody>
          <a:bodyPr wrap="square" lIns="0" tIns="0" rIns="0" bIns="0" rtlCol="0" anchor="ctr"/>
          <a:lstStyle/>
          <a:p>
            <a:pPr indent="0" marL="0">
              <a:lnSpc>
                <a:spcPct val="125000"/>
              </a:lnSpc>
              <a:buNone/>
            </a:pPr>
            <a:r>
              <a:rPr lang="en-US" sz="1050" dirty="0">
                <a:solidFill>
                  <a:srgbClr val="9A9A9A"/>
                </a:solidFill>
                <a:latin typeface="Calibri" pitchFamily="34" charset="0"/>
                <a:ea typeface="Calibri" pitchFamily="34" charset="-122"/>
                <a:cs typeface="Calibri" pitchFamily="34" charset="-120"/>
              </a:rPr>
              <a:t>Regenerates models/test_sample.csv — 196 balanced rows (98 fraud + 98 legit from the real test split) — in under a second, without re-running the full training pipeline. This is what powers every "random transaction" button in both dashboards.</a:t>
            </a:r>
            <a:endParaRPr lang="en-US" sz="1050" dirty="0"/>
          </a:p>
        </p:txBody>
      </p:sp>
      <p:sp>
        <p:nvSpPr>
          <p:cNvPr id="19" name="Shape 17"/>
          <p:cNvSpPr/>
          <p:nvPr/>
        </p:nvSpPr>
        <p:spPr>
          <a:xfrm>
            <a:off x="6199632" y="3794760"/>
            <a:ext cx="5349240" cy="2423160"/>
          </a:xfrm>
          <a:prstGeom prst="roundRect">
            <a:avLst>
              <a:gd name="adj" fmla="val 3396"/>
            </a:avLst>
          </a:prstGeom>
          <a:solidFill>
            <a:srgbClr val="0A140F"/>
          </a:solidFill>
          <a:ln w="12700">
            <a:solidFill>
              <a:srgbClr val="1E4A2E"/>
            </a:solidFill>
            <a:prstDash val="solid"/>
          </a:ln>
        </p:spPr>
      </p:sp>
      <p:sp>
        <p:nvSpPr>
          <p:cNvPr id="20" name="Text 18"/>
          <p:cNvSpPr txBox="1"/>
          <p:nvPr/>
        </p:nvSpPr>
        <p:spPr>
          <a:xfrm>
            <a:off x="6473952" y="3959352"/>
            <a:ext cx="4846320" cy="274320"/>
          </a:xfrm>
          <a:prstGeom prst="rect">
            <a:avLst/>
          </a:prstGeom>
          <a:noFill/>
          <a:ln/>
        </p:spPr>
        <p:txBody>
          <a:bodyPr wrap="square" lIns="0" tIns="0" rIns="0" bIns="0" rtlCol="0" anchor="ctr"/>
          <a:lstStyle/>
          <a:p>
            <a:pPr indent="0" marL="0">
              <a:buNone/>
            </a:pPr>
            <a:r>
              <a:rPr lang="en-US" sz="1000" b="1" spc="80" kern="0" dirty="0">
                <a:solidFill>
                  <a:srgbClr val="10B981"/>
                </a:solidFill>
                <a:latin typeface="Calibri" pitchFamily="34" charset="0"/>
                <a:ea typeface="Calibri" pitchFamily="34" charset="-122"/>
                <a:cs typeface="Calibri" pitchFamily="34" charset="-120"/>
              </a:rPr>
              <a:t>DEPLOYMENT FIX — PYTHON VERSION PINNING</a:t>
            </a:r>
            <a:endParaRPr lang="en-US" sz="1000" dirty="0"/>
          </a:p>
        </p:txBody>
      </p:sp>
      <p:sp>
        <p:nvSpPr>
          <p:cNvPr id="21" name="Text 19"/>
          <p:cNvSpPr txBox="1"/>
          <p:nvPr/>
        </p:nvSpPr>
        <p:spPr>
          <a:xfrm>
            <a:off x="6473952" y="4251960"/>
            <a:ext cx="4937760" cy="1783080"/>
          </a:xfrm>
          <a:prstGeom prst="rect">
            <a:avLst/>
          </a:prstGeom>
          <a:noFill/>
          <a:ln/>
        </p:spPr>
        <p:txBody>
          <a:bodyPr wrap="square" lIns="0" tIns="0" rIns="0" bIns="0" rtlCol="0" anchor="ctr"/>
          <a:lstStyle/>
          <a:p>
            <a:pPr indent="0" marL="0">
              <a:lnSpc>
                <a:spcPct val="122000"/>
              </a:lnSpc>
              <a:buNone/>
            </a:pPr>
            <a:r>
              <a:rPr lang="en-US" sz="1000" dirty="0">
                <a:solidFill>
                  <a:srgbClr val="B5E5C9"/>
                </a:solidFill>
                <a:latin typeface="Calibri" pitchFamily="34" charset="0"/>
                <a:ea typeface="Calibri" pitchFamily="34" charset="-122"/>
                <a:cs typeface="Calibri" pitchFamily="34" charset="-120"/>
              </a:rPr>
              <a:t>Streamlit Cloud's first deploy failed — it defaulted to Python 3.14, and Pillow's old pinned version had no prebuilt wheel for it, so pip tried (and failed) to compile it from source. Fixed by explicitly pinning the runtime (render.yaml's PYTHON_VERSION and Dockerfile's python:3.11-slim base) so every dependency installs from a prebuilt wheel — no compilation, no surprises.</a:t>
            </a:r>
            <a:endParaRPr lang="en-US" sz="1000" dirty="0"/>
          </a:p>
        </p:txBody>
      </p:sp>
      <p:sp>
        <p:nvSpPr>
          <p:cNvPr id="22" name="Text 20"/>
          <p:cNvSpPr txBox="1"/>
          <p:nvPr/>
        </p:nvSpPr>
        <p:spPr>
          <a:xfrm>
            <a:off x="457200" y="6528816"/>
            <a:ext cx="5486400" cy="274320"/>
          </a:xfrm>
          <a:prstGeom prst="rect">
            <a:avLst/>
          </a:prstGeom>
          <a:noFill/>
          <a:ln/>
        </p:spPr>
        <p:txBody>
          <a:bodyPr wrap="square" lIns="0" tIns="0" rIns="0" bIns="0" rtlCol="0" anchor="ctr"/>
          <a:lstStyle/>
          <a:p>
            <a:pPr indent="0" marL="0">
              <a:buNone/>
            </a:pPr>
            <a:r>
              <a:rPr lang="en-US" sz="800" spc="200" kern="0" dirty="0">
                <a:solidFill>
                  <a:srgbClr val="6B6B6B"/>
                </a:solidFill>
                <a:latin typeface="Calibri" pitchFamily="34" charset="0"/>
                <a:ea typeface="Calibri" pitchFamily="34" charset="-122"/>
                <a:cs typeface="Calibri" pitchFamily="34" charset="-120"/>
              </a:rPr>
              <a:t>CREDIT CARD FRAUD DETECTION</a:t>
            </a:r>
            <a:endParaRPr lang="en-US" sz="800" dirty="0"/>
          </a:p>
        </p:txBody>
      </p:sp>
      <p:sp>
        <p:nvSpPr>
          <p:cNvPr id="23" name="Text 21"/>
          <p:cNvSpPr txBox="1"/>
          <p:nvPr/>
        </p:nvSpPr>
        <p:spPr>
          <a:xfrm>
            <a:off x="11274552" y="6528816"/>
            <a:ext cx="548640" cy="274320"/>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50" b="1" spc="220" kern="0" dirty="0">
                <a:solidFill>
                  <a:srgbClr val="10B981"/>
                </a:solidFill>
                <a:latin typeface="Calibri" pitchFamily="34" charset="0"/>
                <a:ea typeface="Calibri" pitchFamily="34" charset="-122"/>
                <a:cs typeface="Calibri" pitchFamily="34" charset="-120"/>
              </a:rPr>
              <a:t>12 · IMPACT</a:t>
            </a:r>
            <a:endParaRPr lang="en-US" sz="1250" dirty="0"/>
          </a:p>
        </p:txBody>
      </p:sp>
      <p:sp>
        <p:nvSpPr>
          <p:cNvPr id="3" name="Text 1"/>
          <p:cNvSpPr txBox="1"/>
          <p:nvPr/>
        </p:nvSpPr>
        <p:spPr>
          <a:xfrm>
            <a:off x="640080" y="676656"/>
            <a:ext cx="9875520" cy="685800"/>
          </a:xfrm>
          <a:prstGeom prst="rect">
            <a:avLst/>
          </a:prstGeom>
          <a:noFill/>
          <a:ln/>
        </p:spPr>
        <p:txBody>
          <a:bodyPr wrap="square" lIns="0" tIns="0" rIns="0" bIns="0" rtlCol="0" anchor="ctr"/>
          <a:lstStyle/>
          <a:p>
            <a:pPr indent="0" marL="0">
              <a:buNone/>
            </a:pPr>
            <a:r>
              <a:rPr lang="en-US" sz="3000" b="1" dirty="0">
                <a:solidFill>
                  <a:srgbClr val="F5F5F5"/>
                </a:solidFill>
                <a:latin typeface="Cambria" pitchFamily="34" charset="0"/>
                <a:ea typeface="Cambria" pitchFamily="34" charset="-122"/>
                <a:cs typeface="Cambria" pitchFamily="34" charset="-120"/>
              </a:rPr>
              <a:t>Benefits</a:t>
            </a:r>
            <a:endParaRPr lang="en-US" sz="3000" dirty="0"/>
          </a:p>
        </p:txBody>
      </p:sp>
      <p:sp>
        <p:nvSpPr>
          <p:cNvPr id="4" name="Shape 2"/>
          <p:cNvSpPr/>
          <p:nvPr/>
        </p:nvSpPr>
        <p:spPr>
          <a:xfrm>
            <a:off x="640080" y="1554480"/>
            <a:ext cx="3502152" cy="2148840"/>
          </a:xfrm>
          <a:prstGeom prst="roundRect">
            <a:avLst>
              <a:gd name="adj" fmla="val 3830"/>
            </a:avLst>
          </a:prstGeom>
          <a:solidFill>
            <a:srgbClr val="141414"/>
          </a:solidFill>
          <a:ln w="12700">
            <a:solidFill>
              <a:srgbClr val="2A2A2A"/>
            </a:solidFill>
            <a:prstDash val="solid"/>
          </a:ln>
        </p:spPr>
      </p:sp>
      <p:sp>
        <p:nvSpPr>
          <p:cNvPr id="5" name="Shape 3"/>
          <p:cNvSpPr/>
          <p:nvPr/>
        </p:nvSpPr>
        <p:spPr>
          <a:xfrm>
            <a:off x="868680" y="1783080"/>
            <a:ext cx="274320" cy="274320"/>
          </a:xfrm>
          <a:prstGeom prst="ellipse">
            <a:avLst/>
          </a:prstGeom>
          <a:solidFill>
            <a:srgbClr val="10B981"/>
          </a:solidFill>
          <a:ln/>
        </p:spPr>
      </p:sp>
      <p:sp>
        <p:nvSpPr>
          <p:cNvPr id="6" name="Text 4"/>
          <p:cNvSpPr txBox="1"/>
          <p:nvPr/>
        </p:nvSpPr>
        <p:spPr>
          <a:xfrm>
            <a:off x="914400" y="2148840"/>
            <a:ext cx="2953512" cy="457200"/>
          </a:xfrm>
          <a:prstGeom prst="rect">
            <a:avLst/>
          </a:prstGeom>
          <a:noFill/>
          <a:ln/>
        </p:spPr>
        <p:txBody>
          <a:bodyPr wrap="square" lIns="0" tIns="0" rIns="0" bIns="0" rtlCol="0" anchor="ctr"/>
          <a:lstStyle/>
          <a:p>
            <a:pPr indent="0" marL="0">
              <a:buNone/>
            </a:pPr>
            <a:r>
              <a:rPr lang="en-US" sz="1300" b="1" dirty="0">
                <a:solidFill>
                  <a:srgbClr val="F5F5F5"/>
                </a:solidFill>
                <a:latin typeface="Calibri" pitchFamily="34" charset="0"/>
                <a:ea typeface="Calibri" pitchFamily="34" charset="-122"/>
                <a:cs typeface="Calibri" pitchFamily="34" charset="-120"/>
              </a:rPr>
              <a:t>Loss Prevention</a:t>
            </a:r>
            <a:endParaRPr lang="en-US" sz="1300" dirty="0"/>
          </a:p>
        </p:txBody>
      </p:sp>
      <p:sp>
        <p:nvSpPr>
          <p:cNvPr id="7" name="Text 5"/>
          <p:cNvSpPr txBox="1"/>
          <p:nvPr/>
        </p:nvSpPr>
        <p:spPr>
          <a:xfrm>
            <a:off x="914400" y="2606040"/>
            <a:ext cx="2953512" cy="960120"/>
          </a:xfrm>
          <a:prstGeom prst="rect">
            <a:avLst/>
          </a:prstGeom>
          <a:noFill/>
          <a:ln/>
        </p:spPr>
        <p:txBody>
          <a:bodyPr wrap="square" lIns="0" tIns="0" rIns="0" bIns="0" rtlCol="0" anchor="ctr"/>
          <a:lstStyle/>
          <a:p>
            <a:pPr indent="0" marL="0">
              <a:lnSpc>
                <a:spcPct val="120000"/>
              </a:lnSpc>
              <a:buNone/>
            </a:pPr>
            <a:r>
              <a:rPr lang="en-US" sz="980" dirty="0">
                <a:solidFill>
                  <a:srgbClr val="9A9A9A"/>
                </a:solidFill>
                <a:latin typeface="Calibri" pitchFamily="34" charset="0"/>
                <a:ea typeface="Calibri" pitchFamily="34" charset="-122"/>
                <a:cs typeface="Calibri" pitchFamily="34" charset="-120"/>
              </a:rPr>
              <a:t>F1-optimal Random Forest model (0.854) catches far more real fraud than a naive rule-based or accuracy-driven baseline ever could.</a:t>
            </a:r>
            <a:endParaRPr lang="en-US" sz="980" dirty="0"/>
          </a:p>
        </p:txBody>
      </p:sp>
      <p:sp>
        <p:nvSpPr>
          <p:cNvPr id="8" name="Shape 6"/>
          <p:cNvSpPr/>
          <p:nvPr/>
        </p:nvSpPr>
        <p:spPr>
          <a:xfrm>
            <a:off x="4343400" y="1554480"/>
            <a:ext cx="3502152" cy="2148840"/>
          </a:xfrm>
          <a:prstGeom prst="roundRect">
            <a:avLst>
              <a:gd name="adj" fmla="val 3830"/>
            </a:avLst>
          </a:prstGeom>
          <a:solidFill>
            <a:srgbClr val="141414"/>
          </a:solidFill>
          <a:ln w="12700">
            <a:solidFill>
              <a:srgbClr val="2A2A2A"/>
            </a:solidFill>
            <a:prstDash val="solid"/>
          </a:ln>
        </p:spPr>
      </p:sp>
      <p:sp>
        <p:nvSpPr>
          <p:cNvPr id="9" name="Shape 7"/>
          <p:cNvSpPr/>
          <p:nvPr/>
        </p:nvSpPr>
        <p:spPr>
          <a:xfrm>
            <a:off x="4572000" y="1783080"/>
            <a:ext cx="274320" cy="274320"/>
          </a:xfrm>
          <a:prstGeom prst="ellipse">
            <a:avLst/>
          </a:prstGeom>
          <a:solidFill>
            <a:srgbClr val="3B82F6"/>
          </a:solidFill>
          <a:ln/>
        </p:spPr>
      </p:sp>
      <p:sp>
        <p:nvSpPr>
          <p:cNvPr id="10" name="Text 8"/>
          <p:cNvSpPr txBox="1"/>
          <p:nvPr/>
        </p:nvSpPr>
        <p:spPr>
          <a:xfrm>
            <a:off x="4617720" y="2148840"/>
            <a:ext cx="2953512" cy="457200"/>
          </a:xfrm>
          <a:prstGeom prst="rect">
            <a:avLst/>
          </a:prstGeom>
          <a:noFill/>
          <a:ln/>
        </p:spPr>
        <p:txBody>
          <a:bodyPr wrap="square" lIns="0" tIns="0" rIns="0" bIns="0" rtlCol="0" anchor="ctr"/>
          <a:lstStyle/>
          <a:p>
            <a:pPr indent="0" marL="0">
              <a:buNone/>
            </a:pPr>
            <a:r>
              <a:rPr lang="en-US" sz="1300" b="1" dirty="0">
                <a:solidFill>
                  <a:srgbClr val="F5F5F5"/>
                </a:solidFill>
                <a:latin typeface="Calibri" pitchFamily="34" charset="0"/>
                <a:ea typeface="Calibri" pitchFamily="34" charset="-122"/>
                <a:cs typeface="Calibri" pitchFamily="34" charset="-120"/>
              </a:rPr>
              <a:t>Statistically Honest Metrics</a:t>
            </a:r>
            <a:endParaRPr lang="en-US" sz="1300" dirty="0"/>
          </a:p>
        </p:txBody>
      </p:sp>
      <p:sp>
        <p:nvSpPr>
          <p:cNvPr id="11" name="Text 9"/>
          <p:cNvSpPr txBox="1"/>
          <p:nvPr/>
        </p:nvSpPr>
        <p:spPr>
          <a:xfrm>
            <a:off x="4617720" y="2606040"/>
            <a:ext cx="2953512" cy="960120"/>
          </a:xfrm>
          <a:prstGeom prst="rect">
            <a:avLst/>
          </a:prstGeom>
          <a:noFill/>
          <a:ln/>
        </p:spPr>
        <p:txBody>
          <a:bodyPr wrap="square" lIns="0" tIns="0" rIns="0" bIns="0" rtlCol="0" anchor="ctr"/>
          <a:lstStyle/>
          <a:p>
            <a:pPr indent="0" marL="0">
              <a:lnSpc>
                <a:spcPct val="120000"/>
              </a:lnSpc>
              <a:buNone/>
            </a:pPr>
            <a:r>
              <a:rPr lang="en-US" sz="980" dirty="0">
                <a:solidFill>
                  <a:srgbClr val="9A9A9A"/>
                </a:solidFill>
                <a:latin typeface="Calibri" pitchFamily="34" charset="0"/>
                <a:ea typeface="Calibri" pitchFamily="34" charset="-122"/>
                <a:cs typeface="Calibri" pitchFamily="34" charset="-120"/>
              </a:rPr>
              <a:t>Leak-free split → scale → SMOTE design means reported performance will hold up in production, not just on paper.</a:t>
            </a:r>
            <a:endParaRPr lang="en-US" sz="980" dirty="0"/>
          </a:p>
        </p:txBody>
      </p:sp>
      <p:sp>
        <p:nvSpPr>
          <p:cNvPr id="12" name="Shape 10"/>
          <p:cNvSpPr/>
          <p:nvPr/>
        </p:nvSpPr>
        <p:spPr>
          <a:xfrm>
            <a:off x="8046720" y="1554480"/>
            <a:ext cx="3502152" cy="2148840"/>
          </a:xfrm>
          <a:prstGeom prst="roundRect">
            <a:avLst>
              <a:gd name="adj" fmla="val 3830"/>
            </a:avLst>
          </a:prstGeom>
          <a:solidFill>
            <a:srgbClr val="141414"/>
          </a:solidFill>
          <a:ln w="12700">
            <a:solidFill>
              <a:srgbClr val="2A2A2A"/>
            </a:solidFill>
            <a:prstDash val="solid"/>
          </a:ln>
        </p:spPr>
      </p:sp>
      <p:sp>
        <p:nvSpPr>
          <p:cNvPr id="13" name="Shape 11"/>
          <p:cNvSpPr/>
          <p:nvPr/>
        </p:nvSpPr>
        <p:spPr>
          <a:xfrm>
            <a:off x="8275320" y="1783080"/>
            <a:ext cx="274320" cy="274320"/>
          </a:xfrm>
          <a:prstGeom prst="ellipse">
            <a:avLst/>
          </a:prstGeom>
          <a:solidFill>
            <a:srgbClr val="7C3AED"/>
          </a:solidFill>
          <a:ln/>
        </p:spPr>
      </p:sp>
      <p:sp>
        <p:nvSpPr>
          <p:cNvPr id="14" name="Text 12"/>
          <p:cNvSpPr txBox="1"/>
          <p:nvPr/>
        </p:nvSpPr>
        <p:spPr>
          <a:xfrm>
            <a:off x="8321040" y="2148840"/>
            <a:ext cx="2953512" cy="457200"/>
          </a:xfrm>
          <a:prstGeom prst="rect">
            <a:avLst/>
          </a:prstGeom>
          <a:noFill/>
          <a:ln/>
        </p:spPr>
        <p:txBody>
          <a:bodyPr wrap="square" lIns="0" tIns="0" rIns="0" bIns="0" rtlCol="0" anchor="ctr"/>
          <a:lstStyle/>
          <a:p>
            <a:pPr indent="0" marL="0">
              <a:buNone/>
            </a:pPr>
            <a:r>
              <a:rPr lang="en-US" sz="1300" b="1" dirty="0">
                <a:solidFill>
                  <a:srgbClr val="F5F5F5"/>
                </a:solidFill>
                <a:latin typeface="Calibri" pitchFamily="34" charset="0"/>
                <a:ea typeface="Calibri" pitchFamily="34" charset="-122"/>
                <a:cs typeface="Calibri" pitchFamily="34" charset="-120"/>
              </a:rPr>
              <a:t>Explainable Decisions</a:t>
            </a:r>
            <a:endParaRPr lang="en-US" sz="1300" dirty="0"/>
          </a:p>
        </p:txBody>
      </p:sp>
      <p:sp>
        <p:nvSpPr>
          <p:cNvPr id="15" name="Text 13"/>
          <p:cNvSpPr txBox="1"/>
          <p:nvPr/>
        </p:nvSpPr>
        <p:spPr>
          <a:xfrm>
            <a:off x="8321040" y="2606040"/>
            <a:ext cx="2953512" cy="960120"/>
          </a:xfrm>
          <a:prstGeom prst="rect">
            <a:avLst/>
          </a:prstGeom>
          <a:noFill/>
          <a:ln/>
        </p:spPr>
        <p:txBody>
          <a:bodyPr wrap="square" lIns="0" tIns="0" rIns="0" bIns="0" rtlCol="0" anchor="ctr"/>
          <a:lstStyle/>
          <a:p>
            <a:pPr indent="0" marL="0">
              <a:lnSpc>
                <a:spcPct val="120000"/>
              </a:lnSpc>
              <a:buNone/>
            </a:pPr>
            <a:r>
              <a:rPr lang="en-US" sz="980" dirty="0">
                <a:solidFill>
                  <a:srgbClr val="9A9A9A"/>
                </a:solidFill>
                <a:latin typeface="Calibri" pitchFamily="34" charset="0"/>
                <a:ea typeface="Calibri" pitchFamily="34" charset="-122"/>
                <a:cs typeface="Calibri" pitchFamily="34" charset="-120"/>
              </a:rPr>
              <a:t>SHAP-backed reasoning lets fraud analysts and auditors see why a transaction was flagged, supporting compliance.</a:t>
            </a:r>
            <a:endParaRPr lang="en-US" sz="980" dirty="0"/>
          </a:p>
        </p:txBody>
      </p:sp>
      <p:sp>
        <p:nvSpPr>
          <p:cNvPr id="16" name="Shape 14"/>
          <p:cNvSpPr/>
          <p:nvPr/>
        </p:nvSpPr>
        <p:spPr>
          <a:xfrm>
            <a:off x="640080" y="3959352"/>
            <a:ext cx="3502152" cy="2148840"/>
          </a:xfrm>
          <a:prstGeom prst="roundRect">
            <a:avLst>
              <a:gd name="adj" fmla="val 3830"/>
            </a:avLst>
          </a:prstGeom>
          <a:solidFill>
            <a:srgbClr val="141414"/>
          </a:solidFill>
          <a:ln w="12700">
            <a:solidFill>
              <a:srgbClr val="2A2A2A"/>
            </a:solidFill>
            <a:prstDash val="solid"/>
          </a:ln>
        </p:spPr>
      </p:sp>
      <p:sp>
        <p:nvSpPr>
          <p:cNvPr id="17" name="Shape 15"/>
          <p:cNvSpPr/>
          <p:nvPr/>
        </p:nvSpPr>
        <p:spPr>
          <a:xfrm>
            <a:off x="868680" y="4187952"/>
            <a:ext cx="274320" cy="274320"/>
          </a:xfrm>
          <a:prstGeom prst="ellipse">
            <a:avLst/>
          </a:prstGeom>
          <a:solidFill>
            <a:srgbClr val="F59E0B"/>
          </a:solidFill>
          <a:ln/>
        </p:spPr>
      </p:sp>
      <p:sp>
        <p:nvSpPr>
          <p:cNvPr id="18" name="Text 16"/>
          <p:cNvSpPr txBox="1"/>
          <p:nvPr/>
        </p:nvSpPr>
        <p:spPr>
          <a:xfrm>
            <a:off x="914400" y="4553712"/>
            <a:ext cx="2953512" cy="457200"/>
          </a:xfrm>
          <a:prstGeom prst="rect">
            <a:avLst/>
          </a:prstGeom>
          <a:noFill/>
          <a:ln/>
        </p:spPr>
        <p:txBody>
          <a:bodyPr wrap="square" lIns="0" tIns="0" rIns="0" bIns="0" rtlCol="0" anchor="ctr"/>
          <a:lstStyle/>
          <a:p>
            <a:pPr indent="0" marL="0">
              <a:buNone/>
            </a:pPr>
            <a:r>
              <a:rPr lang="en-US" sz="1300" b="1" dirty="0">
                <a:solidFill>
                  <a:srgbClr val="F5F5F5"/>
                </a:solidFill>
                <a:latin typeface="Calibri" pitchFamily="34" charset="0"/>
                <a:ea typeface="Calibri" pitchFamily="34" charset="-122"/>
                <a:cs typeface="Calibri" pitchFamily="34" charset="-120"/>
              </a:rPr>
              <a:t>Tunable Risk Appetite</a:t>
            </a:r>
            <a:endParaRPr lang="en-US" sz="1300" dirty="0"/>
          </a:p>
        </p:txBody>
      </p:sp>
      <p:sp>
        <p:nvSpPr>
          <p:cNvPr id="19" name="Text 17"/>
          <p:cNvSpPr txBox="1"/>
          <p:nvPr/>
        </p:nvSpPr>
        <p:spPr>
          <a:xfrm>
            <a:off x="914400" y="5010912"/>
            <a:ext cx="2953512" cy="960120"/>
          </a:xfrm>
          <a:prstGeom prst="rect">
            <a:avLst/>
          </a:prstGeom>
          <a:noFill/>
          <a:ln/>
        </p:spPr>
        <p:txBody>
          <a:bodyPr wrap="square" lIns="0" tIns="0" rIns="0" bIns="0" rtlCol="0" anchor="ctr"/>
          <a:lstStyle/>
          <a:p>
            <a:pPr indent="0" marL="0">
              <a:lnSpc>
                <a:spcPct val="120000"/>
              </a:lnSpc>
              <a:buNone/>
            </a:pPr>
            <a:r>
              <a:rPr lang="en-US" sz="980" dirty="0">
                <a:solidFill>
                  <a:srgbClr val="9A9A9A"/>
                </a:solidFill>
                <a:latin typeface="Calibri" pitchFamily="34" charset="0"/>
                <a:ea typeface="Calibri" pitchFamily="34" charset="-122"/>
                <a:cs typeface="Calibri" pitchFamily="34" charset="-120"/>
              </a:rPr>
              <a:t>The F1-optimal threshold can be shifted toward recall or precision depending on business risk tolerance.</a:t>
            </a:r>
            <a:endParaRPr lang="en-US" sz="980" dirty="0"/>
          </a:p>
        </p:txBody>
      </p:sp>
      <p:sp>
        <p:nvSpPr>
          <p:cNvPr id="20" name="Shape 18"/>
          <p:cNvSpPr/>
          <p:nvPr/>
        </p:nvSpPr>
        <p:spPr>
          <a:xfrm>
            <a:off x="4343400" y="3959352"/>
            <a:ext cx="3502152" cy="2148840"/>
          </a:xfrm>
          <a:prstGeom prst="roundRect">
            <a:avLst>
              <a:gd name="adj" fmla="val 3830"/>
            </a:avLst>
          </a:prstGeom>
          <a:solidFill>
            <a:srgbClr val="141414"/>
          </a:solidFill>
          <a:ln w="12700">
            <a:solidFill>
              <a:srgbClr val="2A2A2A"/>
            </a:solidFill>
            <a:prstDash val="solid"/>
          </a:ln>
        </p:spPr>
      </p:sp>
      <p:sp>
        <p:nvSpPr>
          <p:cNvPr id="21" name="Shape 19"/>
          <p:cNvSpPr/>
          <p:nvPr/>
        </p:nvSpPr>
        <p:spPr>
          <a:xfrm>
            <a:off x="4572000" y="4187952"/>
            <a:ext cx="274320" cy="274320"/>
          </a:xfrm>
          <a:prstGeom prst="ellipse">
            <a:avLst/>
          </a:prstGeom>
          <a:solidFill>
            <a:srgbClr val="EF4444"/>
          </a:solidFill>
          <a:ln/>
        </p:spPr>
      </p:sp>
      <p:sp>
        <p:nvSpPr>
          <p:cNvPr id="22" name="Text 20"/>
          <p:cNvSpPr txBox="1"/>
          <p:nvPr/>
        </p:nvSpPr>
        <p:spPr>
          <a:xfrm>
            <a:off x="4617720" y="4553712"/>
            <a:ext cx="2953512" cy="457200"/>
          </a:xfrm>
          <a:prstGeom prst="rect">
            <a:avLst/>
          </a:prstGeom>
          <a:noFill/>
          <a:ln/>
        </p:spPr>
        <p:txBody>
          <a:bodyPr wrap="square" lIns="0" tIns="0" rIns="0" bIns="0" rtlCol="0" anchor="ctr"/>
          <a:lstStyle/>
          <a:p>
            <a:pPr indent="0" marL="0">
              <a:buNone/>
            </a:pPr>
            <a:r>
              <a:rPr lang="en-US" sz="1300" b="1" dirty="0">
                <a:solidFill>
                  <a:srgbClr val="F5F5F5"/>
                </a:solidFill>
                <a:latin typeface="Calibri" pitchFamily="34" charset="0"/>
                <a:ea typeface="Calibri" pitchFamily="34" charset="-122"/>
                <a:cs typeface="Calibri" pitchFamily="34" charset="-120"/>
              </a:rPr>
              <a:t>Ready to Deploy</a:t>
            </a:r>
            <a:endParaRPr lang="en-US" sz="1300" dirty="0"/>
          </a:p>
        </p:txBody>
      </p:sp>
      <p:sp>
        <p:nvSpPr>
          <p:cNvPr id="23" name="Text 21"/>
          <p:cNvSpPr txBox="1"/>
          <p:nvPr/>
        </p:nvSpPr>
        <p:spPr>
          <a:xfrm>
            <a:off x="4617720" y="5010912"/>
            <a:ext cx="2953512" cy="960120"/>
          </a:xfrm>
          <a:prstGeom prst="rect">
            <a:avLst/>
          </a:prstGeom>
          <a:noFill/>
          <a:ln/>
        </p:spPr>
        <p:txBody>
          <a:bodyPr wrap="square" lIns="0" tIns="0" rIns="0" bIns="0" rtlCol="0" anchor="ctr"/>
          <a:lstStyle/>
          <a:p>
            <a:pPr indent="0" marL="0">
              <a:lnSpc>
                <a:spcPct val="120000"/>
              </a:lnSpc>
              <a:buNone/>
            </a:pPr>
            <a:r>
              <a:rPr lang="en-US" sz="980" dirty="0">
                <a:solidFill>
                  <a:srgbClr val="9A9A9A"/>
                </a:solidFill>
                <a:latin typeface="Calibri" pitchFamily="34" charset="0"/>
                <a:ea typeface="Calibri" pitchFamily="34" charset="-122"/>
                <a:cs typeface="Calibri" pitchFamily="34" charset="-120"/>
              </a:rPr>
              <a:t>A working dashboard and inference engine already exist — this isn't just a notebook, it's a usable product.</a:t>
            </a:r>
            <a:endParaRPr lang="en-US" sz="980" dirty="0"/>
          </a:p>
        </p:txBody>
      </p:sp>
      <p:sp>
        <p:nvSpPr>
          <p:cNvPr id="24" name="Shape 22"/>
          <p:cNvSpPr/>
          <p:nvPr/>
        </p:nvSpPr>
        <p:spPr>
          <a:xfrm>
            <a:off x="8046720" y="3959352"/>
            <a:ext cx="3502152" cy="2148840"/>
          </a:xfrm>
          <a:prstGeom prst="roundRect">
            <a:avLst>
              <a:gd name="adj" fmla="val 3830"/>
            </a:avLst>
          </a:prstGeom>
          <a:solidFill>
            <a:srgbClr val="141414"/>
          </a:solidFill>
          <a:ln w="12700">
            <a:solidFill>
              <a:srgbClr val="2A2A2A"/>
            </a:solidFill>
            <a:prstDash val="solid"/>
          </a:ln>
        </p:spPr>
      </p:sp>
      <p:sp>
        <p:nvSpPr>
          <p:cNvPr id="25" name="Shape 23"/>
          <p:cNvSpPr/>
          <p:nvPr/>
        </p:nvSpPr>
        <p:spPr>
          <a:xfrm>
            <a:off x="8275320" y="4187952"/>
            <a:ext cx="274320" cy="274320"/>
          </a:xfrm>
          <a:prstGeom prst="ellipse">
            <a:avLst/>
          </a:prstGeom>
          <a:solidFill>
            <a:srgbClr val="9A9A9A"/>
          </a:solidFill>
          <a:ln/>
        </p:spPr>
      </p:sp>
      <p:sp>
        <p:nvSpPr>
          <p:cNvPr id="26" name="Text 24"/>
          <p:cNvSpPr txBox="1"/>
          <p:nvPr/>
        </p:nvSpPr>
        <p:spPr>
          <a:xfrm>
            <a:off x="8321040" y="4553712"/>
            <a:ext cx="2953512" cy="457200"/>
          </a:xfrm>
          <a:prstGeom prst="rect">
            <a:avLst/>
          </a:prstGeom>
          <a:noFill/>
          <a:ln/>
        </p:spPr>
        <p:txBody>
          <a:bodyPr wrap="square" lIns="0" tIns="0" rIns="0" bIns="0" rtlCol="0" anchor="ctr"/>
          <a:lstStyle/>
          <a:p>
            <a:pPr indent="0" marL="0">
              <a:buNone/>
            </a:pPr>
            <a:r>
              <a:rPr lang="en-US" sz="1300" b="1" dirty="0">
                <a:solidFill>
                  <a:srgbClr val="F5F5F5"/>
                </a:solidFill>
                <a:latin typeface="Calibri" pitchFamily="34" charset="0"/>
                <a:ea typeface="Calibri" pitchFamily="34" charset="-122"/>
                <a:cs typeface="Calibri" pitchFamily="34" charset="-120"/>
              </a:rPr>
              <a:t>Reduced Manual Review</a:t>
            </a:r>
            <a:endParaRPr lang="en-US" sz="1300" dirty="0"/>
          </a:p>
        </p:txBody>
      </p:sp>
      <p:sp>
        <p:nvSpPr>
          <p:cNvPr id="27" name="Text 25"/>
          <p:cNvSpPr txBox="1"/>
          <p:nvPr/>
        </p:nvSpPr>
        <p:spPr>
          <a:xfrm>
            <a:off x="8321040" y="5010912"/>
            <a:ext cx="2953512" cy="960120"/>
          </a:xfrm>
          <a:prstGeom prst="rect">
            <a:avLst/>
          </a:prstGeom>
          <a:noFill/>
          <a:ln/>
        </p:spPr>
        <p:txBody>
          <a:bodyPr wrap="square" lIns="0" tIns="0" rIns="0" bIns="0" rtlCol="0" anchor="ctr"/>
          <a:lstStyle/>
          <a:p>
            <a:pPr indent="0" marL="0">
              <a:lnSpc>
                <a:spcPct val="120000"/>
              </a:lnSpc>
              <a:buNone/>
            </a:pPr>
            <a:r>
              <a:rPr lang="en-US" sz="980" dirty="0">
                <a:solidFill>
                  <a:srgbClr val="9A9A9A"/>
                </a:solidFill>
                <a:latin typeface="Calibri" pitchFamily="34" charset="0"/>
                <a:ea typeface="Calibri" pitchFamily="34" charset="-122"/>
                <a:cs typeface="Calibri" pitchFamily="34" charset="-120"/>
              </a:rPr>
              <a:t>Automated, confidence-scored triage means human analysts focus only on genuinely ambiguous cases.</a:t>
            </a:r>
            <a:endParaRPr lang="en-US" sz="980" dirty="0"/>
          </a:p>
        </p:txBody>
      </p:sp>
      <p:sp>
        <p:nvSpPr>
          <p:cNvPr id="28" name="Text 26"/>
          <p:cNvSpPr txBox="1"/>
          <p:nvPr/>
        </p:nvSpPr>
        <p:spPr>
          <a:xfrm>
            <a:off x="457200" y="6528816"/>
            <a:ext cx="5486400" cy="274320"/>
          </a:xfrm>
          <a:prstGeom prst="rect">
            <a:avLst/>
          </a:prstGeom>
          <a:noFill/>
          <a:ln/>
        </p:spPr>
        <p:txBody>
          <a:bodyPr wrap="square" lIns="0" tIns="0" rIns="0" bIns="0" rtlCol="0" anchor="ctr"/>
          <a:lstStyle/>
          <a:p>
            <a:pPr indent="0" marL="0">
              <a:buNone/>
            </a:pPr>
            <a:r>
              <a:rPr lang="en-US" sz="800" spc="200" kern="0" dirty="0">
                <a:solidFill>
                  <a:srgbClr val="6B6B6B"/>
                </a:solidFill>
                <a:latin typeface="Calibri" pitchFamily="34" charset="0"/>
                <a:ea typeface="Calibri" pitchFamily="34" charset="-122"/>
                <a:cs typeface="Calibri" pitchFamily="34" charset="-120"/>
              </a:rPr>
              <a:t>CREDIT CARD FRAUD DETECTION</a:t>
            </a:r>
            <a:endParaRPr lang="en-US" sz="800" dirty="0"/>
          </a:p>
        </p:txBody>
      </p:sp>
      <p:sp>
        <p:nvSpPr>
          <p:cNvPr id="29" name="Text 27"/>
          <p:cNvSpPr txBox="1"/>
          <p:nvPr/>
        </p:nvSpPr>
        <p:spPr>
          <a:xfrm>
            <a:off x="11274552" y="6528816"/>
            <a:ext cx="548640" cy="274320"/>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50" b="1" spc="220" kern="0" dirty="0">
                <a:solidFill>
                  <a:srgbClr val="3B82F6"/>
                </a:solidFill>
                <a:latin typeface="Calibri" pitchFamily="34" charset="0"/>
                <a:ea typeface="Calibri" pitchFamily="34" charset="-122"/>
                <a:cs typeface="Calibri" pitchFamily="34" charset="-120"/>
              </a:rPr>
              <a:t>13 · WHAT'S NEXT</a:t>
            </a:r>
            <a:endParaRPr lang="en-US" sz="1250" dirty="0"/>
          </a:p>
        </p:txBody>
      </p:sp>
      <p:sp>
        <p:nvSpPr>
          <p:cNvPr id="3" name="Text 1"/>
          <p:cNvSpPr txBox="1"/>
          <p:nvPr/>
        </p:nvSpPr>
        <p:spPr>
          <a:xfrm>
            <a:off x="640080" y="676656"/>
            <a:ext cx="9875520" cy="685800"/>
          </a:xfrm>
          <a:prstGeom prst="rect">
            <a:avLst/>
          </a:prstGeom>
          <a:noFill/>
          <a:ln/>
        </p:spPr>
        <p:txBody>
          <a:bodyPr wrap="square" lIns="0" tIns="0" rIns="0" bIns="0" rtlCol="0" anchor="ctr"/>
          <a:lstStyle/>
          <a:p>
            <a:pPr indent="0" marL="0">
              <a:buNone/>
            </a:pPr>
            <a:r>
              <a:rPr lang="en-US" sz="3000" b="1" dirty="0">
                <a:solidFill>
                  <a:srgbClr val="F5F5F5"/>
                </a:solidFill>
                <a:latin typeface="Cambria" pitchFamily="34" charset="0"/>
                <a:ea typeface="Cambria" pitchFamily="34" charset="-122"/>
                <a:cs typeface="Cambria" pitchFamily="34" charset="-120"/>
              </a:rPr>
              <a:t>Future Scope</a:t>
            </a:r>
            <a:endParaRPr lang="en-US" sz="3000" dirty="0"/>
          </a:p>
        </p:txBody>
      </p:sp>
      <p:sp>
        <p:nvSpPr>
          <p:cNvPr id="4" name="Shape 2"/>
          <p:cNvSpPr/>
          <p:nvPr/>
        </p:nvSpPr>
        <p:spPr>
          <a:xfrm>
            <a:off x="640080" y="1554480"/>
            <a:ext cx="5257800" cy="1417320"/>
          </a:xfrm>
          <a:prstGeom prst="roundRect">
            <a:avLst>
              <a:gd name="adj" fmla="val 5161"/>
            </a:avLst>
          </a:prstGeom>
          <a:solidFill>
            <a:srgbClr val="141414"/>
          </a:solidFill>
          <a:ln w="12700">
            <a:solidFill>
              <a:srgbClr val="2A2A2A"/>
            </a:solidFill>
            <a:prstDash val="solid"/>
          </a:ln>
        </p:spPr>
      </p:sp>
      <p:sp>
        <p:nvSpPr>
          <p:cNvPr id="5" name="Shape 3"/>
          <p:cNvSpPr/>
          <p:nvPr/>
        </p:nvSpPr>
        <p:spPr>
          <a:xfrm>
            <a:off x="640080" y="1554480"/>
            <a:ext cx="64008" cy="1417320"/>
          </a:xfrm>
          <a:prstGeom prst="rect">
            <a:avLst/>
          </a:prstGeom>
          <a:solidFill>
            <a:srgbClr val="EF4444"/>
          </a:solidFill>
          <a:ln/>
        </p:spPr>
      </p:sp>
      <p:sp>
        <p:nvSpPr>
          <p:cNvPr id="6" name="Text 4"/>
          <p:cNvSpPr txBox="1"/>
          <p:nvPr/>
        </p:nvSpPr>
        <p:spPr>
          <a:xfrm>
            <a:off x="914400" y="1682496"/>
            <a:ext cx="4754880" cy="320040"/>
          </a:xfrm>
          <a:prstGeom prst="rect">
            <a:avLst/>
          </a:prstGeom>
          <a:noFill/>
          <a:ln/>
        </p:spPr>
        <p:txBody>
          <a:bodyPr wrap="square" lIns="0" tIns="0" rIns="0" bIns="0" rtlCol="0" anchor="ctr"/>
          <a:lstStyle/>
          <a:p>
            <a:pPr indent="0" marL="0">
              <a:buNone/>
            </a:pPr>
            <a:r>
              <a:rPr lang="en-US" sz="1350" b="1" dirty="0">
                <a:solidFill>
                  <a:srgbClr val="F5F5F5"/>
                </a:solidFill>
                <a:latin typeface="Calibri" pitchFamily="34" charset="0"/>
                <a:ea typeface="Calibri" pitchFamily="34" charset="-122"/>
                <a:cs typeface="Calibri" pitchFamily="34" charset="-120"/>
              </a:rPr>
              <a:t>Real-Time Streaming</a:t>
            </a:r>
            <a:endParaRPr lang="en-US" sz="1350" dirty="0"/>
          </a:p>
        </p:txBody>
      </p:sp>
      <p:sp>
        <p:nvSpPr>
          <p:cNvPr id="7" name="Text 5"/>
          <p:cNvSpPr txBox="1"/>
          <p:nvPr/>
        </p:nvSpPr>
        <p:spPr>
          <a:xfrm>
            <a:off x="914400" y="2011680"/>
            <a:ext cx="4754880" cy="850392"/>
          </a:xfrm>
          <a:prstGeom prst="rect">
            <a:avLst/>
          </a:prstGeom>
          <a:noFill/>
          <a:ln/>
        </p:spPr>
        <p:txBody>
          <a:bodyPr wrap="square" lIns="0" tIns="0" rIns="0" bIns="0" rtlCol="0" anchor="ctr"/>
          <a:lstStyle/>
          <a:p>
            <a:pPr indent="0" marL="0">
              <a:lnSpc>
                <a:spcPct val="120000"/>
              </a:lnSpc>
              <a:buNone/>
            </a:pPr>
            <a:r>
              <a:rPr lang="en-US" sz="1000" dirty="0">
                <a:solidFill>
                  <a:srgbClr val="9A9A9A"/>
                </a:solidFill>
                <a:latin typeface="Calibri" pitchFamily="34" charset="0"/>
                <a:ea typeface="Calibri" pitchFamily="34" charset="-122"/>
                <a:cs typeface="Calibri" pitchFamily="34" charset="-120"/>
              </a:rPr>
              <a:t>Move from batch scoring to a Kafka/Flink pipeline for millisecond-level, at-the-swipe decisions.</a:t>
            </a:r>
            <a:endParaRPr lang="en-US" sz="1000" dirty="0"/>
          </a:p>
        </p:txBody>
      </p:sp>
      <p:sp>
        <p:nvSpPr>
          <p:cNvPr id="8" name="Shape 6"/>
          <p:cNvSpPr/>
          <p:nvPr/>
        </p:nvSpPr>
        <p:spPr>
          <a:xfrm>
            <a:off x="6217920" y="1554480"/>
            <a:ext cx="5257800" cy="1417320"/>
          </a:xfrm>
          <a:prstGeom prst="roundRect">
            <a:avLst>
              <a:gd name="adj" fmla="val 5161"/>
            </a:avLst>
          </a:prstGeom>
          <a:solidFill>
            <a:srgbClr val="141414"/>
          </a:solidFill>
          <a:ln w="12700">
            <a:solidFill>
              <a:srgbClr val="2A2A2A"/>
            </a:solidFill>
            <a:prstDash val="solid"/>
          </a:ln>
        </p:spPr>
      </p:sp>
      <p:sp>
        <p:nvSpPr>
          <p:cNvPr id="9" name="Shape 7"/>
          <p:cNvSpPr/>
          <p:nvPr/>
        </p:nvSpPr>
        <p:spPr>
          <a:xfrm>
            <a:off x="6217920" y="1554480"/>
            <a:ext cx="64008" cy="1417320"/>
          </a:xfrm>
          <a:prstGeom prst="rect">
            <a:avLst/>
          </a:prstGeom>
          <a:solidFill>
            <a:srgbClr val="7C3AED"/>
          </a:solidFill>
          <a:ln/>
        </p:spPr>
      </p:sp>
      <p:sp>
        <p:nvSpPr>
          <p:cNvPr id="10" name="Text 8"/>
          <p:cNvSpPr txBox="1"/>
          <p:nvPr/>
        </p:nvSpPr>
        <p:spPr>
          <a:xfrm>
            <a:off x="6492240" y="1682496"/>
            <a:ext cx="4754880" cy="320040"/>
          </a:xfrm>
          <a:prstGeom prst="rect">
            <a:avLst/>
          </a:prstGeom>
          <a:noFill/>
          <a:ln/>
        </p:spPr>
        <p:txBody>
          <a:bodyPr wrap="square" lIns="0" tIns="0" rIns="0" bIns="0" rtlCol="0" anchor="ctr"/>
          <a:lstStyle/>
          <a:p>
            <a:pPr indent="0" marL="0">
              <a:buNone/>
            </a:pPr>
            <a:r>
              <a:rPr lang="en-US" sz="1350" b="1" dirty="0">
                <a:solidFill>
                  <a:srgbClr val="F5F5F5"/>
                </a:solidFill>
                <a:latin typeface="Calibri" pitchFamily="34" charset="0"/>
                <a:ea typeface="Calibri" pitchFamily="34" charset="-122"/>
                <a:cs typeface="Calibri" pitchFamily="34" charset="-120"/>
              </a:rPr>
              <a:t>Graph &amp; Network Features</a:t>
            </a:r>
            <a:endParaRPr lang="en-US" sz="1350" dirty="0"/>
          </a:p>
        </p:txBody>
      </p:sp>
      <p:sp>
        <p:nvSpPr>
          <p:cNvPr id="11" name="Text 9"/>
          <p:cNvSpPr txBox="1"/>
          <p:nvPr/>
        </p:nvSpPr>
        <p:spPr>
          <a:xfrm>
            <a:off x="6492240" y="2011680"/>
            <a:ext cx="4754880" cy="850392"/>
          </a:xfrm>
          <a:prstGeom prst="rect">
            <a:avLst/>
          </a:prstGeom>
          <a:noFill/>
          <a:ln/>
        </p:spPr>
        <p:txBody>
          <a:bodyPr wrap="square" lIns="0" tIns="0" rIns="0" bIns="0" rtlCol="0" anchor="ctr"/>
          <a:lstStyle/>
          <a:p>
            <a:pPr indent="0" marL="0">
              <a:lnSpc>
                <a:spcPct val="120000"/>
              </a:lnSpc>
              <a:buNone/>
            </a:pPr>
            <a:r>
              <a:rPr lang="en-US" sz="1000" dirty="0">
                <a:solidFill>
                  <a:srgbClr val="9A9A9A"/>
                </a:solidFill>
                <a:latin typeface="Calibri" pitchFamily="34" charset="0"/>
                <a:ea typeface="Calibri" pitchFamily="34" charset="-122"/>
                <a:cs typeface="Calibri" pitchFamily="34" charset="-120"/>
              </a:rPr>
              <a:t>Model relationships between cards, merchants, and devices to catch coordinated fraud rings, not just single transactions.</a:t>
            </a:r>
            <a:endParaRPr lang="en-US" sz="1000" dirty="0"/>
          </a:p>
        </p:txBody>
      </p:sp>
      <p:sp>
        <p:nvSpPr>
          <p:cNvPr id="12" name="Shape 10"/>
          <p:cNvSpPr/>
          <p:nvPr/>
        </p:nvSpPr>
        <p:spPr>
          <a:xfrm>
            <a:off x="640080" y="3227832"/>
            <a:ext cx="5257800" cy="1417320"/>
          </a:xfrm>
          <a:prstGeom prst="roundRect">
            <a:avLst>
              <a:gd name="adj" fmla="val 5161"/>
            </a:avLst>
          </a:prstGeom>
          <a:solidFill>
            <a:srgbClr val="141414"/>
          </a:solidFill>
          <a:ln w="12700">
            <a:solidFill>
              <a:srgbClr val="2A2A2A"/>
            </a:solidFill>
            <a:prstDash val="solid"/>
          </a:ln>
        </p:spPr>
      </p:sp>
      <p:sp>
        <p:nvSpPr>
          <p:cNvPr id="13" name="Shape 11"/>
          <p:cNvSpPr/>
          <p:nvPr/>
        </p:nvSpPr>
        <p:spPr>
          <a:xfrm>
            <a:off x="640080" y="3227832"/>
            <a:ext cx="64008" cy="1417320"/>
          </a:xfrm>
          <a:prstGeom prst="rect">
            <a:avLst/>
          </a:prstGeom>
          <a:solidFill>
            <a:srgbClr val="3B82F6"/>
          </a:solidFill>
          <a:ln/>
        </p:spPr>
      </p:sp>
      <p:sp>
        <p:nvSpPr>
          <p:cNvPr id="14" name="Text 12"/>
          <p:cNvSpPr txBox="1"/>
          <p:nvPr/>
        </p:nvSpPr>
        <p:spPr>
          <a:xfrm>
            <a:off x="914400" y="3355848"/>
            <a:ext cx="4754880" cy="320040"/>
          </a:xfrm>
          <a:prstGeom prst="rect">
            <a:avLst/>
          </a:prstGeom>
          <a:noFill/>
          <a:ln/>
        </p:spPr>
        <p:txBody>
          <a:bodyPr wrap="square" lIns="0" tIns="0" rIns="0" bIns="0" rtlCol="0" anchor="ctr"/>
          <a:lstStyle/>
          <a:p>
            <a:pPr indent="0" marL="0">
              <a:buNone/>
            </a:pPr>
            <a:r>
              <a:rPr lang="en-US" sz="1350" b="1" dirty="0">
                <a:solidFill>
                  <a:srgbClr val="F5F5F5"/>
                </a:solidFill>
                <a:latin typeface="Calibri" pitchFamily="34" charset="0"/>
                <a:ea typeface="Calibri" pitchFamily="34" charset="-122"/>
                <a:cs typeface="Calibri" pitchFamily="34" charset="-120"/>
              </a:rPr>
              <a:t>Deep Sequential Models</a:t>
            </a:r>
            <a:endParaRPr lang="en-US" sz="1350" dirty="0"/>
          </a:p>
        </p:txBody>
      </p:sp>
      <p:sp>
        <p:nvSpPr>
          <p:cNvPr id="15" name="Text 13"/>
          <p:cNvSpPr txBox="1"/>
          <p:nvPr/>
        </p:nvSpPr>
        <p:spPr>
          <a:xfrm>
            <a:off x="914400" y="3685032"/>
            <a:ext cx="4754880" cy="850392"/>
          </a:xfrm>
          <a:prstGeom prst="rect">
            <a:avLst/>
          </a:prstGeom>
          <a:noFill/>
          <a:ln/>
        </p:spPr>
        <p:txBody>
          <a:bodyPr wrap="square" lIns="0" tIns="0" rIns="0" bIns="0" rtlCol="0" anchor="ctr"/>
          <a:lstStyle/>
          <a:p>
            <a:pPr indent="0" marL="0">
              <a:lnSpc>
                <a:spcPct val="120000"/>
              </a:lnSpc>
              <a:buNone/>
            </a:pPr>
            <a:r>
              <a:rPr lang="en-US" sz="1000" dirty="0">
                <a:solidFill>
                  <a:srgbClr val="9A9A9A"/>
                </a:solidFill>
                <a:latin typeface="Calibri" pitchFamily="34" charset="0"/>
                <a:ea typeface="Calibri" pitchFamily="34" charset="-122"/>
                <a:cs typeface="Calibri" pitchFamily="34" charset="-120"/>
              </a:rPr>
              <a:t>Explore LSTMs / Transformers or autoencoders over a cardholder's transaction history for behavioral drift detection.</a:t>
            </a:r>
            <a:endParaRPr lang="en-US" sz="1000" dirty="0"/>
          </a:p>
        </p:txBody>
      </p:sp>
      <p:sp>
        <p:nvSpPr>
          <p:cNvPr id="16" name="Shape 14"/>
          <p:cNvSpPr/>
          <p:nvPr/>
        </p:nvSpPr>
        <p:spPr>
          <a:xfrm>
            <a:off x="6217920" y="3227832"/>
            <a:ext cx="5257800" cy="1417320"/>
          </a:xfrm>
          <a:prstGeom prst="roundRect">
            <a:avLst>
              <a:gd name="adj" fmla="val 5161"/>
            </a:avLst>
          </a:prstGeom>
          <a:solidFill>
            <a:srgbClr val="141414"/>
          </a:solidFill>
          <a:ln w="12700">
            <a:solidFill>
              <a:srgbClr val="2A2A2A"/>
            </a:solidFill>
            <a:prstDash val="solid"/>
          </a:ln>
        </p:spPr>
      </p:sp>
      <p:sp>
        <p:nvSpPr>
          <p:cNvPr id="17" name="Shape 15"/>
          <p:cNvSpPr/>
          <p:nvPr/>
        </p:nvSpPr>
        <p:spPr>
          <a:xfrm>
            <a:off x="6217920" y="3227832"/>
            <a:ext cx="64008" cy="1417320"/>
          </a:xfrm>
          <a:prstGeom prst="rect">
            <a:avLst/>
          </a:prstGeom>
          <a:solidFill>
            <a:srgbClr val="10B981"/>
          </a:solidFill>
          <a:ln/>
        </p:spPr>
      </p:sp>
      <p:sp>
        <p:nvSpPr>
          <p:cNvPr id="18" name="Text 16"/>
          <p:cNvSpPr txBox="1"/>
          <p:nvPr/>
        </p:nvSpPr>
        <p:spPr>
          <a:xfrm>
            <a:off x="6492240" y="3355848"/>
            <a:ext cx="4754880" cy="320040"/>
          </a:xfrm>
          <a:prstGeom prst="rect">
            <a:avLst/>
          </a:prstGeom>
          <a:noFill/>
          <a:ln/>
        </p:spPr>
        <p:txBody>
          <a:bodyPr wrap="square" lIns="0" tIns="0" rIns="0" bIns="0" rtlCol="0" anchor="ctr"/>
          <a:lstStyle/>
          <a:p>
            <a:pPr indent="0" marL="0">
              <a:buNone/>
            </a:pPr>
            <a:r>
              <a:rPr lang="en-US" sz="1350" b="1" dirty="0">
                <a:solidFill>
                  <a:srgbClr val="F5F5F5"/>
                </a:solidFill>
                <a:latin typeface="Calibri" pitchFamily="34" charset="0"/>
                <a:ea typeface="Calibri" pitchFamily="34" charset="-122"/>
                <a:cs typeface="Calibri" pitchFamily="34" charset="-120"/>
              </a:rPr>
              <a:t>Active Learning Loop</a:t>
            </a:r>
            <a:endParaRPr lang="en-US" sz="1350" dirty="0"/>
          </a:p>
        </p:txBody>
      </p:sp>
      <p:sp>
        <p:nvSpPr>
          <p:cNvPr id="19" name="Text 17"/>
          <p:cNvSpPr txBox="1"/>
          <p:nvPr/>
        </p:nvSpPr>
        <p:spPr>
          <a:xfrm>
            <a:off x="6492240" y="3685032"/>
            <a:ext cx="4754880" cy="850392"/>
          </a:xfrm>
          <a:prstGeom prst="rect">
            <a:avLst/>
          </a:prstGeom>
          <a:noFill/>
          <a:ln/>
        </p:spPr>
        <p:txBody>
          <a:bodyPr wrap="square" lIns="0" tIns="0" rIns="0" bIns="0" rtlCol="0" anchor="ctr"/>
          <a:lstStyle/>
          <a:p>
            <a:pPr indent="0" marL="0">
              <a:lnSpc>
                <a:spcPct val="120000"/>
              </a:lnSpc>
              <a:buNone/>
            </a:pPr>
            <a:r>
              <a:rPr lang="en-US" sz="1000" dirty="0">
                <a:solidFill>
                  <a:srgbClr val="9A9A9A"/>
                </a:solidFill>
                <a:latin typeface="Calibri" pitchFamily="34" charset="0"/>
                <a:ea typeface="Calibri" pitchFamily="34" charset="-122"/>
                <a:cs typeface="Calibri" pitchFamily="34" charset="-120"/>
              </a:rPr>
              <a:t>Feed analyst-confirmed verdicts back into periodic retraining so the model adapts to evolving fraud patterns.</a:t>
            </a:r>
            <a:endParaRPr lang="en-US" sz="1000" dirty="0"/>
          </a:p>
        </p:txBody>
      </p:sp>
      <p:sp>
        <p:nvSpPr>
          <p:cNvPr id="20" name="Shape 18"/>
          <p:cNvSpPr/>
          <p:nvPr/>
        </p:nvSpPr>
        <p:spPr>
          <a:xfrm>
            <a:off x="640080" y="4901184"/>
            <a:ext cx="5257800" cy="1417320"/>
          </a:xfrm>
          <a:prstGeom prst="roundRect">
            <a:avLst>
              <a:gd name="adj" fmla="val 5161"/>
            </a:avLst>
          </a:prstGeom>
          <a:solidFill>
            <a:srgbClr val="141414"/>
          </a:solidFill>
          <a:ln w="12700">
            <a:solidFill>
              <a:srgbClr val="2A2A2A"/>
            </a:solidFill>
            <a:prstDash val="solid"/>
          </a:ln>
        </p:spPr>
      </p:sp>
      <p:sp>
        <p:nvSpPr>
          <p:cNvPr id="21" name="Shape 19"/>
          <p:cNvSpPr/>
          <p:nvPr/>
        </p:nvSpPr>
        <p:spPr>
          <a:xfrm>
            <a:off x="640080" y="4901184"/>
            <a:ext cx="64008" cy="1417320"/>
          </a:xfrm>
          <a:prstGeom prst="rect">
            <a:avLst/>
          </a:prstGeom>
          <a:solidFill>
            <a:srgbClr val="F59E0B"/>
          </a:solidFill>
          <a:ln/>
        </p:spPr>
      </p:sp>
      <p:sp>
        <p:nvSpPr>
          <p:cNvPr id="22" name="Text 20"/>
          <p:cNvSpPr txBox="1"/>
          <p:nvPr/>
        </p:nvSpPr>
        <p:spPr>
          <a:xfrm>
            <a:off x="914400" y="5029200"/>
            <a:ext cx="4754880" cy="320040"/>
          </a:xfrm>
          <a:prstGeom prst="rect">
            <a:avLst/>
          </a:prstGeom>
          <a:noFill/>
          <a:ln/>
        </p:spPr>
        <p:txBody>
          <a:bodyPr wrap="square" lIns="0" tIns="0" rIns="0" bIns="0" rtlCol="0" anchor="ctr"/>
          <a:lstStyle/>
          <a:p>
            <a:pPr indent="0" marL="0">
              <a:buNone/>
            </a:pPr>
            <a:r>
              <a:rPr lang="en-US" sz="1350" b="1" dirty="0">
                <a:solidFill>
                  <a:srgbClr val="F5F5F5"/>
                </a:solidFill>
                <a:latin typeface="Calibri" pitchFamily="34" charset="0"/>
                <a:ea typeface="Calibri" pitchFamily="34" charset="-122"/>
                <a:cs typeface="Calibri" pitchFamily="34" charset="-120"/>
              </a:rPr>
              <a:t>Cloud-Native Deployment</a:t>
            </a:r>
            <a:endParaRPr lang="en-US" sz="1350" dirty="0"/>
          </a:p>
        </p:txBody>
      </p:sp>
      <p:sp>
        <p:nvSpPr>
          <p:cNvPr id="23" name="Text 21"/>
          <p:cNvSpPr txBox="1"/>
          <p:nvPr/>
        </p:nvSpPr>
        <p:spPr>
          <a:xfrm>
            <a:off x="914400" y="5358384"/>
            <a:ext cx="4754880" cy="850392"/>
          </a:xfrm>
          <a:prstGeom prst="rect">
            <a:avLst/>
          </a:prstGeom>
          <a:noFill/>
          <a:ln/>
        </p:spPr>
        <p:txBody>
          <a:bodyPr wrap="square" lIns="0" tIns="0" rIns="0" bIns="0" rtlCol="0" anchor="ctr"/>
          <a:lstStyle/>
          <a:p>
            <a:pPr indent="0" marL="0">
              <a:lnSpc>
                <a:spcPct val="120000"/>
              </a:lnSpc>
              <a:buNone/>
            </a:pPr>
            <a:r>
              <a:rPr lang="en-US" sz="1000" dirty="0">
                <a:solidFill>
                  <a:srgbClr val="9A9A9A"/>
                </a:solidFill>
                <a:latin typeface="Calibri" pitchFamily="34" charset="0"/>
                <a:ea typeface="Calibri" pitchFamily="34" charset="-122"/>
                <a:cs typeface="Calibri" pitchFamily="34" charset="-120"/>
              </a:rPr>
              <a:t>Scale the existing FastAPI backend with Kubernetes and autoscaling, plus a proper CI/CD pipeline beyond the current Render setup.</a:t>
            </a:r>
            <a:endParaRPr lang="en-US" sz="1000" dirty="0"/>
          </a:p>
        </p:txBody>
      </p:sp>
      <p:sp>
        <p:nvSpPr>
          <p:cNvPr id="24" name="Shape 22"/>
          <p:cNvSpPr/>
          <p:nvPr/>
        </p:nvSpPr>
        <p:spPr>
          <a:xfrm>
            <a:off x="6217920" y="4901184"/>
            <a:ext cx="5257800" cy="1417320"/>
          </a:xfrm>
          <a:prstGeom prst="roundRect">
            <a:avLst>
              <a:gd name="adj" fmla="val 5161"/>
            </a:avLst>
          </a:prstGeom>
          <a:solidFill>
            <a:srgbClr val="141414"/>
          </a:solidFill>
          <a:ln w="12700">
            <a:solidFill>
              <a:srgbClr val="2A2A2A"/>
            </a:solidFill>
            <a:prstDash val="solid"/>
          </a:ln>
        </p:spPr>
      </p:sp>
      <p:sp>
        <p:nvSpPr>
          <p:cNvPr id="25" name="Shape 23"/>
          <p:cNvSpPr/>
          <p:nvPr/>
        </p:nvSpPr>
        <p:spPr>
          <a:xfrm>
            <a:off x="6217920" y="4901184"/>
            <a:ext cx="64008" cy="1417320"/>
          </a:xfrm>
          <a:prstGeom prst="rect">
            <a:avLst/>
          </a:prstGeom>
          <a:solidFill>
            <a:srgbClr val="EF4444"/>
          </a:solidFill>
          <a:ln/>
        </p:spPr>
      </p:sp>
      <p:sp>
        <p:nvSpPr>
          <p:cNvPr id="26" name="Text 24"/>
          <p:cNvSpPr txBox="1"/>
          <p:nvPr/>
        </p:nvSpPr>
        <p:spPr>
          <a:xfrm>
            <a:off x="6492240" y="5029200"/>
            <a:ext cx="4754880" cy="320040"/>
          </a:xfrm>
          <a:prstGeom prst="rect">
            <a:avLst/>
          </a:prstGeom>
          <a:noFill/>
          <a:ln/>
        </p:spPr>
        <p:txBody>
          <a:bodyPr wrap="square" lIns="0" tIns="0" rIns="0" bIns="0" rtlCol="0" anchor="ctr"/>
          <a:lstStyle/>
          <a:p>
            <a:pPr indent="0" marL="0">
              <a:buNone/>
            </a:pPr>
            <a:r>
              <a:rPr lang="en-US" sz="1350" b="1" dirty="0">
                <a:solidFill>
                  <a:srgbClr val="F5F5F5"/>
                </a:solidFill>
                <a:latin typeface="Calibri" pitchFamily="34" charset="0"/>
                <a:ea typeface="Calibri" pitchFamily="34" charset="-122"/>
                <a:cs typeface="Calibri" pitchFamily="34" charset="-120"/>
              </a:rPr>
              <a:t>Privacy-Preserving Collaboration</a:t>
            </a:r>
            <a:endParaRPr lang="en-US" sz="1350" dirty="0"/>
          </a:p>
        </p:txBody>
      </p:sp>
      <p:sp>
        <p:nvSpPr>
          <p:cNvPr id="27" name="Text 25"/>
          <p:cNvSpPr txBox="1"/>
          <p:nvPr/>
        </p:nvSpPr>
        <p:spPr>
          <a:xfrm>
            <a:off x="6492240" y="5358384"/>
            <a:ext cx="4754880" cy="850392"/>
          </a:xfrm>
          <a:prstGeom prst="rect">
            <a:avLst/>
          </a:prstGeom>
          <a:noFill/>
          <a:ln/>
        </p:spPr>
        <p:txBody>
          <a:bodyPr wrap="square" lIns="0" tIns="0" rIns="0" bIns="0" rtlCol="0" anchor="ctr"/>
          <a:lstStyle/>
          <a:p>
            <a:pPr indent="0" marL="0">
              <a:lnSpc>
                <a:spcPct val="120000"/>
              </a:lnSpc>
              <a:buNone/>
            </a:pPr>
            <a:r>
              <a:rPr lang="en-US" sz="1000" dirty="0">
                <a:solidFill>
                  <a:srgbClr val="9A9A9A"/>
                </a:solidFill>
                <a:latin typeface="Calibri" pitchFamily="34" charset="0"/>
                <a:ea typeface="Calibri" pitchFamily="34" charset="-122"/>
                <a:cs typeface="Calibri" pitchFamily="34" charset="-120"/>
              </a:rPr>
              <a:t>Federated learning across banks to learn from broader fraud patterns without ever sharing raw customer data.</a:t>
            </a:r>
            <a:endParaRPr lang="en-US" sz="1000" dirty="0"/>
          </a:p>
        </p:txBody>
      </p:sp>
      <p:sp>
        <p:nvSpPr>
          <p:cNvPr id="28" name="Text 26"/>
          <p:cNvSpPr txBox="1"/>
          <p:nvPr/>
        </p:nvSpPr>
        <p:spPr>
          <a:xfrm>
            <a:off x="457200" y="6528816"/>
            <a:ext cx="5486400" cy="274320"/>
          </a:xfrm>
          <a:prstGeom prst="rect">
            <a:avLst/>
          </a:prstGeom>
          <a:noFill/>
          <a:ln/>
        </p:spPr>
        <p:txBody>
          <a:bodyPr wrap="square" lIns="0" tIns="0" rIns="0" bIns="0" rtlCol="0" anchor="ctr"/>
          <a:lstStyle/>
          <a:p>
            <a:pPr indent="0" marL="0">
              <a:buNone/>
            </a:pPr>
            <a:r>
              <a:rPr lang="en-US" sz="800" spc="200" kern="0" dirty="0">
                <a:solidFill>
                  <a:srgbClr val="6B6B6B"/>
                </a:solidFill>
                <a:latin typeface="Calibri" pitchFamily="34" charset="0"/>
                <a:ea typeface="Calibri" pitchFamily="34" charset="-122"/>
                <a:cs typeface="Calibri" pitchFamily="34" charset="-120"/>
              </a:rPr>
              <a:t>CREDIT CARD FRAUD DETECTION</a:t>
            </a:r>
            <a:endParaRPr lang="en-US" sz="800" dirty="0"/>
          </a:p>
        </p:txBody>
      </p:sp>
      <p:sp>
        <p:nvSpPr>
          <p:cNvPr id="29" name="Text 27"/>
          <p:cNvSpPr txBox="1"/>
          <p:nvPr/>
        </p:nvSpPr>
        <p:spPr>
          <a:xfrm>
            <a:off x="11274552" y="6528816"/>
            <a:ext cx="548640" cy="274320"/>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1783080" y="1051560"/>
            <a:ext cx="91440" cy="91440"/>
          </a:xfrm>
          <a:prstGeom prst="ellipse">
            <a:avLst/>
          </a:prstGeom>
          <a:solidFill>
            <a:srgbClr val="EF4444"/>
          </a:solidFill>
          <a:ln/>
        </p:spPr>
      </p:sp>
      <p:sp>
        <p:nvSpPr>
          <p:cNvPr id="3" name="Shape 1"/>
          <p:cNvSpPr/>
          <p:nvPr/>
        </p:nvSpPr>
        <p:spPr>
          <a:xfrm>
            <a:off x="1065276" y="1705356"/>
            <a:ext cx="64008" cy="64008"/>
          </a:xfrm>
          <a:prstGeom prst="ellipse">
            <a:avLst/>
          </a:prstGeom>
          <a:solidFill>
            <a:srgbClr val="7C3AED"/>
          </a:solidFill>
          <a:ln/>
        </p:spPr>
      </p:sp>
      <p:sp>
        <p:nvSpPr>
          <p:cNvPr id="4" name="Shape 2"/>
          <p:cNvSpPr/>
          <p:nvPr/>
        </p:nvSpPr>
        <p:spPr>
          <a:xfrm>
            <a:off x="2441448" y="2075688"/>
            <a:ext cx="54864" cy="54864"/>
          </a:xfrm>
          <a:prstGeom prst="ellipse">
            <a:avLst/>
          </a:prstGeom>
          <a:solidFill>
            <a:srgbClr val="3B82F6"/>
          </a:solidFill>
          <a:ln/>
        </p:spPr>
      </p:sp>
      <p:sp>
        <p:nvSpPr>
          <p:cNvPr id="5" name="Shape 3"/>
          <p:cNvSpPr/>
          <p:nvPr/>
        </p:nvSpPr>
        <p:spPr>
          <a:xfrm>
            <a:off x="10200132" y="5079492"/>
            <a:ext cx="82296" cy="82296"/>
          </a:xfrm>
          <a:prstGeom prst="ellipse">
            <a:avLst/>
          </a:prstGeom>
          <a:solidFill>
            <a:srgbClr val="EF4444"/>
          </a:solidFill>
          <a:ln/>
        </p:spPr>
      </p:sp>
      <p:sp>
        <p:nvSpPr>
          <p:cNvPr id="6" name="Shape 4"/>
          <p:cNvSpPr/>
          <p:nvPr/>
        </p:nvSpPr>
        <p:spPr>
          <a:xfrm>
            <a:off x="10853928" y="5641848"/>
            <a:ext cx="54864" cy="54864"/>
          </a:xfrm>
          <a:prstGeom prst="ellipse">
            <a:avLst/>
          </a:prstGeom>
          <a:solidFill>
            <a:srgbClr val="7C3AED"/>
          </a:solidFill>
          <a:ln/>
        </p:spPr>
      </p:sp>
      <p:sp>
        <p:nvSpPr>
          <p:cNvPr id="7" name="Shape 5"/>
          <p:cNvSpPr/>
          <p:nvPr/>
        </p:nvSpPr>
        <p:spPr>
          <a:xfrm>
            <a:off x="9665208" y="5824728"/>
            <a:ext cx="54864" cy="54864"/>
          </a:xfrm>
          <a:prstGeom prst="ellipse">
            <a:avLst/>
          </a:prstGeom>
          <a:solidFill>
            <a:srgbClr val="3B82F6"/>
          </a:solidFill>
          <a:ln/>
        </p:spPr>
      </p:sp>
      <p:sp>
        <p:nvSpPr>
          <p:cNvPr id="8" name="Text 6"/>
          <p:cNvSpPr txBox="1"/>
          <p:nvPr/>
        </p:nvSpPr>
        <p:spPr>
          <a:xfrm>
            <a:off x="0" y="2606040"/>
            <a:ext cx="12188952" cy="365760"/>
          </a:xfrm>
          <a:prstGeom prst="rect">
            <a:avLst/>
          </a:prstGeom>
          <a:noFill/>
          <a:ln/>
        </p:spPr>
        <p:txBody>
          <a:bodyPr wrap="square" lIns="0" tIns="0" rIns="0" bIns="0" rtlCol="0" anchor="ctr"/>
          <a:lstStyle/>
          <a:p>
            <a:pPr algn="ctr" indent="0" marL="0">
              <a:buNone/>
            </a:pPr>
            <a:r>
              <a:rPr lang="en-US" sz="1300" b="1" spc="400" kern="0" dirty="0">
                <a:solidFill>
                  <a:srgbClr val="EF4444"/>
                </a:solidFill>
                <a:latin typeface="Calibri" pitchFamily="34" charset="0"/>
                <a:ea typeface="Calibri" pitchFamily="34" charset="-122"/>
                <a:cs typeface="Calibri" pitchFamily="34" charset="-120"/>
              </a:rPr>
              <a:t>THANK YOU</a:t>
            </a:r>
            <a:endParaRPr lang="en-US" sz="1300" dirty="0"/>
          </a:p>
        </p:txBody>
      </p:sp>
      <p:sp>
        <p:nvSpPr>
          <p:cNvPr id="9" name="Text 7"/>
          <p:cNvSpPr txBox="1"/>
          <p:nvPr/>
        </p:nvSpPr>
        <p:spPr>
          <a:xfrm>
            <a:off x="0" y="2971800"/>
            <a:ext cx="12188952" cy="914400"/>
          </a:xfrm>
          <a:prstGeom prst="rect">
            <a:avLst/>
          </a:prstGeom>
          <a:noFill/>
          <a:ln/>
        </p:spPr>
        <p:txBody>
          <a:bodyPr wrap="square" lIns="0" tIns="0" rIns="0" bIns="0" rtlCol="0" anchor="ctr"/>
          <a:lstStyle/>
          <a:p>
            <a:pPr algn="ctr" indent="0" marL="0">
              <a:buNone/>
            </a:pPr>
            <a:r>
              <a:rPr lang="en-US" sz="4000" b="1" dirty="0">
                <a:solidFill>
                  <a:srgbClr val="F5F5F5"/>
                </a:solidFill>
                <a:latin typeface="Cambria" pitchFamily="34" charset="0"/>
                <a:ea typeface="Cambria" pitchFamily="34" charset="-122"/>
                <a:cs typeface="Cambria" pitchFamily="34" charset="-120"/>
              </a:rPr>
              <a:t>Questions &amp; Discussion</a:t>
            </a:r>
            <a:endParaRPr lang="en-US" sz="4000" dirty="0"/>
          </a:p>
        </p:txBody>
      </p:sp>
      <p:sp>
        <p:nvSpPr>
          <p:cNvPr id="10" name="Shape 8"/>
          <p:cNvSpPr/>
          <p:nvPr/>
        </p:nvSpPr>
        <p:spPr>
          <a:xfrm>
            <a:off x="5408676" y="3977640"/>
            <a:ext cx="1371600" cy="10973"/>
          </a:xfrm>
          <a:prstGeom prst="line">
            <a:avLst/>
          </a:prstGeom>
          <a:solidFill>
            <a:srgbClr val="2A2A2A"/>
          </a:solidFill>
          <a:ln/>
        </p:spPr>
      </p:sp>
      <p:sp>
        <p:nvSpPr>
          <p:cNvPr id="11" name="Text 9"/>
          <p:cNvSpPr txBox="1"/>
          <p:nvPr/>
        </p:nvSpPr>
        <p:spPr>
          <a:xfrm>
            <a:off x="0" y="4160520"/>
            <a:ext cx="12188952" cy="365760"/>
          </a:xfrm>
          <a:prstGeom prst="rect">
            <a:avLst/>
          </a:prstGeom>
          <a:noFill/>
          <a:ln/>
        </p:spPr>
        <p:txBody>
          <a:bodyPr wrap="square" lIns="0" tIns="0" rIns="0" bIns="0" rtlCol="0" anchor="ctr"/>
          <a:lstStyle/>
          <a:p>
            <a:pPr algn="ctr" indent="0" marL="0">
              <a:buNone/>
            </a:pPr>
            <a:r>
              <a:rPr lang="en-US" sz="1300" dirty="0">
                <a:solidFill>
                  <a:srgbClr val="9A9A9A"/>
                </a:solidFill>
                <a:latin typeface="Calibri" pitchFamily="34" charset="0"/>
                <a:ea typeface="Calibri" pitchFamily="34" charset="-122"/>
                <a:cs typeface="Calibri" pitchFamily="34" charset="-120"/>
              </a:rPr>
              <a:t>Aarushi Sharma   ·   2310990258   ·   G-10</a:t>
            </a:r>
            <a:endParaRPr lang="en-US" sz="1300" dirty="0"/>
          </a:p>
        </p:txBody>
      </p:sp>
      <p:sp>
        <p:nvSpPr>
          <p:cNvPr id="12" name="Text 10"/>
          <p:cNvSpPr txBox="1"/>
          <p:nvPr/>
        </p:nvSpPr>
        <p:spPr>
          <a:xfrm>
            <a:off x="0" y="4498848"/>
            <a:ext cx="12188952" cy="365760"/>
          </a:xfrm>
          <a:prstGeom prst="rect">
            <a:avLst/>
          </a:prstGeom>
          <a:noFill/>
          <a:ln/>
        </p:spPr>
        <p:txBody>
          <a:bodyPr wrap="square" lIns="0" tIns="0" rIns="0" bIns="0" rtlCol="0" anchor="ctr"/>
          <a:lstStyle/>
          <a:p>
            <a:pPr algn="ctr" indent="0" marL="0">
              <a:buNone/>
            </a:pPr>
            <a:r>
              <a:rPr lang="en-US" sz="1200" b="1" dirty="0">
                <a:solidFill>
                  <a:srgbClr val="7C3AED"/>
                </a:solidFill>
                <a:latin typeface="Calibri" pitchFamily="34" charset="0"/>
                <a:ea typeface="Calibri" pitchFamily="34" charset="-122"/>
                <a:cs typeface="Calibri" pitchFamily="34" charset="-120"/>
              </a:rPr>
              <a:t>Supervisor: Mr. Saubhagya Verma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dc:title>
  <dc:subject>PptxGenJS Presentation</dc:subject>
  <dc:creator>Aarushi Sharma</dc:creator>
  <cp:lastModifiedBy>Aarushi Sharma</cp:lastModifiedBy>
  <cp:revision>1</cp:revision>
  <dcterms:created xsi:type="dcterms:W3CDTF">2026-09-02T19:19:13Z</dcterms:created>
  <dcterms:modified xsi:type="dcterms:W3CDTF">2026-09-02T19:19:13Z</dcterms:modified>
</cp:coreProperties>
</file>